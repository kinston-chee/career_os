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3fa31b4b9440c7" /><Relationship Type="http://schemas.openxmlformats.org/officeDocument/2006/relationships/extended-properties" Target="/docProps/app.xml" Id="R2545ffe007cf460d" /><Relationship Type="http://schemas.openxmlformats.org/officeDocument/2006/relationships/officeDocument" Target="/ppt/presentation.xml" Id="Re6b3e8f04a25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ed6429993e4ee0"/>
  </p:sldMasterIdLst>
  <p:notesMasterIdLst>
    <p:notesMasterId xmlns:r="http://schemas.openxmlformats.org/officeDocument/2006/relationships" r:id="Re7f7a596a0654d95"/>
  </p:notesMasterIdLst>
  <p:sldIdLst>
    <p:sldId xmlns:r="http://schemas.openxmlformats.org/officeDocument/2006/relationships" id="256" r:id="R0a9a0a151f0e468b"/>
    <p:sldId xmlns:r="http://schemas.openxmlformats.org/officeDocument/2006/relationships" id="257" r:id="R4cf8d650a4f840b5"/>
    <p:sldId xmlns:r="http://schemas.openxmlformats.org/officeDocument/2006/relationships" id="258" r:id="R626c3215edef47a9"/>
    <p:sldId xmlns:r="http://schemas.openxmlformats.org/officeDocument/2006/relationships" id="259" r:id="R7cce46a448b54cbc"/>
    <p:sldId xmlns:r="http://schemas.openxmlformats.org/officeDocument/2006/relationships" id="260" r:id="Ra6ae4ba002784ee0"/>
    <p:sldId xmlns:r="http://schemas.openxmlformats.org/officeDocument/2006/relationships" id="261" r:id="Ra5b79332cb5a48fa"/>
    <p:sldId xmlns:r="http://schemas.openxmlformats.org/officeDocument/2006/relationships" id="262" r:id="Rbac911a9d5b4446f"/>
    <p:sldId xmlns:r="http://schemas.openxmlformats.org/officeDocument/2006/relationships" id="263" r:id="Reeaffe45624a4221"/>
    <p:sldId xmlns:r="http://schemas.openxmlformats.org/officeDocument/2006/relationships" id="264" r:id="R6b18c58d02234865"/>
    <p:sldId xmlns:r="http://schemas.openxmlformats.org/officeDocument/2006/relationships" id="265" r:id="Re40586a79ccb460a"/>
    <p:sldId xmlns:r="http://schemas.openxmlformats.org/officeDocument/2006/relationships" id="266" r:id="R2a3b179d7d674247"/>
    <p:sldId xmlns:r="http://schemas.openxmlformats.org/officeDocument/2006/relationships" id="267" r:id="R2e65969949f84ac7"/>
    <p:sldId xmlns:r="http://schemas.openxmlformats.org/officeDocument/2006/relationships" id="268" r:id="R7667b43949404a8a"/>
    <p:sldId xmlns:r="http://schemas.openxmlformats.org/officeDocument/2006/relationships" id="269" r:id="R56a537bd22804613"/>
    <p:sldId xmlns:r="http://schemas.openxmlformats.org/officeDocument/2006/relationships" id="270" r:id="Rc36e59a191824a9c"/>
    <p:sldId xmlns:r="http://schemas.openxmlformats.org/officeDocument/2006/relationships" id="271" r:id="R26e7739c7c1f4b8b"/>
    <p:sldId xmlns:r="http://schemas.openxmlformats.org/officeDocument/2006/relationships" id="272" r:id="R3280e1e0388148ee"/>
    <p:sldId xmlns:r="http://schemas.openxmlformats.org/officeDocument/2006/relationships" id="273" r:id="R4c60cd6ed46a4fd1"/>
    <p:sldId xmlns:r="http://schemas.openxmlformats.org/officeDocument/2006/relationships" id="274" r:id="R1e1da1508d35408b"/>
    <p:sldId xmlns:r="http://schemas.openxmlformats.org/officeDocument/2006/relationships" id="275" r:id="Re137c68e46ce42cb"/>
    <p:sldId xmlns:r="http://schemas.openxmlformats.org/officeDocument/2006/relationships" id="276" r:id="R036bf9b215fe4d22"/>
    <p:sldId xmlns:r="http://schemas.openxmlformats.org/officeDocument/2006/relationships" id="277" r:id="Rf4b0dfd822b74d67"/>
    <p:sldId xmlns:r="http://schemas.openxmlformats.org/officeDocument/2006/relationships" id="278" r:id="R04283032189e46b5"/>
    <p:sldId xmlns:r="http://schemas.openxmlformats.org/officeDocument/2006/relationships" id="279" r:id="Rf222a8df10de46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37e6680f814c6c" /><Relationship Type="http://schemas.openxmlformats.org/officeDocument/2006/relationships/slideMaster" Target="/ppt/slideMasters/slideMaster1.xml" Id="R34ed6429993e4ee0" /><Relationship Type="http://schemas.openxmlformats.org/officeDocument/2006/relationships/notesMaster" Target="/ppt/notesMasters/notesMaster1.xml" Id="Re7f7a596a0654d95" /><Relationship Type="http://schemas.openxmlformats.org/officeDocument/2006/relationships/presProps" Target="/ppt/presProps.xml" Id="R5d79ef5bd2d1479e" /><Relationship Type="http://schemas.openxmlformats.org/officeDocument/2006/relationships/tableStyles" Target="/ppt/tableStyles.xml" Id="Rb67418bcd849409c" /><Relationship Type="http://schemas.openxmlformats.org/officeDocument/2006/relationships/slide" Target="/ppt/slides/slide1.xml" Id="R0a9a0a151f0e468b" /><Relationship Type="http://schemas.openxmlformats.org/officeDocument/2006/relationships/slide" Target="/ppt/slides/slide2.xml" Id="R4cf8d650a4f840b5" /><Relationship Type="http://schemas.openxmlformats.org/officeDocument/2006/relationships/slide" Target="/ppt/slides/slide3.xml" Id="R626c3215edef47a9" /><Relationship Type="http://schemas.openxmlformats.org/officeDocument/2006/relationships/slide" Target="/ppt/slides/slide4.xml" Id="R7cce46a448b54cbc" /><Relationship Type="http://schemas.openxmlformats.org/officeDocument/2006/relationships/slide" Target="/ppt/slides/slide5.xml" Id="Ra6ae4ba002784ee0" /><Relationship Type="http://schemas.openxmlformats.org/officeDocument/2006/relationships/slide" Target="/ppt/slides/slide6.xml" Id="Ra5b79332cb5a48fa" /><Relationship Type="http://schemas.openxmlformats.org/officeDocument/2006/relationships/slide" Target="/ppt/slides/slide7.xml" Id="Rbac911a9d5b4446f" /><Relationship Type="http://schemas.openxmlformats.org/officeDocument/2006/relationships/slide" Target="/ppt/slides/slide8.xml" Id="Reeaffe45624a4221" /><Relationship Type="http://schemas.openxmlformats.org/officeDocument/2006/relationships/slide" Target="/ppt/slides/slide9.xml" Id="R6b18c58d02234865" /><Relationship Type="http://schemas.openxmlformats.org/officeDocument/2006/relationships/slide" Target="/ppt/slides/slide10.xml" Id="Re40586a79ccb460a" /><Relationship Type="http://schemas.openxmlformats.org/officeDocument/2006/relationships/slide" Target="/ppt/slides/slide11.xml" Id="R2a3b179d7d674247" /><Relationship Type="http://schemas.openxmlformats.org/officeDocument/2006/relationships/slide" Target="/ppt/slides/slide12.xml" Id="R2e65969949f84ac7" /><Relationship Type="http://schemas.openxmlformats.org/officeDocument/2006/relationships/slide" Target="/ppt/slides/slide13.xml" Id="R7667b43949404a8a" /><Relationship Type="http://schemas.openxmlformats.org/officeDocument/2006/relationships/slide" Target="/ppt/slides/slide14.xml" Id="R56a537bd22804613" /><Relationship Type="http://schemas.openxmlformats.org/officeDocument/2006/relationships/slide" Target="/ppt/slides/slide15.xml" Id="Rc36e59a191824a9c" /><Relationship Type="http://schemas.openxmlformats.org/officeDocument/2006/relationships/slide" Target="/ppt/slides/slide16.xml" Id="R26e7739c7c1f4b8b" /><Relationship Type="http://schemas.openxmlformats.org/officeDocument/2006/relationships/slide" Target="/ppt/slides/slide17.xml" Id="R3280e1e0388148ee" /><Relationship Type="http://schemas.openxmlformats.org/officeDocument/2006/relationships/slide" Target="/ppt/slides/slide18.xml" Id="R4c60cd6ed46a4fd1" /><Relationship Type="http://schemas.openxmlformats.org/officeDocument/2006/relationships/slide" Target="/ppt/slides/slide19.xml" Id="R1e1da1508d35408b" /><Relationship Type="http://schemas.openxmlformats.org/officeDocument/2006/relationships/slide" Target="/ppt/slides/slide20.xml" Id="Re137c68e46ce42cb" /><Relationship Type="http://schemas.openxmlformats.org/officeDocument/2006/relationships/slide" Target="/ppt/slides/slide21.xml" Id="R036bf9b215fe4d22" /><Relationship Type="http://schemas.openxmlformats.org/officeDocument/2006/relationships/slide" Target="/ppt/slides/slide22.xml" Id="Rf4b0dfd822b74d67" /><Relationship Type="http://schemas.openxmlformats.org/officeDocument/2006/relationships/slide" Target="/ppt/slides/slide23.xml" Id="R04283032189e46b5" /><Relationship Type="http://schemas.openxmlformats.org/officeDocument/2006/relationships/slide" Target="/ppt/slides/slide24.xml" Id="Rf222a8df10de46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a09780daa743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a841cb461b450c" /><Relationship Type="http://schemas.openxmlformats.org/officeDocument/2006/relationships/notesMaster" Target="/ppt/notesMasters/notesMaster1.xml" Id="R475385c456f0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193970ec2c4243" /><Relationship Type="http://schemas.openxmlformats.org/officeDocument/2006/relationships/notesMaster" Target="/ppt/notesMasters/notesMaster1.xml" Id="R8b437a02b49942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2d4febd1c84acc" /><Relationship Type="http://schemas.openxmlformats.org/officeDocument/2006/relationships/notesMaster" Target="/ppt/notesMasters/notesMaster1.xml" Id="R22d99c9a9a1b47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fa16c4ff27434b" /><Relationship Type="http://schemas.openxmlformats.org/officeDocument/2006/relationships/notesMaster" Target="/ppt/notesMasters/notesMaster1.xml" Id="Rb2a4228ab5c54f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9efbceca674506" /><Relationship Type="http://schemas.openxmlformats.org/officeDocument/2006/relationships/notesMaster" Target="/ppt/notesMasters/notesMaster1.xml" Id="R7e99cb69d89242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c6503be8b04a2e" /><Relationship Type="http://schemas.openxmlformats.org/officeDocument/2006/relationships/notesMaster" Target="/ppt/notesMasters/notesMaster1.xml" Id="R7f726ea1220747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40c8f3fb244a7a" /><Relationship Type="http://schemas.openxmlformats.org/officeDocument/2006/relationships/notesMaster" Target="/ppt/notesMasters/notesMaster1.xml" Id="R959bb3e4c49d41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3ddff27cb84121" /><Relationship Type="http://schemas.openxmlformats.org/officeDocument/2006/relationships/notesMaster" Target="/ppt/notesMasters/notesMaster1.xml" Id="Rb0127ea9190846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20a0f2839749d3" /><Relationship Type="http://schemas.openxmlformats.org/officeDocument/2006/relationships/notesMaster" Target="/ppt/notesMasters/notesMaster1.xml" Id="R01419dfa3e574d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c272445b2d4502" /><Relationship Type="http://schemas.openxmlformats.org/officeDocument/2006/relationships/notesMaster" Target="/ppt/notesMasters/notesMaster1.xml" Id="Rddfaeaa6960144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cbb3d300fb40c7" /><Relationship Type="http://schemas.openxmlformats.org/officeDocument/2006/relationships/notesMaster" Target="/ppt/notesMasters/notesMaster1.xml" Id="R48cbb9edf85d48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a640f101464d2d" /><Relationship Type="http://schemas.openxmlformats.org/officeDocument/2006/relationships/notesMaster" Target="/ppt/notesMasters/notesMaster1.xml" Id="R5411714ed56740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3e7bc480af4d8e" /><Relationship Type="http://schemas.openxmlformats.org/officeDocument/2006/relationships/notesMaster" Target="/ppt/notesMasters/notesMaster1.xml" Id="Rd4cae0060dfa4b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1539c567d6446a" /><Relationship Type="http://schemas.openxmlformats.org/officeDocument/2006/relationships/notesMaster" Target="/ppt/notesMasters/notesMaster1.xml" Id="R9ea10e5cb20243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0b6e90f895436a" /><Relationship Type="http://schemas.openxmlformats.org/officeDocument/2006/relationships/notesMaster" Target="/ppt/notesMasters/notesMaster1.xml" Id="R9b529fa3ca2042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d576e12c974d6d" /><Relationship Type="http://schemas.openxmlformats.org/officeDocument/2006/relationships/notesMaster" Target="/ppt/notesMasters/notesMaster1.xml" Id="R3ba9efb0910746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6a40bb18c548c4" /><Relationship Type="http://schemas.openxmlformats.org/officeDocument/2006/relationships/notesMaster" Target="/ppt/notesMasters/notesMaster1.xml" Id="R9cf19a17f86e43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dce77944ca4f56" /><Relationship Type="http://schemas.openxmlformats.org/officeDocument/2006/relationships/notesMaster" Target="/ppt/notesMasters/notesMaster1.xml" Id="R0bb4e120e9db4b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2075ff4a524d02" /><Relationship Type="http://schemas.openxmlformats.org/officeDocument/2006/relationships/notesMaster" Target="/ppt/notesMasters/notesMaster1.xml" Id="R8b7318832870499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7526f7b2f044f6" /><Relationship Type="http://schemas.openxmlformats.org/officeDocument/2006/relationships/notesMaster" Target="/ppt/notesMasters/notesMaster1.xml" Id="Ra4485a87dcf941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0b890506c3404d" /><Relationship Type="http://schemas.openxmlformats.org/officeDocument/2006/relationships/notesMaster" Target="/ppt/notesMasters/notesMaster1.xml" Id="R265dd023e41a463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f10973339b413b" /><Relationship Type="http://schemas.openxmlformats.org/officeDocument/2006/relationships/notesMaster" Target="/ppt/notesMasters/notesMaster1.xml" Id="R43b0ad545bfb411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1da69751104aa5" /><Relationship Type="http://schemas.openxmlformats.org/officeDocument/2006/relationships/notesMaster" Target="/ppt/notesMasters/notesMaster1.xml" Id="Rc1fd69641a3042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f46c05127a48bd" /><Relationship Type="http://schemas.openxmlformats.org/officeDocument/2006/relationships/notesMaster" Target="/ppt/notesMasters/notesMaster1.xml" Id="R765094ada3db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8f9d24f9541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5c40e455a4137" /><Relationship Type="http://schemas.openxmlformats.org/officeDocument/2006/relationships/slideLayout" Target="/ppt/slideLayouts/slideLayout1.xml" Id="R623a0f69de8c48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a0f69de8c48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c117d4b344c1f" /><Relationship Type="http://schemas.openxmlformats.org/officeDocument/2006/relationships/notesSlide" Target="/ppt/notesSlides/notesSlide1.xml" Id="Re30f6d7acbcb4a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1afb41ca9405a" /><Relationship Type="http://schemas.openxmlformats.org/officeDocument/2006/relationships/notesSlide" Target="/ppt/notesSlides/notesSlide2.xml" Id="R0a9f034c930d44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3d322f151432d" /><Relationship Type="http://schemas.openxmlformats.org/officeDocument/2006/relationships/notesSlide" Target="/ppt/notesSlides/notesSlide3.xml" Id="R2289a4ca0a9447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3e3a9b5dc4eb3" /><Relationship Type="http://schemas.openxmlformats.org/officeDocument/2006/relationships/notesSlide" Target="/ppt/notesSlides/notesSlide4.xml" Id="Ra68d2290b7dd4a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d9965fedd421d" /><Relationship Type="http://schemas.openxmlformats.org/officeDocument/2006/relationships/image" Target="/ppt/media/image.jpeg" Id="Rb11a2c932d4f4431" /><Relationship Type="http://schemas.openxmlformats.org/officeDocument/2006/relationships/notesSlide" Target="/ppt/notesSlides/notesSlide5.xml" Id="Re09814125d2740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b510f4d69457a" /><Relationship Type="http://schemas.openxmlformats.org/officeDocument/2006/relationships/image" Target="/ppt/media/image2.jpeg" Id="Rd6a2c615342042aa" /><Relationship Type="http://schemas.openxmlformats.org/officeDocument/2006/relationships/notesSlide" Target="/ppt/notesSlides/notesSlide6.xml" Id="R4e34a0fc9a364c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bbdc9b62545dd" /><Relationship Type="http://schemas.openxmlformats.org/officeDocument/2006/relationships/image" Target="/ppt/media/image3.jpeg" Id="Rc3fc5003dd4f4a03" /><Relationship Type="http://schemas.openxmlformats.org/officeDocument/2006/relationships/notesSlide" Target="/ppt/notesSlides/notesSlide7.xml" Id="R009c51679d3b4f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5651253ae4859" /><Relationship Type="http://schemas.openxmlformats.org/officeDocument/2006/relationships/image" Target="/ppt/media/image4.jpeg" Id="R83f4379f5cab4ca8" /><Relationship Type="http://schemas.openxmlformats.org/officeDocument/2006/relationships/notesSlide" Target="/ppt/notesSlides/notesSlide8.xml" Id="R0a87fb6f98054c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bf7781a7048c7" /><Relationship Type="http://schemas.openxmlformats.org/officeDocument/2006/relationships/image" Target="/ppt/media/image5.jpeg" Id="Rd38fc250f9e842a9" /><Relationship Type="http://schemas.openxmlformats.org/officeDocument/2006/relationships/notesSlide" Target="/ppt/notesSlides/notesSlide9.xml" Id="R92f10a2b2d4a4a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842ee07b54b8e" /><Relationship Type="http://schemas.openxmlformats.org/officeDocument/2006/relationships/notesSlide" Target="/ppt/notesSlides/notesSlide10.xml" Id="R45896a21b8e04b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e14126c174902" /><Relationship Type="http://schemas.openxmlformats.org/officeDocument/2006/relationships/image" Target="/ppt/media/image6.jpeg" Id="R96a17790259844cf" /><Relationship Type="http://schemas.openxmlformats.org/officeDocument/2006/relationships/notesSlide" Target="/ppt/notesSlides/notesSlide11.xml" Id="R88fcba92722545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2e85bf4ec4d0e" /><Relationship Type="http://schemas.openxmlformats.org/officeDocument/2006/relationships/image" Target="/ppt/media/image7.jpeg" Id="Rab4d8a59c780435c" /><Relationship Type="http://schemas.openxmlformats.org/officeDocument/2006/relationships/notesSlide" Target="/ppt/notesSlides/notesSlide12.xml" Id="Rae21a63fb4e343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d6bdfd5c34b64" /><Relationship Type="http://schemas.openxmlformats.org/officeDocument/2006/relationships/image" Target="/ppt/media/image8.jpeg" Id="Rf6bffe9497174c3b" /><Relationship Type="http://schemas.openxmlformats.org/officeDocument/2006/relationships/notesSlide" Target="/ppt/notesSlides/notesSlide13.xml" Id="Rcf7e0ac916b941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3a7111f194cae" /><Relationship Type="http://schemas.openxmlformats.org/officeDocument/2006/relationships/notesSlide" Target="/ppt/notesSlides/notesSlide14.xml" Id="Ra9419e676c5e49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c787b4374400b" /><Relationship Type="http://schemas.openxmlformats.org/officeDocument/2006/relationships/image" Target="/ppt/media/image9.jpeg" Id="R62fb76735c134148" /><Relationship Type="http://schemas.openxmlformats.org/officeDocument/2006/relationships/notesSlide" Target="/ppt/notesSlides/notesSlide15.xml" Id="R02ac67a2289c41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c9a6089664c45" /><Relationship Type="http://schemas.openxmlformats.org/officeDocument/2006/relationships/image" Target="/ppt/media/image10.jpeg" Id="R45b7efe1d84243df" /><Relationship Type="http://schemas.openxmlformats.org/officeDocument/2006/relationships/notesSlide" Target="/ppt/notesSlides/notesSlide16.xml" Id="R0852ee096bf34c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1cdfbc3734d91" /><Relationship Type="http://schemas.openxmlformats.org/officeDocument/2006/relationships/image" Target="/ppt/media/image11.jpeg" Id="R828ad3f0f2934172" /><Relationship Type="http://schemas.openxmlformats.org/officeDocument/2006/relationships/notesSlide" Target="/ppt/notesSlides/notesSlide17.xml" Id="R33658a87dc5840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6a97ae0b34d06" /><Relationship Type="http://schemas.openxmlformats.org/officeDocument/2006/relationships/image" Target="/ppt/media/image12.jpeg" Id="R1060932a717f4b73" /><Relationship Type="http://schemas.openxmlformats.org/officeDocument/2006/relationships/notesSlide" Target="/ppt/notesSlides/notesSlide18.xml" Id="Rd5f0f5680ec54e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2ec89e9f040c7" /><Relationship Type="http://schemas.openxmlformats.org/officeDocument/2006/relationships/image" Target="/ppt/media/image13.jpeg" Id="Redc1834feedf4fb9" /><Relationship Type="http://schemas.openxmlformats.org/officeDocument/2006/relationships/notesSlide" Target="/ppt/notesSlides/notesSlide19.xml" Id="R6696a316b79d41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37563a77342ad" /><Relationship Type="http://schemas.openxmlformats.org/officeDocument/2006/relationships/notesSlide" Target="/ppt/notesSlides/notesSlide20.xml" Id="Rfeac73b1b0b943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25ce46f214c6d" /><Relationship Type="http://schemas.openxmlformats.org/officeDocument/2006/relationships/notesSlide" Target="/ppt/notesSlides/notesSlide21.xml" Id="R4b6251cc5d09429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de77c8010444f" /><Relationship Type="http://schemas.openxmlformats.org/officeDocument/2006/relationships/notesSlide" Target="/ppt/notesSlides/notesSlide22.xml" Id="R176f13f6f7c940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793a5c7724a18" /><Relationship Type="http://schemas.openxmlformats.org/officeDocument/2006/relationships/notesSlide" Target="/ppt/notesSlides/notesSlide23.xml" Id="R60a3b16822f246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f4d412fb4eea" /><Relationship Type="http://schemas.openxmlformats.org/officeDocument/2006/relationships/notesSlide" Target="/ppt/notesSlides/notesSlide24.xml" Id="R1019a6048ead49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71714-F653-47E5-BA86-22F4643C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F8FA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F9BC4-ED8A-44AF-94D7-E88C2E4D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762000"/>
            <a:ext cx="5524500" cy="552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D3E05-1623-454A-8298-4EE78A09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1500"/>
            <a:ext cx="333375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DCE8A-04E0-48E3-B690-EF4E776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CAREEROS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BB188-4546-4D11-82BB-29ED82C3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6858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94A"/>
                </a:solidFill>
              </a:defRPr>
            </a:pPr>
            <a:r>
              <a:rPr sz="3900" b="1">
                <a:solidFill>
                  <a:srgbClr val="11194A"/>
                </a:solidFill>
              </a:rPr>
              <a:t>Career potential is lost when evidence and action arrive too late.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6B84F-B833-4575-8A17-AAE9E28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27F"/>
                </a:solidFill>
              </a:defRPr>
            </a:pPr>
            <a:r>
              <a:rPr sz="1725" b="0">
                <a:solidFill>
                  <a:srgbClr val="52627F"/>
                </a:solidFill>
              </a:rPr>
              <a:t>CareerOS connects student evidence, employer demand, and university action so gaps can be addressed earlier.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B2E95-2967-4B14-A253-BFEBD4A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66875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18BA9-92A9-436B-88F2-DDB519A1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STUDENT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2093D-B077-47E2-B97E-F704FA44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71775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338CD-B034-4EDA-96A2-EB765217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990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EMPLOYER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B5937-14B5-4921-AA8F-96DB4C3A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6390F-AA83-4522-BBA0-98972139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UNIVERSITY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01D9A-67A8-4673-B7BE-F0DC25E8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46E5"/>
                </a:solidFill>
              </a:defRPr>
            </a:pPr>
            <a:r>
              <a:rPr sz="1350" b="1">
                <a:solidFill>
                  <a:srgbClr val="4F46E5"/>
                </a:solidFill>
              </a:rPr>
              <a:t>Signal → Evidence → Decision → Action →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835F6-833F-4CFF-B933-0E4BDED3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229F4-A683-4D55-BBAC-C5F141ED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027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</a:defRPr>
            </a:pPr>
            <a:r>
              <a:rPr sz="825" b="1">
                <a:solidFill>
                  <a:srgbClr val="0F766E"/>
                </a:solidFill>
              </a:rPr>
              <a:t>Demonstrated prototype • simulated intelligence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8BBF1-6C3E-4FAE-B519-D616DA20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19850"/>
            <a:ext cx="2619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29B"/>
                </a:solidFill>
              </a:defRPr>
            </a:pPr>
            <a:r>
              <a:rPr sz="900" b="0">
                <a:solidFill>
                  <a:srgbClr val="74829B"/>
                </a:solidFill>
              </a:rPr>
              <a:t>Talentbank AI Hackathon • 2026</a:t>
            </a:r>
          </a:p>
        </p:txBody>
      </p:sp>
    </p:spTree>
    <p:extLst>
      <p:ext uri="{BB962C8B-B14F-4D97-AF65-F5344CB8AC3E}">
        <p14:creationId xmlns:p14="http://schemas.microsoft.com/office/powerpoint/2010/main" val="1742806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A5E3A-C781-4F18-92EC-8C61D70A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THE SHARED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C35F5-6B2D-4E03-AA62-EB17C2B3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The same evidence gap appears as uncertainty, recruiting waste, and late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3CFF7-8D91-4A13-AD0E-4A6E471F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455F9-0DE6-4C99-B11F-4E9B1D42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4099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D867C-B158-4A96-BF4E-E74E614A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STUDENT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2E325-9551-400E-97C4-DB90F4DB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94A"/>
                </a:solidFill>
              </a:defRPr>
            </a:pPr>
            <a:r>
              <a:rPr sz="1875" b="1">
                <a:solidFill>
                  <a:srgbClr val="11194A"/>
                </a:solidFill>
              </a:rPr>
              <a:t>Experience exists, but proof and direction do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9F467-F26E-456B-B0C8-BD4AC419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914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Chris is a Year 3 Data Science student with projects and leadership evidence—but weak visibility into what those experiences prove and what to do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00AE0-C0B8-4E9C-A37E-06A5662B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Consequence: option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840A4-A333-4753-B0A2-DAF1E532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4099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2171-58F3-4A84-8E9E-84F9949F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47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EMPLOYER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6396B-A430-4BA0-89B7-AE45D4DC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94A"/>
                </a:solidFill>
              </a:defRPr>
            </a:pPr>
            <a:r>
              <a:rPr sz="1875" b="1">
                <a:solidFill>
                  <a:srgbClr val="11194A"/>
                </a:solidFill>
              </a:rPr>
              <a:t>Every urgent search restarts from zero.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0953A-C07C-4E99-8792-A625EA78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2914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Prior challenge participants, screening rationale, and relationship history decay across spreadsheets, inboxes, and disconnected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97FE6-978F-4D98-96AF-A4C5387E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9105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Consequence: relationship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19524-6962-413E-85BC-E8B827E6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4099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C5BFE-3FD0-43F4-B378-A774A4E5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UNIVERSITY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1C9E4-15D8-4352-8CB0-4A84DDE8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94A"/>
                </a:solidFill>
              </a:defRPr>
            </a:pPr>
            <a:r>
              <a:rPr sz="1875" b="1">
                <a:solidFill>
                  <a:srgbClr val="11194A"/>
                </a:solidFill>
              </a:rPr>
              <a:t>The intervention window closes before the report arrives.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E3612-4247-4E10-8A30-AE466054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2914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Programme and readiness gaps surface across departments while the current cohort cannot wait for a full curriculum cycle.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1E696-8404-4DCC-9014-C26ABF93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9105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Consequence: time loss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A0D72-738B-4B54-8DD5-EBEA9C74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94A"/>
                </a:solidFill>
              </a:defRPr>
            </a:pPr>
            <a:r>
              <a:rPr sz="1800" b="1">
                <a:solidFill>
                  <a:srgbClr val="11194A"/>
                </a:solidFill>
              </a:rPr>
              <a:t>Different symptoms. One failure: useful signals are fragmented, weakly evidenced, and remembered too late.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FB363-C57D-47DD-8ACB-6FE1FD26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5A166-9552-4073-B1B6-218B92E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209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AD272-B839-4421-813F-55104C8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309"/>
                </a:solidFill>
              </a:defRPr>
            </a:pPr>
            <a:r>
              <a:rPr sz="825" b="1">
                <a:solidFill>
                  <a:srgbClr val="B45309"/>
                </a:solidFill>
              </a:rPr>
              <a:t>Simulated personas and demo data</a:t>
            </a:r>
          </a:p>
        </p:txBody>
      </p:sp>
    </p:spTree>
    <p:extLst>
      <p:ext uri="{BB962C8B-B14F-4D97-AF65-F5344CB8AC3E}">
        <p14:creationId xmlns:p14="http://schemas.microsoft.com/office/powerpoint/2010/main" val="434478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F0B8D-23E6-41F0-8B94-7337B49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THE SHARED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E89F3-8752-4C1A-BA20-CE000E3A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Existing tools optimise transactions—not continuity between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30A08-4620-4E46-A207-EB851E2E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236D2-AD37-427D-8ECB-B32B4539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2476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F83C0-9554-48F0-BCD8-EC77C646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CCC4D-6CE4-45D6-B6B5-EFC854A3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F"/>
                </a:solidFill>
              </a:defRPr>
            </a:pPr>
            <a:r>
              <a:rPr sz="1350" b="0">
                <a:solidFill>
                  <a:srgbClr val="52627F"/>
                </a:solidFill>
              </a:rPr>
              <a:t>becomes a résumé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06C2E-6BD4-4D6F-B9E3-69E56DC2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003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D9EB9-D72A-41BE-A3DD-922936DA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62125"/>
            <a:ext cx="2476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A070B-58A5-4EDA-A1D5-CF219E6C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002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Engagement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B5F49-5E57-415F-BD66-1B235F49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F"/>
                </a:solidFill>
              </a:defRPr>
            </a:pPr>
            <a:r>
              <a:rPr sz="1350" b="0">
                <a:solidFill>
                  <a:srgbClr val="52627F"/>
                </a:solidFill>
              </a:rPr>
              <a:t>becomes an attendance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40FB9-7EF3-42DB-A376-2DEFD839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79A72-479B-442C-B93C-A4B0C5D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476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32652-6089-4715-9E06-9C112A74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Hiring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D7DEF-CFD4-46D6-B634-7CBD7481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F"/>
                </a:solidFill>
              </a:defRPr>
            </a:pPr>
            <a:r>
              <a:rPr sz="1350" b="0">
                <a:solidFill>
                  <a:srgbClr val="52627F"/>
                </a:solidFill>
              </a:rPr>
              <a:t>stays in an ATS or inbox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B45D2-46F9-40BD-B5C2-37B4235B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003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F5FA-8A7B-4D8D-B5A4-3BD20C49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62125"/>
            <a:ext cx="2476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EDC3C-94E6-4323-9737-459DE663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147C7-0007-416E-81B7-9E25988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F"/>
                </a:solidFill>
              </a:defRPr>
            </a:pPr>
            <a:r>
              <a:rPr sz="1350" b="0">
                <a:solidFill>
                  <a:srgbClr val="52627F"/>
                </a:solidFill>
              </a:rPr>
              <a:t>arrive in periodic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2DFB7-3AC7-4D18-801E-0AC2DC20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9334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7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99912-8CBA-4398-9105-0033DB78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94A"/>
                </a:solidFill>
              </a:defRPr>
            </a:pPr>
            <a:r>
              <a:rPr sz="2025" b="1">
                <a:solidFill>
                  <a:srgbClr val="11194A"/>
                </a:solidFill>
              </a:rPr>
              <a:t>The next decision begins without the earlier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73C11-0737-4971-8ECD-A6550DB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482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27F"/>
                </a:solidFill>
              </a:defRPr>
            </a:pPr>
            <a:r>
              <a:rPr sz="1350" b="0">
                <a:solidFill>
                  <a:srgbClr val="52627F"/>
                </a:solidFill>
              </a:rPr>
              <a:t>CareerOS preserves context between transactions; it does not pretend to replace every source system.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1A855-C993-41DB-9E57-22B354E6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F41D3-271F-4DFF-B959-C2BCF64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1962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1A29A-4B76-4511-BACB-072E5E6A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733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Future integrations required</a:t>
            </a:r>
          </a:p>
        </p:txBody>
      </p:sp>
    </p:spTree>
    <p:extLst>
      <p:ext uri="{BB962C8B-B14F-4D97-AF65-F5344CB8AC3E}">
        <p14:creationId xmlns:p14="http://schemas.microsoft.com/office/powerpoint/2010/main" val="892643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58CC0-E90A-44A6-B8D3-59E822D2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THE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19BFD-C8FB-4B70-9918-A4EEC9BD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CareerOS converts fragmented signals into a sequence of earlier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8704E-FE1B-44A8-A693-2F6DBF26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53090-D8CB-4890-AB6E-EBBBC6F0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95500"/>
            <a:ext cx="19240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EA7D0-4FD2-4E7C-8944-DCCB6474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24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DEE3-981B-407A-B684-16ABF950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2415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Project, application,</a:t>
            </a:r>
          </a:p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demand,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996F7-17C9-4933-B735-643A0B43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7F651-3EF0-495C-8A58-5FE58DBB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95500"/>
            <a:ext cx="19240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C8070-9DD3-48B2-9DA8-7034FB6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24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46E5"/>
                </a:solidFill>
              </a:defRPr>
            </a:pPr>
            <a:r>
              <a:rPr sz="975" b="1">
                <a:solidFill>
                  <a:srgbClr val="4F46E5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0F27F-C431-4C52-AB1E-9E69FAF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2415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Source, recency,</a:t>
            </a:r>
          </a:p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context, behaviour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C3876-8FF6-4E8C-A1C4-6B3A9DFB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3C8AB-D182-4124-9766-0EE2CEAC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95500"/>
            <a:ext cx="19240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F47E5-3E0F-45B5-9C6E-1F9A68C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324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86812-66ED-4DEC-BC12-E99531A9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72415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Next skill, shortlist,</a:t>
            </a:r>
          </a:p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intervention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C2628-0760-4DEF-924F-57E14F3B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E13FA-CC4D-440A-A13B-C6A51801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19240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A66A9-380C-4906-B53F-D34A4FDB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24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65745-DF26-45BA-AD7B-B5B18DA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2415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Practise, apply,</a:t>
            </a:r>
          </a:p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re-engage, assign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E8944-1BF9-4987-8900-868B6DBC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13E6F-C3D4-4167-969E-344F6714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095500"/>
            <a:ext cx="19240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E064C-41D2-456E-B131-FC42EA39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324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LEARNING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4C7AA-5A17-47E8-8F01-C0012590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24150"/>
            <a:ext cx="154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Improve the next</a:t>
            </a:r>
          </a:p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8A29F-C6E7-4C19-9C03-C4B60B13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Student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3C1A8-4A35-40A7-A453-396047C2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Employer demand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767C0-B431-4311-A43D-9F38C3BF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University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F5B19-5CDA-4E6A-BA97-988503DA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The prototype demonstrates each workspace and selected handoffs. A live shared network remains future-facing.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9FD4C3-4C80-41C2-97E7-28CA97B8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0ED51B-C879-4E37-8AC5-A3F7E058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CB6CD0-8159-432D-80A6-1CDBD827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</a:defRPr>
            </a:pPr>
            <a:r>
              <a:rPr sz="825" b="1">
                <a:solidFill>
                  <a:srgbClr val="0F766E"/>
                </a:solidFill>
              </a:rPr>
              <a:t>Demonstrated model • network future</a:t>
            </a:r>
          </a:p>
        </p:txBody>
      </p:sp>
    </p:spTree>
    <p:extLst>
      <p:ext uri="{BB962C8B-B14F-4D97-AF65-F5344CB8AC3E}">
        <p14:creationId xmlns:p14="http://schemas.microsoft.com/office/powerpoint/2010/main" val="1100621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93A9E-8519-4957-8525-15656232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D199C-2603-4069-9949-BE0421FD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 Memory turns “I did this” into “Here is what it proves.”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BC452-F180-496A-8E03-AE8C4AF0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F398C-591A-454F-974C-7BAEE40B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a2c932d4f4431"/>
          <a:stretch xmlns:a="http://schemas.openxmlformats.org/drawingml/2006/main"/>
        </p:blipFill>
        <p:spPr>
          <a:xfrm xmlns:a="http://schemas.openxmlformats.org/drawingml/2006/main">
            <a:off x="5448300" y="1742273"/>
            <a:ext cx="6096000" cy="3811604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75F8F-294B-4EEB-A8C1-1EC5837A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PAIN →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D9BED-751D-4DF1-B551-A1BCF7D1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Students should not reconstruct their value only when an application opens.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36968-7019-427D-AE85-C94B6577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5D51F-695B-4220-AC08-734038F1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79A2D-C58C-4221-9263-DCB44936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Preserve projects, internships, leadership, events, and achievements.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ADDEA-4E9C-4526-B892-620D296A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CA3E1-E4A9-48CB-A256-82F67BBC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42D61-1C12-40A3-AD20-1710439C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Connect each experience to skills and supporting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BD01B-3188-40D6-895C-07020CD3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0A198-3AF5-4B72-8934-92DDB47C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DD511-1396-4DF1-A164-9D7C4F0C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Expose missing proof instead of hiding uncertainty.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44DB8-FB3E-4C15-91FC-8BE9B7E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Behaviour change: maintain reusable evidence continuously.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4A10C-49FB-42DA-A0CF-D97086F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32A39-0185-4726-AFC2-64E50025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5265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F587E-C60D-415A-A89F-B41C6110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2432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99722-7577-4EB1-BEFF-2A243291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81475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C870F-FE14-4B3B-BDDD-D07591C8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0B8E7-E21B-4064-A6B0-F6FDAF92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968D8-AA8A-4AA3-9F16-691D5E7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</a:defRPr>
            </a:pPr>
            <a:r>
              <a:rPr sz="825" b="1">
                <a:solidFill>
                  <a:srgbClr val="0F766E"/>
                </a:solidFill>
              </a:rPr>
              <a:t>Demonstrated UI • verification partial</a:t>
            </a:r>
          </a:p>
        </p:txBody>
      </p:sp>
    </p:spTree>
    <p:extLst>
      <p:ext uri="{BB962C8B-B14F-4D97-AF65-F5344CB8AC3E}">
        <p14:creationId xmlns:p14="http://schemas.microsoft.com/office/powerpoint/2010/main" val="137069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4968B-4E3D-4263-9C42-24FDEAE0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4C92B-B642-4F0D-9933-DB9FB7E2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The Data Science degree becomes a starting signal—not a career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4DC87-8159-46F5-BBC8-65B98F24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32390-ECFA-4350-ADDF-1A7DE609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2c615342042aa"/>
          <a:stretch xmlns:a="http://schemas.openxmlformats.org/drawingml/2006/main"/>
        </p:blipFill>
        <p:spPr>
          <a:xfrm xmlns:a="http://schemas.openxmlformats.org/drawingml/2006/main">
            <a:off x="666750" y="1742273"/>
            <a:ext cx="6096000" cy="3811604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CD4E5-6934-4576-9A38-029DE22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EVIDENCE → 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809FD-D12D-4CAD-BC89-3E1CD3F7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Career Intelligence interprets existing proof against adjacent paths and gaps.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DC0B4-B870-4471-BEBC-6564C0C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AAA99-D339-4947-9A7A-2A64F86E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48381-F992-4520-A949-33964191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Reveal transferable evidence and adjacent career options.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28B4B-9333-4D01-B16C-B5EE53A2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152BD-1D3E-41FF-B385-BF540EA6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A2C55-6EB5-47A3-836A-2AA0B576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Prioritise one missing skill or proof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6D824-8F85-4CDC-BF04-31EEDD50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9E5B9-D0E6-4968-B270-6C4FC2E7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A086D-C9C5-4AC8-901D-9C71339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Connect the gap to learning or market 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6A843-6222-465D-9BF5-73DB7FF1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Designed impact: clearer choices and less degree lock-in.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10665-B3B3-47F7-928D-A213C63B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4807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F463B-13FF-42D5-BDEB-C3A7198E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20175-764D-4AA7-9A78-E4AFD8CE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18152-9E1F-435D-8FEA-0D5D222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1485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973A5-B00C-4A4E-95A4-F3DA4109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2C77A-5498-4819-9FE5-7B7684FF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209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7CEEE-5F3A-4D1B-9204-8F74964B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309"/>
                </a:solidFill>
              </a:defRPr>
            </a:pPr>
            <a:r>
              <a:rPr sz="825" b="1">
                <a:solidFill>
                  <a:srgbClr val="B45309"/>
                </a:solidFill>
              </a:rPr>
              <a:t>Simulated paths and market logic</a:t>
            </a:r>
          </a:p>
        </p:txBody>
      </p:sp>
    </p:spTree>
    <p:extLst>
      <p:ext uri="{BB962C8B-B14F-4D97-AF65-F5344CB8AC3E}">
        <p14:creationId xmlns:p14="http://schemas.microsoft.com/office/powerpoint/2010/main" val="14255301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551CE-2DE3-4ED1-BFEC-6AB5A66F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B4EF4-99D6-4ADB-947A-BCBE0D0A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Guidance matters only when it ends in a visible next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B2B34-99D9-4D47-BF81-7EF9C8CA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01B36-8AD5-459C-9171-B47B3622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c5003dd4f4a03"/>
          <a:stretch xmlns:a="http://schemas.openxmlformats.org/drawingml/2006/main"/>
        </p:blipFill>
        <p:spPr>
          <a:xfrm xmlns:a="http://schemas.openxmlformats.org/drawingml/2006/main">
            <a:off x="5448300" y="1742273"/>
            <a:ext cx="6096000" cy="3811604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41355-E381-40EE-994E-EDA8B2A2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DIRECTION →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DBEEA-FCA1-4A7A-A685-79458CB9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Opportunities and applications operationalise the student's next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3EB14-6040-4EA6-AD14-24A22694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B04FB-E30D-4F1C-B482-058FD6D8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1B233-7D7E-45C0-9FF5-3C70C48E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Explain why an opportunity fits—and what evidence is missing.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159D1-E2D8-4D8D-A39E-061B03EF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ADB51-3B6A-4A16-A6A9-7120C8EC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DB419-A17F-4131-80A3-85A926F9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Save, apply, prepare, or build the needed skill.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BFD85-9B6E-4699-A61F-5D8418CE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4985E-A65E-4808-B452-69A391B3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55BEE-0D8A-41B8-89E2-695AD042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Preserve status and follow-up instead of losing momentum.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35DF0-2E0A-402C-A76D-D448611B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Behaviour change: advice becomes a commitment.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0EE12-ECF9-47B9-A5C8-F573636B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3857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7EFDD-0261-450E-8F7A-15A57B8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95725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A1E16-B844-46B2-8897-E9AEFB9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482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9593B-2D2F-478A-A2E3-D07B4982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0535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02530-4A16-4E48-9B33-A7E42767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9CDCF-3FDA-4B1A-BE72-36FF426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1900238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3088A-4BEF-41DF-98BC-9F537CD7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67163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</a:defRPr>
            </a:pPr>
            <a:r>
              <a:rPr sz="825" b="1">
                <a:solidFill>
                  <a:srgbClr val="0F766E"/>
                </a:solidFill>
              </a:rPr>
              <a:t>Demonstrated local workflow</a:t>
            </a:r>
          </a:p>
        </p:txBody>
      </p:sp>
    </p:spTree>
    <p:extLst>
      <p:ext uri="{BB962C8B-B14F-4D97-AF65-F5344CB8AC3E}">
        <p14:creationId xmlns:p14="http://schemas.microsoft.com/office/powerpoint/2010/main" val="1539812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A01D6-F6F3-41A0-992A-43126ED4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07D54-A4D5-4AEF-AD60-B810792C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Ask from intent, then practise the moment that matters.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7AB88-690B-47AC-ABCC-537A1424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845F6-B1BD-4A95-A14A-8590BDCF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4379f5cab4ca8"/>
          <a:stretch xmlns:a="http://schemas.openxmlformats.org/drawingml/2006/main"/>
        </p:blipFill>
        <p:spPr>
          <a:xfrm xmlns:a="http://schemas.openxmlformats.org/drawingml/2006/main">
            <a:off x="666750" y="1742273"/>
            <a:ext cx="6096000" cy="3811604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A0B18-652C-4AC8-B0DB-D3707B99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INTENT → PREPARATION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7BC5C-4E98-452F-9242-77B2451E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The Companion reduces navigation while practice turns guidance into rehearsal.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1DB19-AE70-4878-BF9A-E5E86CF1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8C01A-4F2A-49F3-BA20-1B848EF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7C563-B4CE-4218-97F0-55300551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Interpret the student's question in CareerOS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53BEA-C4A8-47A4-98CA-7B7FFF7E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F87CD-DE8D-426B-A71D-33825C09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74823-FDAF-4A13-8DF7-7EB5624B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Route to evidence, opportunity, or preparation.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8AF6A-F06C-4EFD-85B5-A9663C27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3C276-C9C4-47DF-B4DF-53658DD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401D4-A246-406D-BA15-F6CDF150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Practise for a role without learning the product's information architecture.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1280E-053C-4915-91AE-F7F44BD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Expected impact: faster movement from uncertainty to preparation.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09BC0-5F85-4BD4-B860-C7D0D197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1482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BA780-DBAE-46D8-A73C-08C51B33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71975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ECB97-8C3D-4BD8-91B3-B16A49C3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66E53-D0CB-4F65-95DD-B85CB277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1652588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BDFAD-0CD6-4319-AC31-B3E7F1DF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4239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309"/>
                </a:solidFill>
              </a:defRPr>
            </a:pPr>
            <a:r>
              <a:rPr sz="825" b="1">
                <a:solidFill>
                  <a:srgbClr val="B45309"/>
                </a:solidFill>
              </a:rPr>
              <a:t>Simulated / optional AI</a:t>
            </a:r>
          </a:p>
        </p:txBody>
      </p:sp>
    </p:spTree>
    <p:extLst>
      <p:ext uri="{BB962C8B-B14F-4D97-AF65-F5344CB8AC3E}">
        <p14:creationId xmlns:p14="http://schemas.microsoft.com/office/powerpoint/2010/main" val="19877104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27EF3-EB33-44FC-A4BE-F44C5DD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RETENTION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E4BA4-AC5D-4B57-A7D3-95BE05E0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CareerOS gives students reasons to return between applications.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1FF51-B692-4BC2-93AF-88D9056E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27B01-FB9D-49D7-BA3A-0B919127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fc250f9e842a9"/>
          <a:stretch xmlns:a="http://schemas.openxmlformats.org/drawingml/2006/main"/>
        </p:blipFill>
        <p:spPr>
          <a:xfrm xmlns:a="http://schemas.openxmlformats.org/drawingml/2006/main">
            <a:off x="5448300" y="1742273"/>
            <a:ext cx="6096000" cy="3811604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EE6A8-4835-4DEB-9FC8-443E3554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SETBACK →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FE976-8BEC-42E1-8421-E6A06E98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Community, mentorship, and learning can extend the relationship beyond vacancy browsing.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68BEF-A2D2-432B-9FE2-E9F9A932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27FD9-7D8C-44D1-83FB-D6D633CA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3E580-5F12-48BB-9EC6-68FC0FBF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Normalise rejection and uncertainty through relevant peers.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8005F-074A-484B-A4F9-4276672C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AABD5-8DAE-4EFC-9248-2FA4FE1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549A1-28F7-41CB-910F-30B317C4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Find targeted support, advice, or mentorship.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21510-9635-4001-88D5-2C149C37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EDB27-6F0C-4535-964A-6F200A50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E1708-2FDA-42E6-8079-DC90107A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Turn new activity into future Career Memory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0E97B-5501-4439-94CA-3583921D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Designed impact: continued evidence-building—not measured retention.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F393F-8AF1-4733-81C1-23134F71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6DF18-FC77-4267-ACA7-09E60CC0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77CB7-5098-4D3C-8AE4-1B5F4D43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Community demonstrated • compounding future</a:t>
            </a:r>
          </a:p>
        </p:txBody>
      </p:sp>
    </p:spTree>
    <p:extLst>
      <p:ext uri="{BB962C8B-B14F-4D97-AF65-F5344CB8AC3E}">
        <p14:creationId xmlns:p14="http://schemas.microsoft.com/office/powerpoint/2010/main" val="18552910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B2F84B-88F2-4EDB-9433-9FBBF2CC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EMPLOYER • DECISION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C6E95-0BAE-406C-BD6E-7B61611D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Employers need evidence and history—not another candidate database.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4E37D-7C4E-4E61-97B7-71454E4F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FBC13-D38D-424E-A9AE-47D8720D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476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EA0AF-F76C-43E2-A067-D5E1D585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THE CURRENT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411C4-5F20-458A-84CC-6F12C44F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94A"/>
                </a:solidFill>
              </a:defRPr>
            </a:pPr>
            <a:r>
              <a:rPr sz="2250" b="1">
                <a:solidFill>
                  <a:srgbClr val="11194A"/>
                </a:solidFill>
              </a:rPr>
              <a:t>Early-talent decisions are weakest when every search starts from CV claims and zero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7774E-ED71-4DFA-BFAE-EB46650E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F"/>
                </a:solidFill>
              </a:defRPr>
            </a:pPr>
            <a:r>
              <a:rPr sz="1350" b="0">
                <a:solidFill>
                  <a:srgbClr val="52627F"/>
                </a:solidFill>
              </a:rPr>
              <a:t>Similar claims • limited work history • lost event context • urgent sourcing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163EB-90B6-4128-8CF4-0A27681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24000"/>
            <a:ext cx="62103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7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C1F55-2EE0-4BDD-AF03-2AE82598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47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THE CAREEROS EMPLOYER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B164C-4069-43B5-944D-9F50570C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C0442-8A0B-45F1-9AE3-70410317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1725"/>
            <a:ext cx="455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94A"/>
                </a:solidFill>
              </a:defRPr>
            </a:pPr>
            <a:r>
              <a:rPr sz="1275" b="0">
                <a:solidFill>
                  <a:srgbClr val="11194A"/>
                </a:solidFill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91F22-B70C-4AAE-96F3-53DC24F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47975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CCF2C-FDD0-4D3B-8FCE-2EDBCB57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52750"/>
            <a:ext cx="455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Evidence-backed discovery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FA20B-3682-43E4-A02C-E299823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29000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6B137-5DA0-4636-9ECE-FBACFB40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33775"/>
            <a:ext cx="455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94A"/>
                </a:solidFill>
              </a:defRPr>
            </a:pPr>
            <a:r>
              <a:rPr sz="1275" b="0">
                <a:solidFill>
                  <a:srgbClr val="11194A"/>
                </a:solidFill>
              </a:rPr>
              <a:t>Targeted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92217-BDBE-41FA-9A69-62CB2BC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10025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2B84D-E65F-4820-AC3E-19FF65B4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455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94A"/>
                </a:solidFill>
              </a:defRPr>
            </a:pPr>
            <a:r>
              <a:rPr sz="1275" b="0">
                <a:solidFill>
                  <a:srgbClr val="11194A"/>
                </a:solidFill>
              </a:rPr>
              <a:t>Decision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07A30-FC62-46F2-9BBB-C450E53A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91050"/>
            <a:ext cx="495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7B1A8-2C1E-49C0-B587-BF7BA66E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95825"/>
            <a:ext cx="455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94A"/>
                </a:solidFill>
              </a:defRPr>
            </a:pPr>
            <a:r>
              <a:rPr sz="1275" b="0">
                <a:solidFill>
                  <a:srgbClr val="11194A"/>
                </a:solidFill>
              </a:rPr>
              <a:t>Reusable 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F9616-5E05-47DA-B735-D3D4D626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Behaviour change: ask what supports fit—and what must be validated.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19200-A09B-4E94-9F7A-75CE46C2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46A06D-7DAE-43B8-BF74-0D83D89D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E06E4-463C-4BEA-8DA5-A7C5D45A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309"/>
                </a:solidFill>
              </a:defRPr>
            </a:pPr>
            <a:r>
              <a:rPr sz="825" b="1">
                <a:solidFill>
                  <a:srgbClr val="B45309"/>
                </a:solidFill>
              </a:rPr>
              <a:t>Simulated candidate and match data</a:t>
            </a:r>
          </a:p>
        </p:txBody>
      </p:sp>
    </p:spTree>
    <p:extLst>
      <p:ext uri="{BB962C8B-B14F-4D97-AF65-F5344CB8AC3E}">
        <p14:creationId xmlns:p14="http://schemas.microsoft.com/office/powerpoint/2010/main" val="5322926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49F86-CB00-4DDF-8E79-29DF3AA2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EMPLOYER •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7F149-DF08-4322-9A2F-26AD4032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A match should explain the evidence—and the uncertainty.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230C8-4485-44C3-AF22-C15C053A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93B93-4730-4FA5-BCF1-A357DDDA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17790259844cf"/>
          <a:stretch xmlns:a="http://schemas.openxmlformats.org/drawingml/2006/main"/>
        </p:blipFill>
        <p:spPr>
          <a:xfrm xmlns:a="http://schemas.openxmlformats.org/drawingml/2006/main">
            <a:off x="666750" y="1743075"/>
            <a:ext cx="6096000" cy="38100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2C253-AD5A-401C-8A16-3CA8635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NEED → EXPLAINABLE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69850-27A3-487B-8D01-F7AB627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Talent Discovery reframes ranking as an evidence-led validation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69485-E77E-48D1-96E6-0613709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1F3FD-F01C-4F25-809F-72D5C294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AEE4D-E525-42F4-8FA1-E76F0483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Start from a hiring need, not a generic candidate search.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01D1D-A7D7-4B09-98DF-F82ED3EA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254F3-AB4E-4C78-B2EB-1BDA6C60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21C97-B89E-49DE-AED1-5AA199B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Show supporting evidence, strengths, and gaps.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34222-5D32-43E2-8414-2D3A6927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3BCBB-C842-461E-A2FE-3FA58CE5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89700-26C3-46E2-B4DB-C14307D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Prepare the next validation question before shortlisting.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8B49F-384D-4083-B7FD-46FA63D4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Designed impact: more structured, accountable screening.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0693F-7C9C-4B07-96CD-E608A400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8145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0E91D-6166-4552-A4EF-2EFB947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3860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22BFE-617D-488D-A38E-813FD9EA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387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1F859-9D7B-4D65-8CB3-24F86BB2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9585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D61FD-E9DA-4082-BF26-2FB4CA61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9083F-D2C0-4DE8-BE02-DA85D0D6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271713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13534-C8F7-4D16-932E-221FC632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043113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309"/>
                </a:solidFill>
              </a:defRPr>
            </a:pPr>
            <a:r>
              <a:rPr sz="825" b="1">
                <a:solidFill>
                  <a:srgbClr val="B45309"/>
                </a:solidFill>
              </a:rPr>
              <a:t>Simulated matching and candidates</a:t>
            </a:r>
          </a:p>
        </p:txBody>
      </p:sp>
    </p:spTree>
    <p:extLst>
      <p:ext uri="{BB962C8B-B14F-4D97-AF65-F5344CB8AC3E}">
        <p14:creationId xmlns:p14="http://schemas.microsoft.com/office/powerpoint/2010/main" val="2128802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AE0C7-751E-4EEB-B500-CA272ED5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EMPLOYER •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5B7E6-A0EC-4FCE-8338-58013509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CareerOS preserves why a candidate moved—not only where they are.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F540E-67B6-49F7-80D8-FAE86184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768DA-94B6-4DAF-B381-5BA89B54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d8a59c780435c"/>
          <a:stretch xmlns:a="http://schemas.openxmlformats.org/drawingml/2006/main"/>
        </p:blipFill>
        <p:spPr>
          <a:xfrm xmlns:a="http://schemas.openxmlformats.org/drawingml/2006/main">
            <a:off x="5448300" y="1743075"/>
            <a:ext cx="6096000" cy="38100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B8B38-15D3-4CBF-9970-81698608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FIT → DECISION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5082C-1175-4675-9DA0-8A466673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Evidence rationale must survive the handoff into candidate stages and team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49656-7364-4809-93AD-09AE4CF5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6F5BF-FAA1-4CF5-B9F6-50A12E89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97C9D-9A48-44AE-85F0-E5F697CB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Retain shortlist or pass decisions with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8B977-A008-47EF-89B8-1455AFDE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04C90-A8A8-494C-97DA-9C019F70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AF742-4120-4577-B4A0-ABBCA99F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Carry gaps and validation questions forward.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03416-6A4C-43B7-B84A-6C5831AF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E39FA-E401-4548-9464-6DBD8EBB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15BB7-2EEF-425E-BC3F-BB6ED874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Keep the next decision-maker from repeating the same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8007B-EF45-49C2-8D33-233ABB8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Expected impact: cleaner handoffs; ATS integration remains future.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60863-BC51-43FA-8D21-78C545AC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EE2DB-7000-4054-B876-B6405968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17145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BD4F2-8D0F-43C8-AF31-96E11388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485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</a:defRPr>
            </a:pPr>
            <a:r>
              <a:rPr sz="825" b="1">
                <a:solidFill>
                  <a:srgbClr val="0F766E"/>
                </a:solidFill>
              </a:rPr>
              <a:t>Demonstrated local state</a:t>
            </a:r>
          </a:p>
        </p:txBody>
      </p:sp>
    </p:spTree>
    <p:extLst>
      <p:ext uri="{BB962C8B-B14F-4D97-AF65-F5344CB8AC3E}">
        <p14:creationId xmlns:p14="http://schemas.microsoft.com/office/powerpoint/2010/main" val="14453543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163D7-7135-487F-9973-4FFB952E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EMPLOYER • RELATIONSHIP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E8682-AFA8-4574-8FD6-299DF89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Prior engagement becomes a renewable talent asset.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DE56B-B65A-4E71-8429-E2D81E07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A1D1D-C86D-493B-AC30-F1A4D3D3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ffe9497174c3b"/>
          <a:stretch xmlns:a="http://schemas.openxmlformats.org/drawingml/2006/main"/>
        </p:blipFill>
        <p:spPr>
          <a:xfrm xmlns:a="http://schemas.openxmlformats.org/drawingml/2006/main">
            <a:off x="666750" y="1743075"/>
            <a:ext cx="6096000" cy="38100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8824B-5AB2-4864-9F49-865ADEDF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HISTORY → REACTIVATION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3C9DC-AAAC-478C-ADFA-45572CB5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An urgent vacancy should not erase every previous challenge or candidate interaction.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D1269-8282-4AE4-898C-8407F0CE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97829-E854-4608-A12A-D990C8A3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2F028-4BAA-4ECE-ADA5-7B046A46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Surface warm candidates with prior relationship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72969-AEF6-437B-A3D3-6F731309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B7257-102C-47BA-B161-71C42E9F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39EB2-C67C-4E3D-82F8-98D72ED2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Explain why the renewed need matches earlier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2971E-E83C-4067-9B2C-EDD48184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72839-A052-405F-AC0F-8E55C356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11409-D03E-4DFE-AADD-CD7AA1A8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Reconnect engagement design, pipeline action, and learning.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4200B-4354-499D-AEAE-2C174D63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Designed impact: restart from context—not from zero.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D688C-C799-4DBB-AA26-06FD486C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9082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8405B-8E5E-40BF-90DC-AEAB5D7D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47975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9E04D-0028-45A1-9249-15ADE8C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A3290-AB8B-41EC-B82B-DA02B282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147888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E3289-3ED3-412E-BF30-4C016B04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91928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309"/>
                </a:solidFill>
              </a:defRPr>
            </a:pPr>
            <a:r>
              <a:rPr sz="825" b="1">
                <a:solidFill>
                  <a:srgbClr val="B45309"/>
                </a:solidFill>
              </a:rPr>
              <a:t>Simulated rewarming and sending</a:t>
            </a:r>
          </a:p>
        </p:txBody>
      </p:sp>
    </p:spTree>
    <p:extLst>
      <p:ext uri="{BB962C8B-B14F-4D97-AF65-F5344CB8AC3E}">
        <p14:creationId xmlns:p14="http://schemas.microsoft.com/office/powerpoint/2010/main" val="7857999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2CC29F-ACBF-4AE4-9398-7FCEC212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DECISION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21F19-376C-4F3D-A8C1-FF81AF31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Universities need time to act—not another annual report.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6F3C9-8481-4F4E-B929-155297B2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3DDE3-AD7E-4377-A3A0-824E3839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94A"/>
                </a:solidFill>
              </a:defRPr>
            </a:pPr>
            <a:r>
              <a:rPr sz="2325" b="1">
                <a:solidFill>
                  <a:srgbClr val="11194A"/>
                </a:solidFill>
              </a:rPr>
              <a:t>By the time an outcome appears in a report, the current cohort may already have lost the intervention window.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9BA63-CCFC-47E4-9DB9-4CB56B2B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1905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48FDD-06F2-4DE6-B64C-A429A87B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DETECT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BAD00-E33D-41EE-82CA-AB3D4453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Readiness and market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F5AEF-8082-4962-BF13-F01B96A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905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2331B-36A9-4C2B-97C7-6489B6FB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ASSIGN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726BC-CB89-4F0F-B520-A8E45ABE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Named owner and deadline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E554F-8D7D-4E2E-B8D2-2B6B21BD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905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5430F-DE8F-4D11-8ECE-267D654E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46E5"/>
                </a:solidFill>
              </a:defRPr>
            </a:pPr>
            <a:r>
              <a:rPr sz="975" b="1">
                <a:solidFill>
                  <a:srgbClr val="4F46E5"/>
                </a:solidFill>
              </a:rPr>
              <a:t>INTERVENE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0BE75-DC1E-4E18-BA74-451E78A8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Current-cohort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93786-8B22-4434-B109-4D563042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1905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176DB-FF24-4D65-82B2-E0866670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41FAD-DB86-49C0-B96A-4CAAE5B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Reusable institutional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4D594-4EAE-4527-A66F-FA6AD3B6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57500"/>
            <a:ext cx="1905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1A8F8-C2D8-4B88-8C61-730AC5D8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D23C7-4334-4E81-8F7F-4851DF39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Learn and govern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CEDA4-016B-405F-9223-4AF52C3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94A"/>
                </a:solidFill>
              </a:defRPr>
            </a:pPr>
            <a:r>
              <a:rPr sz="1725" b="1">
                <a:solidFill>
                  <a:srgbClr val="11194A"/>
                </a:solidFill>
              </a:rPr>
              <a:t>Critical principle: help the current cohort now while governing longer-term programme change.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34573-3A18-4474-99EF-564EEE6B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4204E-736B-469C-B3E6-DC48B64A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1962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67E59-551A-4D59-9042-C292A56A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733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309"/>
                </a:solidFill>
              </a:defRPr>
            </a:pPr>
            <a:r>
              <a:rPr sz="825" b="1">
                <a:solidFill>
                  <a:srgbClr val="B45309"/>
                </a:solidFill>
              </a:rPr>
              <a:t>Simulated institutional data</a:t>
            </a:r>
          </a:p>
        </p:txBody>
      </p:sp>
    </p:spTree>
    <p:extLst>
      <p:ext uri="{BB962C8B-B14F-4D97-AF65-F5344CB8AC3E}">
        <p14:creationId xmlns:p14="http://schemas.microsoft.com/office/powerpoint/2010/main" val="2290506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DEFD0-6B77-4BAF-8FAF-DBC94425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STUDENT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A03B3-1200-460B-B014-D45CF83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A risk signal matters only when someone owns the next intervention.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7DB14-477B-449D-80AF-A87326EC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03D1A-711D-467A-A86C-CAAFB9C3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b76735c134148"/>
          <a:stretch xmlns:a="http://schemas.openxmlformats.org/drawingml/2006/main"/>
        </p:blipFill>
        <p:spPr>
          <a:xfrm xmlns:a="http://schemas.openxmlformats.org/drawingml/2006/main">
            <a:off x="5448300" y="1743075"/>
            <a:ext cx="6096000" cy="38100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FB357-E9D8-4F3A-96A6-1A9D498F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SIGNAL → OWNERSHIP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AE141-74E0-4363-A868-4793043C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Student Readiness links cohort evidence to an accountable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15F32-374D-407C-B260-0E6A69FF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08945-1E58-4771-B37D-2E436CA4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19A0D-80A1-493C-A364-CC3B5C2A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Separate academic and employability signals.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A0D9A-14CF-49D8-BE90-C595D46F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44629-1D70-4115-9CC9-DFF36065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01493-9CAA-4DF3-9C69-3C40178B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Drill into a cohort or student risk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AE4BC-7C57-4E94-B60A-A377439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C23A8-D797-4447-B82D-4EEBADE0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1A4F3-2813-4839-8BA8-EF1829ED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Assign an intervention, owner, deadline, and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1E4CA-3392-4871-A5FF-6EFADEC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Safeguards required: consent, access, correction, and fairness.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490E4-9DFA-48E4-9670-86F16680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D0AAE-ACDE-41B4-B0A8-706E1CC6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64944-904B-41A7-A000-05C47BFF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672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AC79C-FE30-4E70-87B9-4BB3CD34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2435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531E4-B84E-4498-A6F8-1505BFBD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1D1EB-0410-4AE9-821D-264680F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89621-C17D-4384-925D-51ADED74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</a:defRPr>
            </a:pPr>
            <a:r>
              <a:rPr sz="825" b="1">
                <a:solidFill>
                  <a:srgbClr val="0F766E"/>
                </a:solidFill>
              </a:rPr>
              <a:t>Demonstrated workflow • mock sensitive data</a:t>
            </a:r>
          </a:p>
        </p:txBody>
      </p:sp>
    </p:spTree>
    <p:extLst>
      <p:ext uri="{BB962C8B-B14F-4D97-AF65-F5344CB8AC3E}">
        <p14:creationId xmlns:p14="http://schemas.microsoft.com/office/powerpoint/2010/main" val="14045531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C5F89-6ACA-4861-ABFE-34A6C717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CURRICULUM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3D568-D275-4CE6-BA32-0A2B655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A curriculum gap needs two clocks: help now, reform properly.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013D5-AC50-459F-B5C5-12205118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D8559-BEDB-4A85-96E5-EECCD0B1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7efe1d84243df"/>
          <a:stretch xmlns:a="http://schemas.openxmlformats.org/drawingml/2006/main"/>
        </p:blipFill>
        <p:spPr>
          <a:xfrm xmlns:a="http://schemas.openxmlformats.org/drawingml/2006/main">
            <a:off x="666750" y="1743075"/>
            <a:ext cx="6096000" cy="38100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B159C-964D-4C7A-B112-8C864394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DEMAND → TWO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D3042-F4E5-43D1-ADC0-7025BF6A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Curriculum-Market Alignment separates current-cohort support from governed programme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5BC28-0FD3-4B11-9239-8C9206C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BDF3F-6E90-462C-88C0-2FED7799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74397-3316-4F0F-B3B9-C92890CE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Trace the gap to demand, coverage, and outcome signals.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A68AD-6A9C-4C8F-A0EB-0DED4444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11737-3D2F-48CB-91D0-5575A5D3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D29BA-CA28-4290-B762-653F8F87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Act now through workshops, challenges, or partnerships.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17BA2-A205-4E95-902C-A28A84A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2005E-0AD4-448B-BC15-06FFC108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9468C-98AC-41F0-A049-F2BDD142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Build the evidence pack and roadmap for formal reform.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B1254-D1B1-446A-A6A8-56B01939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Behaviour change: market intelligence becomes a prioritised response.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586CF-DB88-478B-B93E-31B0D39F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672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635D2-E559-4226-B563-F22B5F7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2435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8B4DB-1B1A-4A9E-8CC0-3C7762A8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242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85BC3-2AAD-4091-95AC-30EA5B0A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8135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2552D-A43F-4E7C-8065-6786308A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A516F-CBC5-4C71-ADB8-339A166B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2C6AF-2DC9-42B3-8198-B8A1F04F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309"/>
                </a:solidFill>
              </a:defRPr>
            </a:pPr>
            <a:r>
              <a:rPr sz="825" b="1">
                <a:solidFill>
                  <a:srgbClr val="B45309"/>
                </a:solidFill>
              </a:rPr>
              <a:t>Simulated demand and coverage data</a:t>
            </a:r>
          </a:p>
        </p:txBody>
      </p:sp>
    </p:spTree>
    <p:extLst>
      <p:ext uri="{BB962C8B-B14F-4D97-AF65-F5344CB8AC3E}">
        <p14:creationId xmlns:p14="http://schemas.microsoft.com/office/powerpoint/2010/main" val="21146809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74A29-C1FB-44F8-921E-3A3FADAB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LEARNING AND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3218D-BF9E-4045-8D38-92EFB66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Alumni feedback needs an action channel—not another endpoint.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443F5-FCA7-4162-ACED-720AF6E0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54494-C380-4D5F-99B3-298A538D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ad3f0f2934172"/>
          <a:stretch xmlns:a="http://schemas.openxmlformats.org/drawingml/2006/main"/>
        </p:blipFill>
        <p:spPr>
          <a:xfrm xmlns:a="http://schemas.openxmlformats.org/drawingml/2006/main">
            <a:off x="5448300" y="1743075"/>
            <a:ext cx="6096000" cy="38100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D629B-AFFE-4B47-9D46-B19557B6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OUTCOME → PARTNERSHIP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C7D7E-89A0-4FA2-98A9-DA6807C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Alumni Signals and collaboration workflows connect learning to a named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1E84C-C3FA-4038-B933-F5DF5FB3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23E69-573B-41D5-AA98-A50DC2E4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703F4-9727-457E-B71A-5578C80F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Identify patterns worth investigating, not causal proof.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B31AB-26B0-451E-8274-7FFA4F10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D1FB2-8C68-4578-9053-657036A5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30708-D6FE-46CE-81C1-C195FCF6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Route findings into curriculum or partnership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05880-1092-4DF7-B7DC-4B5E6523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5826D-D80F-4339-A6A6-3B6C0B31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24644-0FC8-4C64-B0DD-0B48A974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Design collaborations against a gap and preserve event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64287-9E48-475A-9D5F-193AA110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Designed impact: more purposeful partnerships and outcome learning.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49DB9-7A6D-45B6-9139-5B0F8001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E618B-01ED-4836-9B5D-EECFE57B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890C2-EC42-476A-95D4-DBA9B43C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Illustrative analytics • outreach simulated</a:t>
            </a:r>
          </a:p>
        </p:txBody>
      </p:sp>
    </p:spTree>
    <p:extLst>
      <p:ext uri="{BB962C8B-B14F-4D97-AF65-F5344CB8AC3E}">
        <p14:creationId xmlns:p14="http://schemas.microsoft.com/office/powerpoint/2010/main" val="6554848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6F534-AE85-4C0F-9704-2D111AA7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EVIDENCE REUSE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380E8-7F54-48F4-86AA-C5ACCBCE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Institutional evidence should not be rebuilt for every deadline.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3E335-5B75-42AA-95C1-057CB6B9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92946-3F33-476F-A7A5-C430870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0932a717f4b73"/>
          <a:stretch xmlns:a="http://schemas.openxmlformats.org/drawingml/2006/main"/>
        </p:blipFill>
        <p:spPr>
          <a:xfrm xmlns:a="http://schemas.openxmlformats.org/drawingml/2006/main">
            <a:off x="666750" y="1743075"/>
            <a:ext cx="6096000" cy="38100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F1BB3-C168-4088-9D01-C46382E7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ACTION → REUSABLE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0E665-85BD-453D-8327-D641F97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The Accreditation Hub models readiness, ownership, gaps, and evidence reuse.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99AF1-8762-4A13-A855-BDD4F110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D43CA-CEF8-44E1-8590-B2904F50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66A90-5718-45F8-987E-D73530B7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Map requirements to source, owner, period, and completeness.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83FD0-EA05-4F87-9CAC-3A3D0DE4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062C4-84B7-4E41-92BB-4B2E2978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9CE5E-F636-466D-B50A-373D0FBB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Expose missing evidence and the responsible person.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90F0F-5395-43AA-A106-7964C271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752B9-CB44-4864-BAE1-14E0A80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434A6-595D-4B80-8A74-9984099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Reuse curriculum, readiness, alumni, and partnership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7DC5D-0EE0-4998-9D9A-24444897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Designed impact: less repeated preparation; savings are not measured.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4E842-5C66-4752-A78D-607EECB2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2432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6799A-A10C-44F3-94E4-5B66ED56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81475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6C12E-B33A-4C95-95DD-69634537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A119F-FE53-45FA-8C2A-54EC756A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B9B24-05C8-48BD-82A1-2792A329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309"/>
                </a:solidFill>
              </a:defRPr>
            </a:pPr>
            <a:r>
              <a:rPr sz="825" b="1">
                <a:solidFill>
                  <a:srgbClr val="B45309"/>
                </a:solidFill>
              </a:rPr>
              <a:t>Simulated uploads, requests, exports, and drafts</a:t>
            </a:r>
          </a:p>
        </p:txBody>
      </p:sp>
    </p:spTree>
    <p:extLst>
      <p:ext uri="{BB962C8B-B14F-4D97-AF65-F5344CB8AC3E}">
        <p14:creationId xmlns:p14="http://schemas.microsoft.com/office/powerpoint/2010/main" val="16304771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33A70-7F0B-471E-A941-AA05ED80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GOVERNED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4B861-5943-410C-9514-39D24F44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Leaders need prepared decisions—not another page of charts.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B630A-2082-40D6-960A-CC8EAC01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D7BF4-D673-452C-A674-1179AE8B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63246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1834feedf4fb9"/>
          <a:stretch xmlns:a="http://schemas.openxmlformats.org/drawingml/2006/main"/>
        </p:blipFill>
        <p:spPr>
          <a:xfrm xmlns:a="http://schemas.openxmlformats.org/drawingml/2006/main">
            <a:off x="5448300" y="1743075"/>
            <a:ext cx="6096000" cy="38100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0F995-C7E5-4B9E-B27D-B881E7D9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GOAL → HUMAN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F0B82-A609-431C-BEE5-05F37363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The AI Office reframes institutional intelligence as job-shaped work with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37930-1D43-4852-9E14-520B3580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39137-D073-4D63-A86C-42B4E3D8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EF5E9-F4CF-4DCA-AF1C-3954DF6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Route goals to Student Success, Curriculum, Alumni, Partnerships, or Accreditation.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51AA6-50E7-43BB-ACD6-15D4F8AC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756CC-70CE-4756-B34B-7CBE496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B814E-E51E-4D4D-A141-74D49B73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Prepare context and trade-offs across functions.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1CAB8-3B08-4DFD-BFA7-38A2733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F535E-2CAA-4CDB-80AC-6428B784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62EDF-7586-4DD8-A74F-895FFE0A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01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Require human approval before external effect.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09361-CB38-4206-8101-1EEC73CC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Interaction model demonstrated; persistent autonomous work is future.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31D25-0127-4089-984B-AA595850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6232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0BE2D-536C-448E-893D-BD965000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19475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1B2D6-2342-4B8D-8074-57405096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8503B-BCDB-4FCE-9FC1-A9FE7CE4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24100"/>
            <a:ext cx="238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44095-E469-4366-BC49-8C990A63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7BD85-7242-437B-A3DC-6BB6A08E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EF93B-3807-462D-89DB-47AD00CF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Scripted / optional AI • autonomy future</a:t>
            </a:r>
          </a:p>
        </p:txBody>
      </p:sp>
    </p:spTree>
    <p:extLst>
      <p:ext uri="{BB962C8B-B14F-4D97-AF65-F5344CB8AC3E}">
        <p14:creationId xmlns:p14="http://schemas.microsoft.com/office/powerpoint/2010/main" val="4364768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865CB-8162-484A-A37E-DAB9EF77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CONNECTED ECOSYSTEM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301EF-A7D6-4FBB-8585-6E0DDE85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CareerOS becomes more than three workspaces when evidence survives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7DDF8-9FE4-472F-B934-50050C35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7BF77-FDD8-430C-802F-8A5FE73D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1E39C-2B55-4A3B-9F3B-0A295A85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EMPLOYER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23618-9E7A-4B44-BE5E-1584825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defines an evidence-producing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6DECD-FFC1-4CD7-8678-D36E2C5B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F46E5"/>
                </a:solidFill>
              </a:defRPr>
            </a:pPr>
            <a:r>
              <a:rPr sz="195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D6D6C-058E-4D56-A9E2-74A71D6B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80DBA-2D37-4E1A-921D-3E515566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90AF9-2258-4777-B957-E7D6DD1B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955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turns participation into Career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26915-0FB4-4447-9E0A-99F0351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F46E5"/>
                </a:solidFill>
              </a:defRPr>
            </a:pPr>
            <a:r>
              <a:rPr sz="195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2905D-93ED-409D-81DB-7D2253F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4021B-AE31-4FF8-B2F3-B2301739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EMPLOYER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FAE82-1D1E-4772-971C-6D5A80B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uses evidence as explainable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D2E3A-2218-4C38-A2EA-3278C54F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</a:defRPr>
            </a:pPr>
            <a:r>
              <a:rPr sz="1950" b="1">
                <a:solidFill>
                  <a:srgbClr val="475569"/>
                </a:solidFill>
              </a:rPr>
              <a:t>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D84C0-080B-4EF6-9824-57C079B5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3C164-A152-4B5C-A3C8-D5CAE57A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UNIVERSITY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B511A-61CE-4ADF-B305-297CD3EF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955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assigns an intervention and preserves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D7A6E-03E8-4F80-8B77-F05F5EE2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971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7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5A384-10D8-4438-9DE1-26607F08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243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94A"/>
                </a:solidFill>
              </a:defRPr>
            </a:pPr>
            <a:r>
              <a:rPr sz="1500" b="1">
                <a:solidFill>
                  <a:srgbClr val="11194A"/>
                </a:solidFill>
              </a:rPr>
              <a:t>Solid handoffs are represented in the repository. Dashed propagation requires permissions, provenance, and integrations.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41026-B203-4752-8641-7861A31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46E5"/>
                </a:solidFill>
              </a:defRPr>
            </a:pPr>
            <a:r>
              <a:rPr sz="1500" b="1">
                <a:solidFill>
                  <a:srgbClr val="4F46E5"/>
                </a:solidFill>
              </a:rPr>
              <a:t>Potential moat: permissioned longitudinal evidence and relationship history—not dashboards or generic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62A7A-BD55-41BF-9608-BAA7BE41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C33B7-8A6B-4DCD-89FD-2CDD150D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3D673-492B-4385-8AB7-F62F8408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</a:defRPr>
            </a:pPr>
            <a:r>
              <a:rPr sz="825" b="1">
                <a:solidFill>
                  <a:srgbClr val="0F766E"/>
                </a:solidFill>
              </a:rPr>
              <a:t>Demonstrated in parts • network future</a:t>
            </a:r>
          </a:p>
        </p:txBody>
      </p:sp>
    </p:spTree>
    <p:extLst>
      <p:ext uri="{BB962C8B-B14F-4D97-AF65-F5344CB8AC3E}">
        <p14:creationId xmlns:p14="http://schemas.microsoft.com/office/powerpoint/2010/main" val="7127871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05750-B2AD-4879-AFCE-D05B3DA2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IMPLEMENTATION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9B570-2633-40D2-9067-138DF9BC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The prototype proves product logic—not adoption, accuracy, or integration.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820D5-2797-4719-8DD5-93D86424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64C22-18DF-4F90-9023-0E46E82F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34099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D6AF8-20FC-4204-B72D-3DC4576D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DEMONSTRATED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E1221-C98E-4EC5-9E91-128CC445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94A"/>
                </a:solidFill>
              </a:defRPr>
            </a:pPr>
            <a:r>
              <a:rPr sz="1875" b="1">
                <a:solidFill>
                  <a:srgbClr val="11194A"/>
                </a:solidFill>
              </a:rPr>
              <a:t>Working prototype interactions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0D082-AF8E-4D72-A196-9D23FF64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914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Three compiled workspaces; rich local interactions; selected cross-page state; partial FastAPI routes; evidence-to-action UX.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3635B-F16B-4CA2-A60F-7C194239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Inspect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D8CA2-5DA7-4D62-B6D4-24FC2B8C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0200"/>
            <a:ext cx="34099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A6A06-F439-4EA0-9A45-14CCAD3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309"/>
                </a:solidFill>
              </a:defRPr>
            </a:pPr>
            <a:r>
              <a:rPr sz="900" b="1">
                <a:solidFill>
                  <a:srgbClr val="B45309"/>
                </a:solidFill>
              </a:rPr>
              <a:t>SIMULATED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B69C4-2BF8-46B2-B174-D9EAA6B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81225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94A"/>
                </a:solidFill>
              </a:defRPr>
            </a:pPr>
            <a:r>
              <a:rPr sz="1875" b="1">
                <a:solidFill>
                  <a:srgbClr val="11194A"/>
                </a:solidFill>
              </a:rPr>
              <a:t>Intelligence and operational effects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BC162-F38F-446F-959D-F530582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914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Recommendations, scores, cohort and candidate data, sends, exports, uploads, generated drafts, and most persistence.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71CCF-2C94-4844-9EE6-7BCD0212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Label clearly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50F11-B45D-47AE-AF12-AC8E3158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34099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4D7BE-2DF6-4BD4-AE6A-7B1DB24F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383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FUTURE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F6907-9605-4890-971E-D8B1C12C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81225"/>
            <a:ext cx="2914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94A"/>
                </a:solidFill>
              </a:defRPr>
            </a:pPr>
            <a:r>
              <a:rPr sz="1875" b="1">
                <a:solidFill>
                  <a:srgbClr val="11194A"/>
                </a:solidFill>
              </a:rPr>
              <a:t>Production trust and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816D2-4FF6-434A-98F9-4E664EA0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914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Permissions, provenance, verification, integrations, validated models, cross-organisation propagation, and autonomous monitoring.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02D1B-A7EA-4AD2-84D0-FFA6D09B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815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Validate 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543A3-23AB-47E9-BB98-DD690566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94A"/>
                </a:solidFill>
              </a:defRPr>
            </a:pPr>
            <a:r>
              <a:rPr sz="1725" b="1">
                <a:solidFill>
                  <a:srgbClr val="11194A"/>
                </a:solidFill>
              </a:rPr>
              <a:t>No customers, partnerships, adoption, measured outcomes, ROI, or AI accuracy are claimed.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FE538-5CD6-4518-A582-8652EEBE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E45E8-15E0-43F8-8AEF-E76B5320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1590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6487D-979A-46D8-9645-EADDF196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362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Product-truth boundary</a:t>
            </a:r>
          </a:p>
        </p:txBody>
      </p:sp>
    </p:spTree>
    <p:extLst>
      <p:ext uri="{BB962C8B-B14F-4D97-AF65-F5344CB8AC3E}">
        <p14:creationId xmlns:p14="http://schemas.microsoft.com/office/powerpoint/2010/main" val="4102044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B22C7-CBE7-404A-BE62-DDA18805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TALENTBANK STRATEGIC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CCAE2-D6B5-4FB8-B942-DC2FF97F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CareerOS could extend Talentbank from episodic transactions to relationship infrastructure.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32873-858C-4F45-8835-FD6960D2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E1A5F-6928-4AF4-A46B-BB119BDC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C727C-4E21-4103-8FE7-D705478B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STUDENTS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5C779-0B93-42BE-BA08-F3388047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94A"/>
                </a:solidFill>
              </a:defRPr>
            </a:pPr>
            <a:r>
              <a:rPr sz="1425" b="1">
                <a:solidFill>
                  <a:srgbClr val="11194A"/>
                </a:solidFill>
              </a:rPr>
              <a:t>Engage before, between, and after applications through evidence, guidance, practice, and community.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A2534-3894-477A-973D-62365FDC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2AFBE-5586-40A4-AA56-4FB73AC6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EMPLOYERS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3A42E-38C0-4B27-93A3-BFA685F7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94A"/>
                </a:solidFill>
              </a:defRPr>
            </a:pPr>
            <a:r>
              <a:rPr sz="1425" b="1">
                <a:solidFill>
                  <a:srgbClr val="11194A"/>
                </a:solidFill>
              </a:rPr>
              <a:t>Add evidence-led discovery, warm-pipeline recovery, and engagement design to listings.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77D60-B0D8-4ABD-A87B-DF744AE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3D843-405F-4332-9589-A8E9094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UNIVERSITIES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DCA20-1792-4ECD-B34C-71D43768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94A"/>
                </a:solidFill>
              </a:defRPr>
            </a:pPr>
            <a:r>
              <a:rPr sz="1425" b="1">
                <a:solidFill>
                  <a:srgbClr val="11194A"/>
                </a:solidFill>
              </a:rPr>
              <a:t>Add readiness, alignment, collaboration, outcome, accreditation, and decision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A26B8-340A-437E-8956-5887716F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1ADE6-9468-49E5-9DEF-92516ED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</a:defRPr>
            </a:pPr>
            <a:r>
              <a:rPr sz="900" b="1">
                <a:solidFill>
                  <a:srgbClr val="4F46E5"/>
                </a:solidFill>
              </a:rPr>
              <a:t>ECOSYSTEM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53B12-5C51-49D3-9BB6-7492424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94A"/>
                </a:solidFill>
              </a:defRPr>
            </a:pPr>
            <a:r>
              <a:rPr sz="1425" b="1">
                <a:solidFill>
                  <a:srgbClr val="11194A"/>
                </a:solidFill>
              </a:rPr>
              <a:t>Compound permissioned evidence and relationship history across repeated interactions.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8E929-9EC4-44CA-9826-5EA11B97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60D22-C97E-4E54-9B8F-BF638951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Strategic condition: data rights, distribution, buyer demand, consent, trust, integration cost, and ownership must be validated.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87DB6-8F1F-45D0-A102-6AD3AF0D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9B230-582D-42ED-9216-D10130C0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E5588-A289-4A47-8031-01EA1221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Strategic potential • not current traction</a:t>
            </a:r>
          </a:p>
        </p:txBody>
      </p:sp>
    </p:spTree>
    <p:extLst>
      <p:ext uri="{BB962C8B-B14F-4D97-AF65-F5344CB8AC3E}">
        <p14:creationId xmlns:p14="http://schemas.microsoft.com/office/powerpoint/2010/main" val="21263218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FDD037-F238-48EE-938B-2C17D830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NEXT-STAGE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65E35-CFE7-4623-833C-AE9E6B8E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Prove one repeated workflow before scaling the network.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FE430-29A0-49D5-8D1D-5322972C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D6081-1559-49EF-818C-77D5479C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4953000" cy="414337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F6FEA-66D7-4018-A4C1-1DCAA20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VALIDATION HYPOTHESIS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44650-242D-4C61-AD4C-162A9C7A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94A"/>
                </a:solidFill>
              </a:defRPr>
            </a:pPr>
            <a:r>
              <a:rPr sz="2025" b="1">
                <a:solidFill>
                  <a:srgbClr val="11194A"/>
                </a:solidFill>
              </a:rPr>
              <a:t>Can one computing/data faculty detect two employability gaps, launch a current-cohort intervention, capture student evidence, and produce a reusable summary?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02CDC-68E5-4EEA-A77B-1B53606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Recommended path—not an announced pilot or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96733-E791-4C32-A4C1-544C011B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85900"/>
            <a:ext cx="5734050" cy="414337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7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1E34B-AD99-47E4-8E0D-B7189E85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MEASURE TO LEARN—NOT TO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57BC0-0558-4048-BBA2-556AD581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AA553-E2DD-4438-94D9-1821ED5A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F47FF-1751-412C-AB6D-0AE2F3E2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453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Career Memory evidence completion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BB0DD-7B6C-4CCF-9A93-311B6BC3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8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ED841-602D-43C4-AEC9-1406403B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2892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793D9-7FA2-41E7-8761-CEC5C417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52725"/>
            <a:ext cx="453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Intervention uptake and completion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6AB15-7000-4B22-A2B1-68BE11DA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44BE9-DB60-4E16-9CC4-5296448D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D1CC4-542C-46FF-8F36-37C407C3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95650"/>
            <a:ext cx="453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Employer participation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F19A8-11B7-483D-9DED-961F1CA7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766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0DF52-C103-4BBA-B2CA-05D5D2C1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14775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AD8F5-72A1-4A4C-86FB-9BAE00F2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453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Time from signal to assigned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BDCAF-53E7-49A1-A329-368A62B1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196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6B807-0A8E-4900-B68F-CD5734D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4715D-FFE9-4E37-8C90-AE8DC41B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533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Staff time to prepare an evidence summary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72F23-A5FA-446D-9923-91ABA1AF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95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Decision gates: consent, buyer ownership, data availability, adoption, and operational value.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FEC9C-B9A3-4AB4-BF5C-2459EE79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D13C1-59BD-4782-9257-1F051354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1590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07200-4ED6-443C-A7A5-A48288CF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486525"/>
            <a:ext cx="1362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Future validation path</a:t>
            </a:r>
          </a:p>
        </p:txBody>
      </p:sp>
    </p:spTree>
    <p:extLst>
      <p:ext uri="{BB962C8B-B14F-4D97-AF65-F5344CB8AC3E}">
        <p14:creationId xmlns:p14="http://schemas.microsoft.com/office/powerpoint/2010/main" val="1038581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D467D-7D54-4048-8231-BDF880D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CAREEROS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1922E-E3BD-4A4C-9776-586C5034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561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1194A"/>
                </a:solidFill>
              </a:defRPr>
            </a:pPr>
            <a:r>
              <a:rPr sz="4125" b="1">
                <a:solidFill>
                  <a:srgbClr val="11194A"/>
                </a:solidFill>
              </a:rPr>
              <a:t>Remember the signal.</a:t>
            </a:r>
          </a:p>
          <a:p xmlns:a="http://schemas.openxmlformats.org/drawingml/2006/main">
            <a:pPr algn="l">
              <a:defRPr sz="4125" b="1">
                <a:solidFill>
                  <a:srgbClr val="11194A"/>
                </a:solidFill>
              </a:defRPr>
            </a:pPr>
            <a:r>
              <a:rPr sz="4125" b="1">
                <a:solidFill>
                  <a:srgbClr val="11194A"/>
                </a:solidFill>
              </a:rPr>
              <a:t>Prove it.</a:t>
            </a:r>
          </a:p>
          <a:p xmlns:a="http://schemas.openxmlformats.org/drawingml/2006/main">
            <a:pPr algn="l">
              <a:defRPr sz="4125" b="1">
                <a:solidFill>
                  <a:srgbClr val="11194A"/>
                </a:solidFill>
              </a:defRPr>
            </a:pPr>
            <a:r>
              <a:rPr sz="4125" b="1">
                <a:solidFill>
                  <a:srgbClr val="11194A"/>
                </a:solidFill>
              </a:rPr>
              <a:t>Act earlier.</a:t>
            </a:r>
          </a:p>
          <a:p xmlns:a="http://schemas.openxmlformats.org/drawingml/2006/main">
            <a:pPr algn="l">
              <a:defRPr sz="4125" b="1">
                <a:solidFill>
                  <a:srgbClr val="11194A"/>
                </a:solidFill>
              </a:defRPr>
            </a:pPr>
            <a:r>
              <a:rPr sz="4125" b="1">
                <a:solidFill>
                  <a:srgbClr val="11194A"/>
                </a:solidFill>
              </a:rPr>
              <a:t>Learn.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EEC68-6082-4540-8A83-24034D25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43000"/>
            <a:ext cx="44767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7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D3D76-591B-467B-8032-3C77D879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STUDENTS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97FE4-85F7-4CBC-9469-4F11816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Preserve evidence and choose clearer next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C5939-FA15-4658-88D5-B663CA9A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EMPLOYERS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5441D-88D7-4446-B56A-B6477A9A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Retain context and make explainable talent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FF9E6-D869-4384-87CB-B3D05D3F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71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UNIVERSITIES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7395E-5C92-4B86-898A-34DEF546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Act on gaps while there is still time to change the outcome.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00E69-5186-49C8-848A-D03D138C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The evidence memory and action layer between education and employment.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0AAC1-90E0-424A-AB3F-4FF04E3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B3AF0-2F39-4361-B8D7-6F1260FC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0275"/>
            <a:ext cx="2105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</a:defRPr>
            </a:pPr>
            <a:r>
              <a:rPr sz="825" b="1">
                <a:solidFill>
                  <a:srgbClr val="0F766E"/>
                </a:solidFill>
              </a:rPr>
              <a:t>Demonstrated prototype • shared network to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4F0E8-780B-4BBA-90ED-F997D41F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19850"/>
            <a:ext cx="2619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29B"/>
                </a:solidFill>
              </a:defRPr>
            </a:pPr>
            <a:r>
              <a:rPr sz="900" b="0">
                <a:solidFill>
                  <a:srgbClr val="74829B"/>
                </a:solidFill>
              </a:rPr>
              <a:t>Talentbank AI Hackathon • 2026</a:t>
            </a:r>
          </a:p>
        </p:txBody>
      </p:sp>
    </p:spTree>
    <p:extLst>
      <p:ext uri="{BB962C8B-B14F-4D97-AF65-F5344CB8AC3E}">
        <p14:creationId xmlns:p14="http://schemas.microsoft.com/office/powerpoint/2010/main" val="2102630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2026-07-23T14:20:11.4920000Z</dcterms:created>
  <dcterms:modified xsi:type="dcterms:W3CDTF">2026-07-23T14:20:11.4920000Z</dcterms:modified>
</coreProperties>
</file>