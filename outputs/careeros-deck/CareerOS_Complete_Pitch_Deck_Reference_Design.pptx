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FF"/>
    <a:srgbClr val="296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29CAE-9308-471C-815E-0971274E05FF}" v="25" dt="2026-07-25T07:21:21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e Kinston" userId="798c8083d06f756a" providerId="LiveId" clId="{7799FF23-122D-44A2-854E-93135B59E75E}"/>
    <pc:docChg chg="undo custSel addSld modSld">
      <pc:chgData name="Chee Kinston" userId="798c8083d06f756a" providerId="LiveId" clId="{7799FF23-122D-44A2-854E-93135B59E75E}" dt="2026-07-25T07:22:13.740" v="252" actId="1076"/>
      <pc:docMkLst>
        <pc:docMk/>
      </pc:docMkLst>
      <pc:sldChg chg="addSp delSp modSp mod">
        <pc:chgData name="Chee Kinston" userId="798c8083d06f756a" providerId="LiveId" clId="{7799FF23-122D-44A2-854E-93135B59E75E}" dt="2026-07-25T06:57:00.281" v="13" actId="1076"/>
        <pc:sldMkLst>
          <pc:docMk/>
          <pc:sldMk cId="1761346465" sldId="257"/>
        </pc:sldMkLst>
        <pc:spChg chg="add del">
          <ac:chgData name="Chee Kinston" userId="798c8083d06f756a" providerId="LiveId" clId="{7799FF23-122D-44A2-854E-93135B59E75E}" dt="2026-07-25T06:51:50.596" v="1" actId="22"/>
          <ac:spMkLst>
            <pc:docMk/>
            <pc:sldMk cId="1761346465" sldId="257"/>
            <ac:spMk id="29" creationId="{EC38A493-2A27-3E13-03AF-602126491469}"/>
          </ac:spMkLst>
        </pc:spChg>
        <pc:picChg chg="add mod modCrop">
          <ac:chgData name="Chee Kinston" userId="798c8083d06f756a" providerId="LiveId" clId="{7799FF23-122D-44A2-854E-93135B59E75E}" dt="2026-07-25T06:57:00.281" v="13" actId="1076"/>
          <ac:picMkLst>
            <pc:docMk/>
            <pc:sldMk cId="1761346465" sldId="257"/>
            <ac:picMk id="31" creationId="{9653A368-B60D-4E1C-49B2-A12896719B39}"/>
          </ac:picMkLst>
        </pc:picChg>
      </pc:sldChg>
      <pc:sldChg chg="addSp delSp modSp add mod setBg">
        <pc:chgData name="Chee Kinston" userId="798c8083d06f756a" providerId="LiveId" clId="{7799FF23-122D-44A2-854E-93135B59E75E}" dt="2026-07-25T07:22:13.740" v="252" actId="1076"/>
        <pc:sldMkLst>
          <pc:docMk/>
          <pc:sldMk cId="98117609" sldId="280"/>
        </pc:sldMkLst>
        <pc:spChg chg="add mod">
          <ac:chgData name="Chee Kinston" userId="798c8083d06f756a" providerId="LiveId" clId="{7799FF23-122D-44A2-854E-93135B59E75E}" dt="2026-07-25T07:21:33.536" v="247" actId="1076"/>
          <ac:spMkLst>
            <pc:docMk/>
            <pc:sldMk cId="98117609" sldId="280"/>
            <ac:spMk id="4" creationId="{B06254B1-33DA-DC11-8AF0-823D85C7548F}"/>
          </ac:spMkLst>
        </pc:spChg>
        <pc:spChg chg="del mod">
          <ac:chgData name="Chee Kinston" userId="798c8083d06f756a" providerId="LiveId" clId="{7799FF23-122D-44A2-854E-93135B59E75E}" dt="2026-07-25T06:58:25.186" v="30" actId="478"/>
          <ac:spMkLst>
            <pc:docMk/>
            <pc:sldMk cId="98117609" sldId="280"/>
            <ac:spMk id="4" creationId="{D1087A41-4E0F-F1C9-BAD8-4D5BE1B98AEF}"/>
          </ac:spMkLst>
        </pc:spChg>
        <pc:spChg chg="del mod">
          <ac:chgData name="Chee Kinston" userId="798c8083d06f756a" providerId="LiveId" clId="{7799FF23-122D-44A2-854E-93135B59E75E}" dt="2026-07-25T06:57:25.815" v="20" actId="478"/>
          <ac:spMkLst>
            <pc:docMk/>
            <pc:sldMk cId="98117609" sldId="280"/>
            <ac:spMk id="5" creationId="{53E53291-5684-7DF0-36FE-A9719FCF92F9}"/>
          </ac:spMkLst>
        </pc:spChg>
        <pc:spChg chg="add mod">
          <ac:chgData name="Chee Kinston" userId="798c8083d06f756a" providerId="LiveId" clId="{7799FF23-122D-44A2-854E-93135B59E75E}" dt="2026-07-25T07:21:37.859" v="248" actId="1076"/>
          <ac:spMkLst>
            <pc:docMk/>
            <pc:sldMk cId="98117609" sldId="280"/>
            <ac:spMk id="5" creationId="{829FA922-FBF2-E3B8-3AAB-F7B310D35A34}"/>
          </ac:spMkLst>
        </pc:spChg>
        <pc:spChg chg="add mod">
          <ac:chgData name="Chee Kinston" userId="798c8083d06f756a" providerId="LiveId" clId="{7799FF23-122D-44A2-854E-93135B59E75E}" dt="2026-07-25T07:21:46.164" v="251" actId="1076"/>
          <ac:spMkLst>
            <pc:docMk/>
            <pc:sldMk cId="98117609" sldId="280"/>
            <ac:spMk id="6" creationId="{864DC05C-102A-4728-BCA2-582E0DB806F8}"/>
          </ac:spMkLst>
        </pc:spChg>
        <pc:spChg chg="del mod">
          <ac:chgData name="Chee Kinston" userId="798c8083d06f756a" providerId="LiveId" clId="{7799FF23-122D-44A2-854E-93135B59E75E}" dt="2026-07-25T06:57:37.754" v="23" actId="478"/>
          <ac:spMkLst>
            <pc:docMk/>
            <pc:sldMk cId="98117609" sldId="280"/>
            <ac:spMk id="6" creationId="{BF4F506F-04A7-2F7E-F070-FAADA3CDF48A}"/>
          </ac:spMkLst>
        </pc:spChg>
        <pc:spChg chg="mod">
          <ac:chgData name="Chee Kinston" userId="798c8083d06f756a" providerId="LiveId" clId="{7799FF23-122D-44A2-854E-93135B59E75E}" dt="2026-07-25T07:14:43.466" v="152" actId="1076"/>
          <ac:spMkLst>
            <pc:docMk/>
            <pc:sldMk cId="98117609" sldId="280"/>
            <ac:spMk id="7" creationId="{5C6DD62F-530C-D64B-C7D0-E6B33EDDAB75}"/>
          </ac:spMkLst>
        </pc:spChg>
        <pc:spChg chg="mod">
          <ac:chgData name="Chee Kinston" userId="798c8083d06f756a" providerId="LiveId" clId="{7799FF23-122D-44A2-854E-93135B59E75E}" dt="2026-07-25T07:00:48.948" v="60" actId="1076"/>
          <ac:spMkLst>
            <pc:docMk/>
            <pc:sldMk cId="98117609" sldId="280"/>
            <ac:spMk id="8" creationId="{F227BE6E-6B7A-AC81-29BB-54E37759F85F}"/>
          </ac:spMkLst>
        </pc:spChg>
        <pc:spChg chg="mod">
          <ac:chgData name="Chee Kinston" userId="798c8083d06f756a" providerId="LiveId" clId="{7799FF23-122D-44A2-854E-93135B59E75E}" dt="2026-07-25T07:14:10.727" v="143" actId="207"/>
          <ac:spMkLst>
            <pc:docMk/>
            <pc:sldMk cId="98117609" sldId="280"/>
            <ac:spMk id="9" creationId="{797D2E92-738C-925E-9861-B8AAFBEF3B55}"/>
          </ac:spMkLst>
        </pc:spChg>
        <pc:spChg chg="mod">
          <ac:chgData name="Chee Kinston" userId="798c8083d06f756a" providerId="LiveId" clId="{7799FF23-122D-44A2-854E-93135B59E75E}" dt="2026-07-25T07:14:31.302" v="149" actId="20577"/>
          <ac:spMkLst>
            <pc:docMk/>
            <pc:sldMk cId="98117609" sldId="280"/>
            <ac:spMk id="10" creationId="{0A151D6D-FC99-E67F-71D0-B8886E62866D}"/>
          </ac:spMkLst>
        </pc:spChg>
        <pc:spChg chg="del mod">
          <ac:chgData name="Chee Kinston" userId="798c8083d06f756a" providerId="LiveId" clId="{7799FF23-122D-44A2-854E-93135B59E75E}" dt="2026-07-25T07:03:22.508" v="97" actId="478"/>
          <ac:spMkLst>
            <pc:docMk/>
            <pc:sldMk cId="98117609" sldId="280"/>
            <ac:spMk id="11" creationId="{A067ED3E-5227-9FEE-1E72-AFDF8CAB8C5F}"/>
          </ac:spMkLst>
        </pc:spChg>
        <pc:spChg chg="add mod">
          <ac:chgData name="Chee Kinston" userId="798c8083d06f756a" providerId="LiveId" clId="{7799FF23-122D-44A2-854E-93135B59E75E}" dt="2026-07-25T07:18:34.829" v="209" actId="14100"/>
          <ac:spMkLst>
            <pc:docMk/>
            <pc:sldMk cId="98117609" sldId="280"/>
            <ac:spMk id="11" creationId="{FF22A68A-E259-189C-2A86-2BF1141B7ACD}"/>
          </ac:spMkLst>
        </pc:spChg>
        <pc:spChg chg="mod">
          <ac:chgData name="Chee Kinston" userId="798c8083d06f756a" providerId="LiveId" clId="{7799FF23-122D-44A2-854E-93135B59E75E}" dt="2026-07-25T07:15:18.183" v="165" actId="1076"/>
          <ac:spMkLst>
            <pc:docMk/>
            <pc:sldMk cId="98117609" sldId="280"/>
            <ac:spMk id="12" creationId="{F3F27A58-AE99-0B57-9B6F-E05344988934}"/>
          </ac:spMkLst>
        </pc:spChg>
        <pc:spChg chg="mod">
          <ac:chgData name="Chee Kinston" userId="798c8083d06f756a" providerId="LiveId" clId="{7799FF23-122D-44A2-854E-93135B59E75E}" dt="2026-07-25T07:01:11.444" v="66" actId="207"/>
          <ac:spMkLst>
            <pc:docMk/>
            <pc:sldMk cId="98117609" sldId="280"/>
            <ac:spMk id="13" creationId="{C92CFC5D-2EB9-80AD-C9BA-620B5BFDE936}"/>
          </ac:spMkLst>
        </pc:spChg>
        <pc:spChg chg="mod">
          <ac:chgData name="Chee Kinston" userId="798c8083d06f756a" providerId="LiveId" clId="{7799FF23-122D-44A2-854E-93135B59E75E}" dt="2026-07-25T07:14:57.319" v="157" actId="207"/>
          <ac:spMkLst>
            <pc:docMk/>
            <pc:sldMk cId="98117609" sldId="280"/>
            <ac:spMk id="14" creationId="{218D493E-7141-7C5B-54C8-002E0AEDD62B}"/>
          </ac:spMkLst>
        </pc:spChg>
        <pc:spChg chg="mod">
          <ac:chgData name="Chee Kinston" userId="798c8083d06f756a" providerId="LiveId" clId="{7799FF23-122D-44A2-854E-93135B59E75E}" dt="2026-07-25T07:15:15.211" v="162" actId="1076"/>
          <ac:spMkLst>
            <pc:docMk/>
            <pc:sldMk cId="98117609" sldId="280"/>
            <ac:spMk id="15" creationId="{02A591BE-B780-FF35-A41D-699242AB40C9}"/>
          </ac:spMkLst>
        </pc:spChg>
        <pc:spChg chg="del">
          <ac:chgData name="Chee Kinston" userId="798c8083d06f756a" providerId="LiveId" clId="{7799FF23-122D-44A2-854E-93135B59E75E}" dt="2026-07-25T07:03:26.519" v="99" actId="478"/>
          <ac:spMkLst>
            <pc:docMk/>
            <pc:sldMk cId="98117609" sldId="280"/>
            <ac:spMk id="16" creationId="{0A786310-AD9A-5F30-552A-290DDFC91319}"/>
          </ac:spMkLst>
        </pc:spChg>
        <pc:spChg chg="add mod ord">
          <ac:chgData name="Chee Kinston" userId="798c8083d06f756a" providerId="LiveId" clId="{7799FF23-122D-44A2-854E-93135B59E75E}" dt="2026-07-25T07:18:30.357" v="208" actId="14100"/>
          <ac:spMkLst>
            <pc:docMk/>
            <pc:sldMk cId="98117609" sldId="280"/>
            <ac:spMk id="16" creationId="{0F3E71E2-B93B-C021-CAD3-07E062117791}"/>
          </ac:spMkLst>
        </pc:spChg>
        <pc:spChg chg="mod">
          <ac:chgData name="Chee Kinston" userId="798c8083d06f756a" providerId="LiveId" clId="{7799FF23-122D-44A2-854E-93135B59E75E}" dt="2026-07-25T07:21:40.907" v="250" actId="1076"/>
          <ac:spMkLst>
            <pc:docMk/>
            <pc:sldMk cId="98117609" sldId="280"/>
            <ac:spMk id="17" creationId="{689B08B1-32A5-806F-4DF0-8861998A22BA}"/>
          </ac:spMkLst>
        </pc:spChg>
        <pc:spChg chg="mod">
          <ac:chgData name="Chee Kinston" userId="798c8083d06f756a" providerId="LiveId" clId="{7799FF23-122D-44A2-854E-93135B59E75E}" dt="2026-07-25T07:01:23.496" v="68" actId="207"/>
          <ac:spMkLst>
            <pc:docMk/>
            <pc:sldMk cId="98117609" sldId="280"/>
            <ac:spMk id="18" creationId="{F683109A-AE12-6E7B-56D2-AAC23C5D5CA2}"/>
          </ac:spMkLst>
        </pc:spChg>
        <pc:spChg chg="mod">
          <ac:chgData name="Chee Kinston" userId="798c8083d06f756a" providerId="LiveId" clId="{7799FF23-122D-44A2-854E-93135B59E75E}" dt="2026-07-25T07:15:46.245" v="170" actId="207"/>
          <ac:spMkLst>
            <pc:docMk/>
            <pc:sldMk cId="98117609" sldId="280"/>
            <ac:spMk id="19" creationId="{DBE75A62-1F9A-7623-8738-94FDB1C04469}"/>
          </ac:spMkLst>
        </pc:spChg>
        <pc:spChg chg="mod">
          <ac:chgData name="Chee Kinston" userId="798c8083d06f756a" providerId="LiveId" clId="{7799FF23-122D-44A2-854E-93135B59E75E}" dt="2026-07-25T07:15:52.252" v="171"/>
          <ac:spMkLst>
            <pc:docMk/>
            <pc:sldMk cId="98117609" sldId="280"/>
            <ac:spMk id="20" creationId="{62CC1D34-D0BE-542F-CCA5-3736D62D46B0}"/>
          </ac:spMkLst>
        </pc:spChg>
        <pc:spChg chg="del">
          <ac:chgData name="Chee Kinston" userId="798c8083d06f756a" providerId="LiveId" clId="{7799FF23-122D-44A2-854E-93135B59E75E}" dt="2026-07-25T07:03:27.714" v="100" actId="478"/>
          <ac:spMkLst>
            <pc:docMk/>
            <pc:sldMk cId="98117609" sldId="280"/>
            <ac:spMk id="21" creationId="{189CC264-1E44-B09D-C3EC-CD6955371FEA}"/>
          </ac:spMkLst>
        </pc:spChg>
        <pc:spChg chg="add del mod ord">
          <ac:chgData name="Chee Kinston" userId="798c8083d06f756a" providerId="LiveId" clId="{7799FF23-122D-44A2-854E-93135B59E75E}" dt="2026-07-25T07:18:14.497" v="205" actId="478"/>
          <ac:spMkLst>
            <pc:docMk/>
            <pc:sldMk cId="98117609" sldId="280"/>
            <ac:spMk id="21" creationId="{45F8426D-BA35-6548-ADB9-E64814D1C6D3}"/>
          </ac:spMkLst>
        </pc:spChg>
        <pc:spChg chg="del mod">
          <ac:chgData name="Chee Kinston" userId="798c8083d06f756a" providerId="LiveId" clId="{7799FF23-122D-44A2-854E-93135B59E75E}" dt="2026-07-25T06:58:13.179" v="28" actId="478"/>
          <ac:spMkLst>
            <pc:docMk/>
            <pc:sldMk cId="98117609" sldId="280"/>
            <ac:spMk id="22" creationId="{59EC9106-DF8C-F1DC-7D69-377BF647470A}"/>
          </ac:spMkLst>
        </pc:spChg>
        <pc:spChg chg="add mod">
          <ac:chgData name="Chee Kinston" userId="798c8083d06f756a" providerId="LiveId" clId="{7799FF23-122D-44A2-854E-93135B59E75E}" dt="2026-07-25T07:19:07.329" v="214" actId="1038"/>
          <ac:spMkLst>
            <pc:docMk/>
            <pc:sldMk cId="98117609" sldId="280"/>
            <ac:spMk id="22" creationId="{CE069B60-C7B6-2F75-01EC-D404060942C1}"/>
          </ac:spMkLst>
        </pc:spChg>
        <pc:spChg chg="add mod">
          <ac:chgData name="Chee Kinston" userId="798c8083d06f756a" providerId="LiveId" clId="{7799FF23-122D-44A2-854E-93135B59E75E}" dt="2026-07-25T07:19:07.329" v="214" actId="1038"/>
          <ac:spMkLst>
            <pc:docMk/>
            <pc:sldMk cId="98117609" sldId="280"/>
            <ac:spMk id="23" creationId="{01E92922-5819-0D5F-0D94-9F9781F9E743}"/>
          </ac:spMkLst>
        </pc:spChg>
        <pc:spChg chg="del">
          <ac:chgData name="Chee Kinston" userId="798c8083d06f756a" providerId="LiveId" clId="{7799FF23-122D-44A2-854E-93135B59E75E}" dt="2026-07-25T07:05:21.743" v="128" actId="478"/>
          <ac:spMkLst>
            <pc:docMk/>
            <pc:sldMk cId="98117609" sldId="280"/>
            <ac:spMk id="23" creationId="{D14DCA17-C5E2-E437-3EF0-4062B39D4853}"/>
          </ac:spMkLst>
        </pc:spChg>
        <pc:spChg chg="add mod">
          <ac:chgData name="Chee Kinston" userId="798c8083d06f756a" providerId="LiveId" clId="{7799FF23-122D-44A2-854E-93135B59E75E}" dt="2026-07-25T07:19:05.091" v="213"/>
          <ac:spMkLst>
            <pc:docMk/>
            <pc:sldMk cId="98117609" sldId="280"/>
            <ac:spMk id="24" creationId="{81A1584C-C03E-72CC-868A-AC9B4B9AA707}"/>
          </ac:spMkLst>
        </pc:spChg>
        <pc:spChg chg="del">
          <ac:chgData name="Chee Kinston" userId="798c8083d06f756a" providerId="LiveId" clId="{7799FF23-122D-44A2-854E-93135B59E75E}" dt="2026-07-25T07:05:18.631" v="127" actId="478"/>
          <ac:spMkLst>
            <pc:docMk/>
            <pc:sldMk cId="98117609" sldId="280"/>
            <ac:spMk id="24" creationId="{CB978375-264A-3260-CD01-C4F4F4B07026}"/>
          </ac:spMkLst>
        </pc:spChg>
        <pc:spChg chg="del">
          <ac:chgData name="Chee Kinston" userId="798c8083d06f756a" providerId="LiveId" clId="{7799FF23-122D-44A2-854E-93135B59E75E}" dt="2026-07-25T07:05:18.631" v="127" actId="478"/>
          <ac:spMkLst>
            <pc:docMk/>
            <pc:sldMk cId="98117609" sldId="280"/>
            <ac:spMk id="25" creationId="{30DD58F5-DF6E-2893-9053-DBAFA4C712A7}"/>
          </ac:spMkLst>
        </pc:spChg>
        <pc:spChg chg="add mod">
          <ac:chgData name="Chee Kinston" userId="798c8083d06f756a" providerId="LiveId" clId="{7799FF23-122D-44A2-854E-93135B59E75E}" dt="2026-07-25T07:19:05.091" v="213"/>
          <ac:spMkLst>
            <pc:docMk/>
            <pc:sldMk cId="98117609" sldId="280"/>
            <ac:spMk id="25" creationId="{36F685B6-8EDB-3583-69F1-851076397975}"/>
          </ac:spMkLst>
        </pc:spChg>
        <pc:spChg chg="add mod">
          <ac:chgData name="Chee Kinston" userId="798c8083d06f756a" providerId="LiveId" clId="{7799FF23-122D-44A2-854E-93135B59E75E}" dt="2026-07-25T07:19:58.301" v="221" actId="1038"/>
          <ac:spMkLst>
            <pc:docMk/>
            <pc:sldMk cId="98117609" sldId="280"/>
            <ac:spMk id="26" creationId="{345E0F2C-B154-0C02-0933-011C66D2417D}"/>
          </ac:spMkLst>
        </pc:spChg>
        <pc:spChg chg="del">
          <ac:chgData name="Chee Kinston" userId="798c8083d06f756a" providerId="LiveId" clId="{7799FF23-122D-44A2-854E-93135B59E75E}" dt="2026-07-25T07:05:18.631" v="127" actId="478"/>
          <ac:spMkLst>
            <pc:docMk/>
            <pc:sldMk cId="98117609" sldId="280"/>
            <ac:spMk id="26" creationId="{A2E80AD1-0F52-CAAE-BDA6-689CBD3D6361}"/>
          </ac:spMkLst>
        </pc:spChg>
        <pc:spChg chg="del">
          <ac:chgData name="Chee Kinston" userId="798c8083d06f756a" providerId="LiveId" clId="{7799FF23-122D-44A2-854E-93135B59E75E}" dt="2026-07-25T06:57:21.920" v="18" actId="478"/>
          <ac:spMkLst>
            <pc:docMk/>
            <pc:sldMk cId="98117609" sldId="280"/>
            <ac:spMk id="27" creationId="{36736435-1241-7BE3-57D4-0397686EB8F1}"/>
          </ac:spMkLst>
        </pc:spChg>
        <pc:spChg chg="add mod">
          <ac:chgData name="Chee Kinston" userId="798c8083d06f756a" providerId="LiveId" clId="{7799FF23-122D-44A2-854E-93135B59E75E}" dt="2026-07-25T07:20:06.393" v="222" actId="1038"/>
          <ac:spMkLst>
            <pc:docMk/>
            <pc:sldMk cId="98117609" sldId="280"/>
            <ac:spMk id="27" creationId="{F9EF2051-F6CF-8B12-0D6C-B2D024541DB6}"/>
          </ac:spMkLst>
        </pc:spChg>
        <pc:spChg chg="add mod ord">
          <ac:chgData name="Chee Kinston" userId="798c8083d06f756a" providerId="LiveId" clId="{7799FF23-122D-44A2-854E-93135B59E75E}" dt="2026-07-25T07:00:08.266" v="52" actId="14100"/>
          <ac:spMkLst>
            <pc:docMk/>
            <pc:sldMk cId="98117609" sldId="280"/>
            <ac:spMk id="28" creationId="{F6754C12-528F-5F47-68FB-8A38276FBDE9}"/>
          </ac:spMkLst>
        </pc:spChg>
        <pc:spChg chg="add del mod">
          <ac:chgData name="Chee Kinston" userId="798c8083d06f756a" providerId="LiveId" clId="{7799FF23-122D-44A2-854E-93135B59E75E}" dt="2026-07-25T06:58:41.559" v="36" actId="478"/>
          <ac:spMkLst>
            <pc:docMk/>
            <pc:sldMk cId="98117609" sldId="280"/>
            <ac:spMk id="29" creationId="{9EDB5CF4-1649-347E-FF3D-2D3EDAC01D61}"/>
          </ac:spMkLst>
        </pc:spChg>
        <pc:spChg chg="add mod ord">
          <ac:chgData name="Chee Kinston" userId="798c8083d06f756a" providerId="LiveId" clId="{7799FF23-122D-44A2-854E-93135B59E75E}" dt="2026-07-25T07:00:05.930" v="51" actId="14100"/>
          <ac:spMkLst>
            <pc:docMk/>
            <pc:sldMk cId="98117609" sldId="280"/>
            <ac:spMk id="30" creationId="{1EB5B219-5C1C-52AD-BCEF-CF882EDF9373}"/>
          </ac:spMkLst>
        </pc:spChg>
        <pc:spChg chg="add mod ord">
          <ac:chgData name="Chee Kinston" userId="798c8083d06f756a" providerId="LiveId" clId="{7799FF23-122D-44A2-854E-93135B59E75E}" dt="2026-07-25T07:00:10.933" v="53" actId="14100"/>
          <ac:spMkLst>
            <pc:docMk/>
            <pc:sldMk cId="98117609" sldId="280"/>
            <ac:spMk id="32" creationId="{6CC43B1F-8218-80BA-7F01-430EC4E35010}"/>
          </ac:spMkLst>
        </pc:spChg>
        <pc:spChg chg="add mod ord">
          <ac:chgData name="Chee Kinston" userId="798c8083d06f756a" providerId="LiveId" clId="{7799FF23-122D-44A2-854E-93135B59E75E}" dt="2026-07-25T07:04:06.824" v="109" actId="2085"/>
          <ac:spMkLst>
            <pc:docMk/>
            <pc:sldMk cId="98117609" sldId="280"/>
            <ac:spMk id="33" creationId="{8A24A734-8050-593C-1AC5-1756A1151572}"/>
          </ac:spMkLst>
        </pc:spChg>
        <pc:picChg chg="mod">
          <ac:chgData name="Chee Kinston" userId="798c8083d06f756a" providerId="LiveId" clId="{7799FF23-122D-44A2-854E-93135B59E75E}" dt="2026-07-25T07:22:13.740" v="252" actId="1076"/>
          <ac:picMkLst>
            <pc:docMk/>
            <pc:sldMk cId="98117609" sldId="280"/>
            <ac:picMk id="31" creationId="{D3207E2D-CFAE-A577-B34A-A2591B88EE98}"/>
          </ac:picMkLst>
        </pc:picChg>
        <pc:cxnChg chg="add mod">
          <ac:chgData name="Chee Kinston" userId="798c8083d06f756a" providerId="LiveId" clId="{7799FF23-122D-44A2-854E-93135B59E75E}" dt="2026-07-25T07:21:11.512" v="242" actId="1036"/>
          <ac:cxnSpMkLst>
            <pc:docMk/>
            <pc:sldMk cId="98117609" sldId="280"/>
            <ac:cxnSpMk id="34" creationId="{36406F6D-E3FD-3B21-87DC-6FC5236AC351}"/>
          </ac:cxnSpMkLst>
        </pc:cxnChg>
        <pc:cxnChg chg="add mod">
          <ac:chgData name="Chee Kinston" userId="798c8083d06f756a" providerId="LiveId" clId="{7799FF23-122D-44A2-854E-93135B59E75E}" dt="2026-07-25T07:21:20.383" v="244" actId="1076"/>
          <ac:cxnSpMkLst>
            <pc:docMk/>
            <pc:sldMk cId="98117609" sldId="280"/>
            <ac:cxnSpMk id="36" creationId="{578FEFE2-89AA-1D01-FC4F-617A2F1C98B4}"/>
          </ac:cxnSpMkLst>
        </pc:cxnChg>
        <pc:cxnChg chg="add mod">
          <ac:chgData name="Chee Kinston" userId="798c8083d06f756a" providerId="LiveId" clId="{7799FF23-122D-44A2-854E-93135B59E75E}" dt="2026-07-25T07:21:27.679" v="246" actId="1076"/>
          <ac:cxnSpMkLst>
            <pc:docMk/>
            <pc:sldMk cId="98117609" sldId="280"/>
            <ac:cxnSpMk id="37" creationId="{1120DCD7-847D-E946-1592-182CA421AE4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37D0-A71E-58EC-AA5A-49B5AE95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34DF2-FCF3-1E42-1F70-EDD6BE789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60451-4370-3D2E-24B0-0F2BE6022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92F7E-03D6-1479-70E9-F341B24FC1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169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31C9BB5-C87D-4B5F-91D3-679B1BC13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4451B4-3953-4066-A6A4-B07D2BC65A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46B5B-9F4C-475D-82BD-F4215C3AB0DF}"/>
              </a:ext>
            </a:extLst>
          </p:cNvPr>
          <p:cNvSpPr>
            <a:spLocks noGrp="1"/>
          </p:cNvSpPr>
          <p:nvPr/>
        </p:nvSpPr>
        <p:spPr>
          <a:xfrm>
            <a:off x="0" y="4629150"/>
            <a:ext cx="12192000" cy="22288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982B69-553C-41B0-B55B-1BDBDFE5C098}"/>
              </a:ext>
            </a:extLst>
          </p:cNvPr>
          <p:cNvSpPr>
            <a:spLocks noGrp="1"/>
          </p:cNvSpPr>
          <p:nvPr/>
        </p:nvSpPr>
        <p:spPr>
          <a:xfrm>
            <a:off x="7848600" y="133350"/>
            <a:ext cx="4343400" cy="4495800"/>
          </a:xfrm>
          <a:prstGeom prst="rect">
            <a:avLst/>
          </a:prstGeom>
          <a:solidFill>
            <a:srgbClr val="DCEBFA"/>
          </a:solidFill>
          <a:ln w="9525">
            <a:solidFill>
              <a:srgbClr val="DCE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F397CE-94AE-4E94-AD9D-BA5A7DC8CCD2}"/>
              </a:ext>
            </a:extLst>
          </p:cNvPr>
          <p:cNvSpPr>
            <a:spLocks noGrp="1"/>
          </p:cNvSpPr>
          <p:nvPr/>
        </p:nvSpPr>
        <p:spPr>
          <a:xfrm>
            <a:off x="10382250" y="133350"/>
            <a:ext cx="1809750" cy="4495800"/>
          </a:xfrm>
          <a:prstGeom prst="rect">
            <a:avLst/>
          </a:prstGeom>
          <a:solidFill>
            <a:srgbClr val="236DB5"/>
          </a:solidFill>
          <a:ln w="9525">
            <a:solidFill>
              <a:srgbClr val="236DB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6227-B03E-4202-887A-2D4A7D944392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5AA8"/>
                </a:solidFill>
              </a:defRPr>
            </a:pPr>
            <a:r>
              <a:rPr sz="1050" b="1">
                <a:solidFill>
                  <a:srgbClr val="175AA8"/>
                </a:solidFill>
              </a:rPr>
              <a:t>CAREEROS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D22B19-D473-4225-AF21-6E7A5CDDF60A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68580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102A43"/>
                </a:solidFill>
              </a:defRPr>
            </a:pPr>
            <a:r>
              <a:rPr sz="3900" b="1" dirty="0">
                <a:solidFill>
                  <a:srgbClr val="102A43"/>
                </a:solidFill>
              </a:rPr>
              <a:t>Career potential is lost when evidence and action arrive too late.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ADAFD3-465F-46F5-A08E-A61ABEFB3B14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638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0566F"/>
                </a:solidFill>
              </a:defRPr>
            </a:pPr>
            <a:r>
              <a:rPr sz="1725" b="0" dirty="0" err="1">
                <a:solidFill>
                  <a:srgbClr val="40566F"/>
                </a:solidFill>
              </a:rPr>
              <a:t>CareerOS</a:t>
            </a:r>
            <a:r>
              <a:rPr sz="1725" b="0" dirty="0">
                <a:solidFill>
                  <a:srgbClr val="40566F"/>
                </a:solidFill>
              </a:rPr>
              <a:t> connects student evidence, employer demand, and university action so gaps can be addressed earlier.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EB7AFD-CBC3-436A-9C3A-DC1570B49604}"/>
              </a:ext>
            </a:extLst>
          </p:cNvPr>
          <p:cNvSpPr>
            <a:spLocks noGrp="1"/>
          </p:cNvSpPr>
          <p:nvPr/>
        </p:nvSpPr>
        <p:spPr>
          <a:xfrm>
            <a:off x="8143875" y="1019175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48D7E-00A6-473D-8680-560A2BA7C548}"/>
              </a:ext>
            </a:extLst>
          </p:cNvPr>
          <p:cNvSpPr>
            <a:spLocks noGrp="1"/>
          </p:cNvSpPr>
          <p:nvPr/>
        </p:nvSpPr>
        <p:spPr>
          <a:xfrm>
            <a:off x="8382000" y="1219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5AA8"/>
                </a:solidFill>
              </a:defRPr>
            </a:pPr>
            <a:r>
              <a:rPr sz="1275" b="1">
                <a:solidFill>
                  <a:srgbClr val="175AA8"/>
                </a:solidFill>
              </a:rPr>
              <a:t>STUDENT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A64A7A-7FAD-4E1C-B704-445CF1860238}"/>
              </a:ext>
            </a:extLst>
          </p:cNvPr>
          <p:cNvSpPr>
            <a:spLocks noGrp="1"/>
          </p:cNvSpPr>
          <p:nvPr/>
        </p:nvSpPr>
        <p:spPr>
          <a:xfrm>
            <a:off x="8143875" y="1971675"/>
            <a:ext cx="2857500" cy="5905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87562-98A7-4D12-B472-F4137C9CE682}"/>
              </a:ext>
            </a:extLst>
          </p:cNvPr>
          <p:cNvSpPr>
            <a:spLocks noGrp="1"/>
          </p:cNvSpPr>
          <p:nvPr/>
        </p:nvSpPr>
        <p:spPr>
          <a:xfrm>
            <a:off x="8382000" y="2171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EMPLOYER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3B1BDB-056D-4504-ABC6-B53C54B29CC1}"/>
              </a:ext>
            </a:extLst>
          </p:cNvPr>
          <p:cNvSpPr>
            <a:spLocks noGrp="1"/>
          </p:cNvSpPr>
          <p:nvPr/>
        </p:nvSpPr>
        <p:spPr>
          <a:xfrm>
            <a:off x="8143875" y="2924175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E589B-C415-4936-B6B2-AB3089FE5A89}"/>
              </a:ext>
            </a:extLst>
          </p:cNvPr>
          <p:cNvSpPr>
            <a:spLocks noGrp="1"/>
          </p:cNvSpPr>
          <p:nvPr/>
        </p:nvSpPr>
        <p:spPr>
          <a:xfrm>
            <a:off x="8382000" y="3124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5AA8"/>
                </a:solidFill>
              </a:defRPr>
            </a:pPr>
            <a:r>
              <a:rPr sz="1275" b="1">
                <a:solidFill>
                  <a:srgbClr val="175AA8"/>
                </a:solidFill>
              </a:rPr>
              <a:t>UNIVERSITY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6D1490-66A3-448A-AEF7-D4E30E453476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695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Signal → Evidence → Decision → Action → Learning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B1060F-D88A-4AED-91FA-8AEFE667B37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FE7FF"/>
                </a:solidFill>
              </a:defRPr>
            </a:pPr>
            <a:r>
              <a:rPr sz="900" b="1">
                <a:solidFill>
                  <a:srgbClr val="CFE7FF"/>
                </a:solidFill>
              </a:rPr>
              <a:t>PROTOTYPE • SIMULATED INTELLIGENCE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32B417-6CBC-4C43-8377-C26DCB22A77C}"/>
              </a:ext>
            </a:extLst>
          </p:cNvPr>
          <p:cNvSpPr>
            <a:spLocks noGrp="1"/>
          </p:cNvSpPr>
          <p:nvPr/>
        </p:nvSpPr>
        <p:spPr>
          <a:xfrm>
            <a:off x="8810625" y="6362700"/>
            <a:ext cx="2809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8426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F562830-A4BC-4FB7-9A1A-AF87B1641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6394A-327A-4675-8D3C-1790D37AF28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2DBFE-7138-4CCE-9106-0D3EDF6C7122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THE SHARED FAILURE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6B6316-1DE2-47DC-943F-357E0B42557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same evidence gap appears as uncertainty, recruiting waste, and late 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6F034-B4C9-4D7D-91B8-C971BC4D095C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65293-66B6-4E3C-BB71-4269CBA4BD46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E4FD7-EEDA-4E0D-95F8-5B8B01A7743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62655-C5B6-401C-8043-E7927ADA0996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STUDENT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D2BCA-9EF3-452C-8169-7E02C13D2559}"/>
              </a:ext>
            </a:extLst>
          </p:cNvPr>
          <p:cNvSpPr>
            <a:spLocks noGrp="1"/>
          </p:cNvSpPr>
          <p:nvPr/>
        </p:nvSpPr>
        <p:spPr>
          <a:xfrm>
            <a:off x="800100" y="239077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Experience exists, but proof and direction do not.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55AF4E-95CD-4155-80E5-F9C1EDE3F4DF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Chris is a Year 3 Data Science student with projects and leadership evidence—but weak visibility into what those experiences prove and what to do next.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4B1A3-3665-44A7-9DA6-3E9C01F47619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Consequence: option loss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10FFE5-69D2-4ACC-8139-E28711419A0B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5C6B4-4081-41C0-A8A7-66C88BD024B7}"/>
              </a:ext>
            </a:extLst>
          </p:cNvPr>
          <p:cNvSpPr>
            <a:spLocks noGrp="1"/>
          </p:cNvSpPr>
          <p:nvPr/>
        </p:nvSpPr>
        <p:spPr>
          <a:xfrm>
            <a:off x="451485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A9C2"/>
                </a:solidFill>
              </a:defRPr>
            </a:pPr>
            <a:r>
              <a:rPr sz="900" b="1">
                <a:solidFill>
                  <a:srgbClr val="12A9C2"/>
                </a:solidFill>
              </a:rPr>
              <a:t>EMPLOYER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ED85DC-4307-4645-BE1F-E941FFC0CE5B}"/>
              </a:ext>
            </a:extLst>
          </p:cNvPr>
          <p:cNvSpPr>
            <a:spLocks noGrp="1"/>
          </p:cNvSpPr>
          <p:nvPr/>
        </p:nvSpPr>
        <p:spPr>
          <a:xfrm>
            <a:off x="4514850" y="239077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Every urgent search restarts from zero.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40BD7B-1B52-4491-B1F6-3CB23EA5ECB3}"/>
              </a:ext>
            </a:extLst>
          </p:cNvPr>
          <p:cNvSpPr>
            <a:spLocks noGrp="1"/>
          </p:cNvSpPr>
          <p:nvPr/>
        </p:nvSpPr>
        <p:spPr>
          <a:xfrm>
            <a:off x="451485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Prior challenge participants, screening rationale, and relationship history decay across spreadsheets, inboxes, and disconnected systems.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4B978-FFEC-494A-8D48-1F379C8C258A}"/>
              </a:ext>
            </a:extLst>
          </p:cNvPr>
          <p:cNvSpPr>
            <a:spLocks noGrp="1"/>
          </p:cNvSpPr>
          <p:nvPr/>
        </p:nvSpPr>
        <p:spPr>
          <a:xfrm>
            <a:off x="451485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Consequence: relationship loss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EFD212-E593-4D91-8944-DDB5D3425FCF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84502C-F8B3-4846-A403-3A765055C092}"/>
              </a:ext>
            </a:extLst>
          </p:cNvPr>
          <p:cNvSpPr>
            <a:spLocks noGrp="1"/>
          </p:cNvSpPr>
          <p:nvPr/>
        </p:nvSpPr>
        <p:spPr>
          <a:xfrm>
            <a:off x="822960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7E91"/>
                </a:solidFill>
              </a:defRPr>
            </a:pPr>
            <a:r>
              <a:rPr sz="900" b="1">
                <a:solidFill>
                  <a:srgbClr val="007E91"/>
                </a:solidFill>
              </a:rPr>
              <a:t>UNIVERSITY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447A04-82D9-4B90-B9A9-1FD5FD4F80A7}"/>
              </a:ext>
            </a:extLst>
          </p:cNvPr>
          <p:cNvSpPr>
            <a:spLocks noGrp="1"/>
          </p:cNvSpPr>
          <p:nvPr/>
        </p:nvSpPr>
        <p:spPr>
          <a:xfrm>
            <a:off x="8229600" y="239077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The intervention window closes before the report arrives.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2D8873-B4CF-421C-BD68-0DF63DDBF913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Programme and readiness gaps surface across departments while the current cohort cannot wait for a full curriculum cycle.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E14F9D-A306-4A3F-A15A-1E668BF4DF2B}"/>
              </a:ext>
            </a:extLst>
          </p:cNvPr>
          <p:cNvSpPr>
            <a:spLocks noGrp="1"/>
          </p:cNvSpPr>
          <p:nvPr/>
        </p:nvSpPr>
        <p:spPr>
          <a:xfrm>
            <a:off x="822960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Consequence: time loss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B74675-2BF9-4383-8F01-EFF4E70A63C4}"/>
              </a:ext>
            </a:extLst>
          </p:cNvPr>
          <p:cNvSpPr>
            <a:spLocks noGrp="1"/>
          </p:cNvSpPr>
          <p:nvPr/>
        </p:nvSpPr>
        <p:spPr>
          <a:xfrm>
            <a:off x="1333500" y="533400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Different symptoms. One failure: useful signals are fragmented, weakly evidenced, and remembered too late.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2DE360-E5DC-4FF4-9B81-24F50EB1F2A9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5E08D4-FBEE-4D83-8215-1DBD4DCC61E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D2ABE9-F158-4B24-BD66-9F2490B466E7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209800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D43033-5850-4D6D-8869-B231C2EC16E0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0193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personas and demo data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53A368-B60D-4E1C-49B2-A1289671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43" t="62700" r="5983" b="16883"/>
          <a:stretch>
            <a:fillRect/>
          </a:stretch>
        </p:blipFill>
        <p:spPr>
          <a:xfrm>
            <a:off x="3024340" y="893826"/>
            <a:ext cx="8234210" cy="484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4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691F-8F25-2A08-363A-58EA87E9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A24A734-8050-593C-1AC5-1756A1151572}"/>
              </a:ext>
            </a:extLst>
          </p:cNvPr>
          <p:cNvSpPr/>
          <p:nvPr/>
        </p:nvSpPr>
        <p:spPr>
          <a:xfrm>
            <a:off x="0" y="2542032"/>
            <a:ext cx="12192000" cy="35836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C43B1F-8218-80BA-7F01-430EC4E35010}"/>
              </a:ext>
            </a:extLst>
          </p:cNvPr>
          <p:cNvSpPr/>
          <p:nvPr/>
        </p:nvSpPr>
        <p:spPr>
          <a:xfrm>
            <a:off x="7906512" y="1024128"/>
            <a:ext cx="3409950" cy="1280160"/>
          </a:xfrm>
          <a:prstGeom prst="rect">
            <a:avLst/>
          </a:prstGeom>
          <a:solidFill>
            <a:srgbClr val="2961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B5B219-5C1C-52AD-BCEF-CF882EDF9373}"/>
              </a:ext>
            </a:extLst>
          </p:cNvPr>
          <p:cNvSpPr/>
          <p:nvPr/>
        </p:nvSpPr>
        <p:spPr>
          <a:xfrm>
            <a:off x="4191762" y="1024128"/>
            <a:ext cx="3409950" cy="1280160"/>
          </a:xfrm>
          <a:prstGeom prst="rect">
            <a:avLst/>
          </a:prstGeom>
          <a:solidFill>
            <a:srgbClr val="2961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754C12-528F-5F47-68FB-8A38276FBDE9}"/>
              </a:ext>
            </a:extLst>
          </p:cNvPr>
          <p:cNvSpPr/>
          <p:nvPr/>
        </p:nvSpPr>
        <p:spPr>
          <a:xfrm>
            <a:off x="477012" y="1024128"/>
            <a:ext cx="3409950" cy="1280160"/>
          </a:xfrm>
          <a:prstGeom prst="rect">
            <a:avLst/>
          </a:prstGeom>
          <a:solidFill>
            <a:srgbClr val="2961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F2F3F6-A8D7-E10F-42F3-D2BA5231308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09E68-3C66-8D09-0ACB-E679158022AB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THE SHARED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6DD62F-530C-D64B-C7D0-E6B33EDDAB75}"/>
              </a:ext>
            </a:extLst>
          </p:cNvPr>
          <p:cNvSpPr>
            <a:spLocks noGrp="1"/>
          </p:cNvSpPr>
          <p:nvPr/>
        </p:nvSpPr>
        <p:spPr>
          <a:xfrm>
            <a:off x="477012" y="2588896"/>
            <a:ext cx="3409950" cy="3536822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7BE6E-6B7A-AC81-29BB-54E37759F85F}"/>
              </a:ext>
            </a:extLst>
          </p:cNvPr>
          <p:cNvSpPr>
            <a:spLocks noGrp="1"/>
          </p:cNvSpPr>
          <p:nvPr/>
        </p:nvSpPr>
        <p:spPr>
          <a:xfrm>
            <a:off x="560451" y="114128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 dirty="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7D2E92-738C-925E-9861-B8AAFBEF3B55}"/>
              </a:ext>
            </a:extLst>
          </p:cNvPr>
          <p:cNvSpPr>
            <a:spLocks noGrp="1"/>
          </p:cNvSpPr>
          <p:nvPr/>
        </p:nvSpPr>
        <p:spPr>
          <a:xfrm>
            <a:off x="560450" y="1397413"/>
            <a:ext cx="3078861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A43"/>
                </a:solidFill>
              </a:defRPr>
            </a:pPr>
            <a:r>
              <a:rPr lang="en-MY" sz="1875" b="1" dirty="0">
                <a:solidFill>
                  <a:schemeClr val="bg1"/>
                </a:solidFill>
                <a:latin typeface="Aptos Narrow" panose="020B0004020202020204" pitchFamily="34" charset="0"/>
              </a:rPr>
              <a:t>They discover what they are missing only after rejection</a:t>
            </a:r>
            <a:endParaRPr sz="1875" b="1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151D6D-FC99-E67F-71D0-B8886E62866D}"/>
              </a:ext>
            </a:extLst>
          </p:cNvPr>
          <p:cNvSpPr>
            <a:spLocks noGrp="1"/>
          </p:cNvSpPr>
          <p:nvPr/>
        </p:nvSpPr>
        <p:spPr>
          <a:xfrm>
            <a:off x="724662" y="2937986"/>
            <a:ext cx="2914650" cy="902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A student has completed projects, led activities and solved real problems. But when applying, all of it is reduced to a few unproven lines on a CV.</a:t>
            </a:r>
            <a:endParaRPr sz="1275" b="0" dirty="0">
              <a:solidFill>
                <a:srgbClr val="40566F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27A58-AE99-0B57-9B6F-E05344988934}"/>
              </a:ext>
            </a:extLst>
          </p:cNvPr>
          <p:cNvSpPr>
            <a:spLocks noGrp="1"/>
          </p:cNvSpPr>
          <p:nvPr/>
        </p:nvSpPr>
        <p:spPr>
          <a:xfrm>
            <a:off x="4191762" y="2588895"/>
            <a:ext cx="3409950" cy="3536823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2CFC5D-2EB9-80AD-C9BA-620B5BFDE936}"/>
              </a:ext>
            </a:extLst>
          </p:cNvPr>
          <p:cNvSpPr>
            <a:spLocks noGrp="1"/>
          </p:cNvSpPr>
          <p:nvPr/>
        </p:nvSpPr>
        <p:spPr>
          <a:xfrm>
            <a:off x="4320540" y="1138046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A9C2"/>
                </a:solidFill>
              </a:defRPr>
            </a:pPr>
            <a:r>
              <a:rPr sz="900" b="1" dirty="0">
                <a:solidFill>
                  <a:schemeClr val="bg1"/>
                </a:solidFill>
              </a:rPr>
              <a:t>EMPLOYER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D493E-7141-7C5B-54C8-002E0AEDD62B}"/>
              </a:ext>
            </a:extLst>
          </p:cNvPr>
          <p:cNvSpPr>
            <a:spLocks noGrp="1"/>
          </p:cNvSpPr>
          <p:nvPr/>
        </p:nvSpPr>
        <p:spPr>
          <a:xfrm>
            <a:off x="4320540" y="1397413"/>
            <a:ext cx="3136062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A43"/>
                </a:solidFill>
              </a:defRPr>
            </a:pPr>
            <a:r>
              <a:rPr lang="en-MY" sz="1875" b="1" dirty="0">
                <a:solidFill>
                  <a:schemeClr val="bg1"/>
                </a:solidFill>
              </a:rPr>
              <a:t>Strong candidates disappear before the vacancy exists</a:t>
            </a:r>
            <a:endParaRPr sz="1875" b="1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A591BE-B780-FF35-A41D-699242AB40C9}"/>
              </a:ext>
            </a:extLst>
          </p:cNvPr>
          <p:cNvSpPr>
            <a:spLocks noGrp="1"/>
          </p:cNvSpPr>
          <p:nvPr/>
        </p:nvSpPr>
        <p:spPr>
          <a:xfrm>
            <a:off x="4431246" y="2933223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A recruiter meets a promising student through a challenge, workshop or previous interview. but months later, the evidence and relationship are buried across spreadsheets and inboxes.</a:t>
            </a:r>
            <a:endParaRPr sz="1275" b="0" dirty="0">
              <a:solidFill>
                <a:srgbClr val="40566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9B08B1-32A5-806F-4DF0-8861998A22BA}"/>
              </a:ext>
            </a:extLst>
          </p:cNvPr>
          <p:cNvSpPr>
            <a:spLocks noGrp="1"/>
          </p:cNvSpPr>
          <p:nvPr/>
        </p:nvSpPr>
        <p:spPr>
          <a:xfrm>
            <a:off x="7906512" y="2588894"/>
            <a:ext cx="3409950" cy="3536823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3109A-AE12-6E7B-56D2-AAC23C5D5CA2}"/>
              </a:ext>
            </a:extLst>
          </p:cNvPr>
          <p:cNvSpPr>
            <a:spLocks noGrp="1"/>
          </p:cNvSpPr>
          <p:nvPr/>
        </p:nvSpPr>
        <p:spPr>
          <a:xfrm>
            <a:off x="8044434" y="1122426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7E91"/>
                </a:solidFill>
              </a:defRPr>
            </a:pPr>
            <a:r>
              <a:rPr sz="900" b="1" dirty="0">
                <a:solidFill>
                  <a:schemeClr val="bg1"/>
                </a:solidFill>
              </a:rPr>
              <a:t>UNIVERSITY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E75A62-1F9A-7623-8738-94FDB1C04469}"/>
              </a:ext>
            </a:extLst>
          </p:cNvPr>
          <p:cNvSpPr>
            <a:spLocks noGrp="1"/>
          </p:cNvSpPr>
          <p:nvPr/>
        </p:nvSpPr>
        <p:spPr>
          <a:xfrm>
            <a:off x="8007858" y="1408176"/>
            <a:ext cx="327202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A43"/>
                </a:solidFill>
              </a:defRPr>
            </a:pPr>
            <a:r>
              <a:rPr lang="en-MY" sz="1875" b="1" dirty="0">
                <a:solidFill>
                  <a:schemeClr val="bg1"/>
                </a:solidFill>
              </a:rPr>
              <a:t>They see the problem only when it is too late to intervene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CC1D34-D0BE-542F-CCA5-3736D62D46B0}"/>
              </a:ext>
            </a:extLst>
          </p:cNvPr>
          <p:cNvSpPr>
            <a:spLocks noGrp="1"/>
          </p:cNvSpPr>
          <p:nvPr/>
        </p:nvSpPr>
        <p:spPr>
          <a:xfrm>
            <a:off x="8154162" y="2933223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A student appears academically successful, but has no industry exposure, weak evidence and low career readiness. The university only notices after graduation outcomes decline.</a:t>
            </a:r>
            <a:endParaRPr sz="1275" b="0" dirty="0">
              <a:solidFill>
                <a:srgbClr val="40566F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3207E2D-CFAE-A577-B34A-A2591B88EE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43" t="62700" r="5983" b="16883"/>
          <a:stretch>
            <a:fillRect/>
          </a:stretch>
        </p:blipFill>
        <p:spPr>
          <a:xfrm>
            <a:off x="6816852" y="5936177"/>
            <a:ext cx="8234210" cy="48417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6254B1-33DA-DC11-8AF0-823D85C7548F}"/>
              </a:ext>
            </a:extLst>
          </p:cNvPr>
          <p:cNvSpPr>
            <a:spLocks noGrp="1"/>
          </p:cNvSpPr>
          <p:nvPr/>
        </p:nvSpPr>
        <p:spPr>
          <a:xfrm>
            <a:off x="724661" y="4506133"/>
            <a:ext cx="2914650" cy="902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They apply repeatedly, receive silence or rejection, and still do not know whether the problem is their skills, evidence, interview performance or career direction.</a:t>
            </a:r>
            <a:endParaRPr sz="1275" b="0" dirty="0">
              <a:solidFill>
                <a:srgbClr val="40566F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FA922-FBF2-E3B8-3AAB-F7B310D35A34}"/>
              </a:ext>
            </a:extLst>
          </p:cNvPr>
          <p:cNvSpPr>
            <a:spLocks noGrp="1"/>
          </p:cNvSpPr>
          <p:nvPr/>
        </p:nvSpPr>
        <p:spPr>
          <a:xfrm>
            <a:off x="4431246" y="4477701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When a position suddenly needs to be filled, the team starts from hundreds of similar CVs with no reliable way to see who has actually demonstrated potential.</a:t>
            </a:r>
            <a:endParaRPr sz="1275" b="0" dirty="0">
              <a:solidFill>
                <a:srgbClr val="40566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4DC05C-102A-4728-BCA2-582E0DB806F8}"/>
              </a:ext>
            </a:extLst>
          </p:cNvPr>
          <p:cNvSpPr>
            <a:spLocks noGrp="1"/>
          </p:cNvSpPr>
          <p:nvPr/>
        </p:nvSpPr>
        <p:spPr>
          <a:xfrm>
            <a:off x="8154162" y="4475412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40566F"/>
                </a:solidFill>
              </a:defRPr>
            </a:pPr>
            <a:r>
              <a:rPr lang="en-MY" sz="1275" dirty="0"/>
              <a:t>The university identifies a critical market skill gap, but formal curriculum reform takes months or years. While today’s students graduate without that capability.</a:t>
            </a:r>
            <a:endParaRPr sz="1275" b="0" dirty="0">
              <a:solidFill>
                <a:srgbClr val="40566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E71E2-B93B-C021-CAD3-07E062117791}"/>
              </a:ext>
            </a:extLst>
          </p:cNvPr>
          <p:cNvSpPr/>
          <p:nvPr/>
        </p:nvSpPr>
        <p:spPr>
          <a:xfrm flipV="1">
            <a:off x="477012" y="2542028"/>
            <a:ext cx="784860" cy="4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2A68A-E259-189C-2A86-2BF1141B7ACD}"/>
              </a:ext>
            </a:extLst>
          </p:cNvPr>
          <p:cNvSpPr/>
          <p:nvPr/>
        </p:nvSpPr>
        <p:spPr>
          <a:xfrm>
            <a:off x="539114" y="2543175"/>
            <a:ext cx="640461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69B60-C7B6-2F75-01EC-D404060942C1}"/>
              </a:ext>
            </a:extLst>
          </p:cNvPr>
          <p:cNvSpPr/>
          <p:nvPr/>
        </p:nvSpPr>
        <p:spPr>
          <a:xfrm flipV="1">
            <a:off x="4187188" y="2540881"/>
            <a:ext cx="784860" cy="4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E92922-5819-0D5F-0D94-9F9781F9E743}"/>
              </a:ext>
            </a:extLst>
          </p:cNvPr>
          <p:cNvSpPr/>
          <p:nvPr/>
        </p:nvSpPr>
        <p:spPr>
          <a:xfrm>
            <a:off x="4249290" y="2542028"/>
            <a:ext cx="640461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5E0F2C-B154-0C02-0933-011C66D2417D}"/>
              </a:ext>
            </a:extLst>
          </p:cNvPr>
          <p:cNvSpPr/>
          <p:nvPr/>
        </p:nvSpPr>
        <p:spPr>
          <a:xfrm flipV="1">
            <a:off x="7906508" y="2544318"/>
            <a:ext cx="784860" cy="4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F2051-F6CF-8B12-0D6C-B2D024541DB6}"/>
              </a:ext>
            </a:extLst>
          </p:cNvPr>
          <p:cNvSpPr/>
          <p:nvPr/>
        </p:nvSpPr>
        <p:spPr>
          <a:xfrm>
            <a:off x="7977754" y="2545465"/>
            <a:ext cx="640461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406F6D-E3FD-3B21-87DC-6FC5236AC351}"/>
              </a:ext>
            </a:extLst>
          </p:cNvPr>
          <p:cNvCxnSpPr>
            <a:cxnSpLocks/>
          </p:cNvCxnSpPr>
          <p:nvPr/>
        </p:nvCxnSpPr>
        <p:spPr>
          <a:xfrm>
            <a:off x="742950" y="4237070"/>
            <a:ext cx="2744968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8FEFE2-89AA-1D01-FC4F-617A2F1C98B4}"/>
              </a:ext>
            </a:extLst>
          </p:cNvPr>
          <p:cNvCxnSpPr>
            <a:cxnSpLocks/>
          </p:cNvCxnSpPr>
          <p:nvPr/>
        </p:nvCxnSpPr>
        <p:spPr>
          <a:xfrm>
            <a:off x="4524253" y="4214796"/>
            <a:ext cx="2744968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20DCD7-847D-E946-1592-182CA421AE44}"/>
              </a:ext>
            </a:extLst>
          </p:cNvPr>
          <p:cNvCxnSpPr>
            <a:cxnSpLocks/>
          </p:cNvCxnSpPr>
          <p:nvPr/>
        </p:nvCxnSpPr>
        <p:spPr>
          <a:xfrm>
            <a:off x="8239003" y="4214796"/>
            <a:ext cx="2744968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1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EB38F36-45C7-4EC7-BC3C-0B117A1D0A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10C93-C7F5-4CFB-9990-64B56D0C1177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06992-E2C7-4670-B2CB-76C45157B18B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THE SHARED FAILURE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A011B-59FA-4466-A221-FBB25C53265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Existing tools optimise transactions—not continuity between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6326A-D4F4-4EF4-ADE3-B2FFAE6D75D2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53BDE-079C-497C-92BA-7D05D0F44246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F7C36-7AE3-4FE5-AA29-988A1C6C87D8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2476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54F99-E157-428E-BC48-F169C25E32A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5AA8"/>
                </a:solidFill>
              </a:defRPr>
            </a:pPr>
            <a:r>
              <a:rPr sz="1500" b="1">
                <a:solidFill>
                  <a:srgbClr val="175AA8"/>
                </a:solidFill>
              </a:rPr>
              <a:t>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DB2A5-233B-45D7-90CC-063CFD93809F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becomes a résumé claim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24F02-9E5D-4872-8733-B0AABB9EE791}"/>
              </a:ext>
            </a:extLst>
          </p:cNvPr>
          <p:cNvSpPr>
            <a:spLocks noGrp="1"/>
          </p:cNvSpPr>
          <p:nvPr/>
        </p:nvSpPr>
        <p:spPr>
          <a:xfrm>
            <a:off x="30956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36DB5"/>
                </a:solidFill>
              </a:defRPr>
            </a:pPr>
            <a:r>
              <a:rPr sz="1800" b="1">
                <a:solidFill>
                  <a:srgbClr val="236DB5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EC275E-3FA0-4028-ADD3-626A17FE9F0C}"/>
              </a:ext>
            </a:extLst>
          </p:cNvPr>
          <p:cNvSpPr>
            <a:spLocks noGrp="1"/>
          </p:cNvSpPr>
          <p:nvPr/>
        </p:nvSpPr>
        <p:spPr>
          <a:xfrm>
            <a:off x="3371850" y="1762125"/>
            <a:ext cx="2476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438D85-5B43-4766-A175-914C206B9A93}"/>
              </a:ext>
            </a:extLst>
          </p:cNvPr>
          <p:cNvSpPr>
            <a:spLocks noGrp="1"/>
          </p:cNvSpPr>
          <p:nvPr/>
        </p:nvSpPr>
        <p:spPr>
          <a:xfrm>
            <a:off x="35814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5AA8"/>
                </a:solidFill>
              </a:defRPr>
            </a:pPr>
            <a:r>
              <a:rPr sz="1500" b="1">
                <a:solidFill>
                  <a:srgbClr val="175AA8"/>
                </a:solidFill>
              </a:rPr>
              <a:t>Engagement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F063F4-58B7-4B3A-8111-F3D37C57D94C}"/>
              </a:ext>
            </a:extLst>
          </p:cNvPr>
          <p:cNvSpPr>
            <a:spLocks noGrp="1"/>
          </p:cNvSpPr>
          <p:nvPr/>
        </p:nvSpPr>
        <p:spPr>
          <a:xfrm>
            <a:off x="35814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becomes an attendance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4DC4F5-5145-4859-A20E-C0C0377A78FF}"/>
              </a:ext>
            </a:extLst>
          </p:cNvPr>
          <p:cNvSpPr>
            <a:spLocks noGrp="1"/>
          </p:cNvSpPr>
          <p:nvPr/>
        </p:nvSpPr>
        <p:spPr>
          <a:xfrm>
            <a:off x="59150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36DB5"/>
                </a:solidFill>
              </a:defRPr>
            </a:pPr>
            <a:r>
              <a:rPr sz="1800" b="1">
                <a:solidFill>
                  <a:srgbClr val="236DB5"/>
                </a:solidFill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B150DC-FA54-4C2D-966A-DBFB70AB8B50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2476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B9A3D-3AEF-44C6-8A53-1DC1E4AF080A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5AA8"/>
                </a:solidFill>
              </a:defRPr>
            </a:pPr>
            <a:r>
              <a:rPr sz="1500" b="1">
                <a:solidFill>
                  <a:srgbClr val="175AA8"/>
                </a:solidFill>
              </a:rPr>
              <a:t>Hiring feedback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036914-0D3B-4A4B-B058-4AD430F01CBD}"/>
              </a:ext>
            </a:extLst>
          </p:cNvPr>
          <p:cNvSpPr>
            <a:spLocks noGrp="1"/>
          </p:cNvSpPr>
          <p:nvPr/>
        </p:nvSpPr>
        <p:spPr>
          <a:xfrm>
            <a:off x="64008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stays in an ATS or inbox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032FB-85DA-47CC-8281-CF18D62A56FD}"/>
              </a:ext>
            </a:extLst>
          </p:cNvPr>
          <p:cNvSpPr>
            <a:spLocks noGrp="1"/>
          </p:cNvSpPr>
          <p:nvPr/>
        </p:nvSpPr>
        <p:spPr>
          <a:xfrm>
            <a:off x="87344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36DB5"/>
                </a:solidFill>
              </a:defRPr>
            </a:pPr>
            <a:r>
              <a:rPr sz="1800" b="1">
                <a:solidFill>
                  <a:srgbClr val="236DB5"/>
                </a:solidFill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43B550-55B6-4BC3-B883-494B01CE6FA1}"/>
              </a:ext>
            </a:extLst>
          </p:cNvPr>
          <p:cNvSpPr>
            <a:spLocks noGrp="1"/>
          </p:cNvSpPr>
          <p:nvPr/>
        </p:nvSpPr>
        <p:spPr>
          <a:xfrm>
            <a:off x="9010650" y="1762125"/>
            <a:ext cx="2476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73A74F-653B-40C7-B7B5-6D111C1AEE0A}"/>
              </a:ext>
            </a:extLst>
          </p:cNvPr>
          <p:cNvSpPr>
            <a:spLocks noGrp="1"/>
          </p:cNvSpPr>
          <p:nvPr/>
        </p:nvSpPr>
        <p:spPr>
          <a:xfrm>
            <a:off x="92202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5AA8"/>
                </a:solidFill>
              </a:defRPr>
            </a:pPr>
            <a:r>
              <a:rPr sz="1500" b="1">
                <a:solidFill>
                  <a:srgbClr val="175AA8"/>
                </a:solidFill>
              </a:rPr>
              <a:t>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32492-F752-4D28-977C-F12D3EA4FCF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arrive in periodic reports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FC6733-523D-4714-8EBA-ABE252D30881}"/>
              </a:ext>
            </a:extLst>
          </p:cNvPr>
          <p:cNvSpPr>
            <a:spLocks noGrp="1"/>
          </p:cNvSpPr>
          <p:nvPr/>
        </p:nvSpPr>
        <p:spPr>
          <a:xfrm>
            <a:off x="1428750" y="4048125"/>
            <a:ext cx="9334500" cy="1276350"/>
          </a:xfrm>
          <a:prstGeom prst="rect">
            <a:avLst/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FD0E79-F124-4690-AFC8-9EA0D89EEC42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The next decision begins without the earlier context.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A857B6-4389-4CD4-A304-446C173F5209}"/>
              </a:ext>
            </a:extLst>
          </p:cNvPr>
          <p:cNvSpPr>
            <a:spLocks noGrp="1"/>
          </p:cNvSpPr>
          <p:nvPr/>
        </p:nvSpPr>
        <p:spPr>
          <a:xfrm>
            <a:off x="2047875" y="48482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CareerOS preserves context between transactions; it does not pretend to replace every source system.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951B37-1428-4E4E-A28C-BB0D89C57683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957B2-3D77-4EC9-AB42-7B28846B33A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1C6180-09E9-4ED1-ABAE-E203A25EB30A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962150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CEDB7C-9A2B-4B05-ACA5-C31A25B7CC05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771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Future integrations required</a:t>
            </a:r>
          </a:p>
        </p:txBody>
      </p:sp>
    </p:spTree>
    <p:extLst>
      <p:ext uri="{BB962C8B-B14F-4D97-AF65-F5344CB8AC3E}">
        <p14:creationId xmlns:p14="http://schemas.microsoft.com/office/powerpoint/2010/main" val="49087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EC63B33-69DF-4DD7-887B-C87CE257EB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99A3A-474D-433E-AFD8-99E17FD4412B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E64F2-E222-4A0A-87AE-06255AA6E5FA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THE OPERATING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61565-8182-4493-AB92-2E38F8E22E34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CareerOS converts fragmented signals into a sequence of earlier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75096-7DC4-49FB-A8E4-7C2DE8AE6006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A4968A-BCEC-4831-8B00-EF3C9D6CBF9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2AFE6-2B23-462F-B475-8BD752866335}"/>
              </a:ext>
            </a:extLst>
          </p:cNvPr>
          <p:cNvSpPr>
            <a:spLocks noGrp="1"/>
          </p:cNvSpPr>
          <p:nvPr/>
        </p:nvSpPr>
        <p:spPr>
          <a:xfrm>
            <a:off x="447675" y="2095500"/>
            <a:ext cx="19240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98075-D451-4DC7-81F7-F2E5FAED8E3B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5845A-79C6-41CB-BC19-0FB545827C66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Project, application,</a:t>
            </a:r>
          </a:p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demand, outcome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EF0CC5-C6D6-49B8-9CE6-DD80DCBA57BF}"/>
              </a:ext>
            </a:extLst>
          </p:cNvPr>
          <p:cNvSpPr>
            <a:spLocks noGrp="1"/>
          </p:cNvSpPr>
          <p:nvPr/>
        </p:nvSpPr>
        <p:spPr>
          <a:xfrm>
            <a:off x="241935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A9C2"/>
                </a:solidFill>
              </a:defRPr>
            </a:pPr>
            <a:r>
              <a:rPr sz="1875" b="1">
                <a:solidFill>
                  <a:srgbClr val="12A9C2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C2FCE-685B-4051-8AB6-5BE126EB8548}"/>
              </a:ext>
            </a:extLst>
          </p:cNvPr>
          <p:cNvSpPr>
            <a:spLocks noGrp="1"/>
          </p:cNvSpPr>
          <p:nvPr/>
        </p:nvSpPr>
        <p:spPr>
          <a:xfrm>
            <a:off x="2790825" y="2095500"/>
            <a:ext cx="1924050" cy="1676400"/>
          </a:xfrm>
          <a:prstGeom prst="rect">
            <a:avLst/>
          </a:prstGeom>
          <a:solidFill>
            <a:srgbClr val="EEF2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ABD7A-260A-42D5-9D6D-F7C87D196A2A}"/>
              </a:ext>
            </a:extLst>
          </p:cNvPr>
          <p:cNvSpPr>
            <a:spLocks noGrp="1"/>
          </p:cNvSpPr>
          <p:nvPr/>
        </p:nvSpPr>
        <p:spPr>
          <a:xfrm>
            <a:off x="296227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36DB5"/>
                </a:solidFill>
              </a:defRPr>
            </a:pPr>
            <a:r>
              <a:rPr sz="975" b="1">
                <a:solidFill>
                  <a:srgbClr val="236DB5"/>
                </a:solidFill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773135-8794-48F7-B180-F5E0A5FA0752}"/>
              </a:ext>
            </a:extLst>
          </p:cNvPr>
          <p:cNvSpPr>
            <a:spLocks noGrp="1"/>
          </p:cNvSpPr>
          <p:nvPr/>
        </p:nvSpPr>
        <p:spPr>
          <a:xfrm>
            <a:off x="2981325" y="272415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Source, recency,</a:t>
            </a:r>
          </a:p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context, behaviour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2441E-79F0-407C-BC5C-A5C95129AB31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A9C2"/>
                </a:solidFill>
              </a:defRPr>
            </a:pPr>
            <a:r>
              <a:rPr sz="1875" b="1">
                <a:solidFill>
                  <a:srgbClr val="12A9C2"/>
                </a:solidFill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DBED9A-BD4E-45AD-8A9D-82FF630E8F4E}"/>
              </a:ext>
            </a:extLst>
          </p:cNvPr>
          <p:cNvSpPr>
            <a:spLocks noGrp="1"/>
          </p:cNvSpPr>
          <p:nvPr/>
        </p:nvSpPr>
        <p:spPr>
          <a:xfrm>
            <a:off x="5133975" y="2095500"/>
            <a:ext cx="19240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7B1CB6-A1D2-497D-9CCC-4F2F7338FF8E}"/>
              </a:ext>
            </a:extLst>
          </p:cNvPr>
          <p:cNvSpPr>
            <a:spLocks noGrp="1"/>
          </p:cNvSpPr>
          <p:nvPr/>
        </p:nvSpPr>
        <p:spPr>
          <a:xfrm>
            <a:off x="53054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DECISION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EE033-FFE9-474B-84E7-20DD08FAF13A}"/>
              </a:ext>
            </a:extLst>
          </p:cNvPr>
          <p:cNvSpPr>
            <a:spLocks noGrp="1"/>
          </p:cNvSpPr>
          <p:nvPr/>
        </p:nvSpPr>
        <p:spPr>
          <a:xfrm>
            <a:off x="5324475" y="272415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Next skill, shortlist,</a:t>
            </a:r>
          </a:p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intervention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18FFB-2BB4-467A-8C42-062567C5DFF8}"/>
              </a:ext>
            </a:extLst>
          </p:cNvPr>
          <p:cNvSpPr>
            <a:spLocks noGrp="1"/>
          </p:cNvSpPr>
          <p:nvPr/>
        </p:nvSpPr>
        <p:spPr>
          <a:xfrm>
            <a:off x="710565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A9C2"/>
                </a:solidFill>
              </a:defRPr>
            </a:pPr>
            <a:r>
              <a:rPr sz="1875" b="1">
                <a:solidFill>
                  <a:srgbClr val="12A9C2"/>
                </a:solidFill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A66C36-E609-4951-9867-77706641E0C3}"/>
              </a:ext>
            </a:extLst>
          </p:cNvPr>
          <p:cNvSpPr>
            <a:spLocks noGrp="1"/>
          </p:cNvSpPr>
          <p:nvPr/>
        </p:nvSpPr>
        <p:spPr>
          <a:xfrm>
            <a:off x="7477125" y="2095500"/>
            <a:ext cx="19240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3F50F9-5780-4920-887D-9157D38C2FAD}"/>
              </a:ext>
            </a:extLst>
          </p:cNvPr>
          <p:cNvSpPr>
            <a:spLocks noGrp="1"/>
          </p:cNvSpPr>
          <p:nvPr/>
        </p:nvSpPr>
        <p:spPr>
          <a:xfrm>
            <a:off x="764857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0F7EE9-E694-4AC2-8F3B-4614BFD885D2}"/>
              </a:ext>
            </a:extLst>
          </p:cNvPr>
          <p:cNvSpPr>
            <a:spLocks noGrp="1"/>
          </p:cNvSpPr>
          <p:nvPr/>
        </p:nvSpPr>
        <p:spPr>
          <a:xfrm>
            <a:off x="7667625" y="272415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Practise, apply,</a:t>
            </a:r>
          </a:p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re-engage, assign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83E24F-6FAE-4CC6-87DA-CBB64CF396DF}"/>
              </a:ext>
            </a:extLst>
          </p:cNvPr>
          <p:cNvSpPr>
            <a:spLocks noGrp="1"/>
          </p:cNvSpPr>
          <p:nvPr/>
        </p:nvSpPr>
        <p:spPr>
          <a:xfrm>
            <a:off x="944880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A9C2"/>
                </a:solidFill>
              </a:defRPr>
            </a:pPr>
            <a:r>
              <a:rPr sz="1875" b="1">
                <a:solidFill>
                  <a:srgbClr val="12A9C2"/>
                </a:solidFill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4C4F24-D232-43DF-A290-03D055508FF3}"/>
              </a:ext>
            </a:extLst>
          </p:cNvPr>
          <p:cNvSpPr>
            <a:spLocks noGrp="1"/>
          </p:cNvSpPr>
          <p:nvPr/>
        </p:nvSpPr>
        <p:spPr>
          <a:xfrm>
            <a:off x="9820275" y="2095500"/>
            <a:ext cx="19240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9AA405-4123-4D20-85C3-02D1F892D9C5}"/>
              </a:ext>
            </a:extLst>
          </p:cNvPr>
          <p:cNvSpPr>
            <a:spLocks noGrp="1"/>
          </p:cNvSpPr>
          <p:nvPr/>
        </p:nvSpPr>
        <p:spPr>
          <a:xfrm>
            <a:off x="99917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LEARNING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0392B0-8995-4542-BDFC-473B87F893EC}"/>
              </a:ext>
            </a:extLst>
          </p:cNvPr>
          <p:cNvSpPr>
            <a:spLocks noGrp="1"/>
          </p:cNvSpPr>
          <p:nvPr/>
        </p:nvSpPr>
        <p:spPr>
          <a:xfrm>
            <a:off x="10010775" y="272415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Improve the next</a:t>
            </a:r>
          </a:p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decision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774B0-3B24-4691-88BB-18B5E99F7BE7}"/>
              </a:ext>
            </a:extLst>
          </p:cNvPr>
          <p:cNvSpPr>
            <a:spLocks noGrp="1"/>
          </p:cNvSpPr>
          <p:nvPr/>
        </p:nvSpPr>
        <p:spPr>
          <a:xfrm>
            <a:off x="1095375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5AA8"/>
                </a:solidFill>
              </a:defRPr>
            </a:pPr>
            <a:r>
              <a:rPr sz="1350" b="1">
                <a:solidFill>
                  <a:srgbClr val="175AA8"/>
                </a:solidFill>
              </a:rPr>
              <a:t>Student evidence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8F5D7B-FD5E-486C-B56E-59E8F2F5BD03}"/>
              </a:ext>
            </a:extLst>
          </p:cNvPr>
          <p:cNvSpPr>
            <a:spLocks noGrp="1"/>
          </p:cNvSpPr>
          <p:nvPr/>
        </p:nvSpPr>
        <p:spPr>
          <a:xfrm>
            <a:off x="4933950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2A9C2"/>
                </a:solidFill>
              </a:defRPr>
            </a:pPr>
            <a:r>
              <a:rPr sz="1350" b="1">
                <a:solidFill>
                  <a:srgbClr val="12A9C2"/>
                </a:solidFill>
              </a:rPr>
              <a:t>Employer demand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716889-7EB3-41CC-A883-4744DF7BB47F}"/>
              </a:ext>
            </a:extLst>
          </p:cNvPr>
          <p:cNvSpPr>
            <a:spLocks noGrp="1"/>
          </p:cNvSpPr>
          <p:nvPr/>
        </p:nvSpPr>
        <p:spPr>
          <a:xfrm>
            <a:off x="8763000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7E91"/>
                </a:solidFill>
              </a:defRPr>
            </a:pPr>
            <a:r>
              <a:rPr sz="1350" b="1">
                <a:solidFill>
                  <a:srgbClr val="007E91"/>
                </a:solidFill>
              </a:rPr>
              <a:t>University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68BAC2-14C0-470E-9E02-1CD7163D61BA}"/>
              </a:ext>
            </a:extLst>
          </p:cNvPr>
          <p:cNvSpPr>
            <a:spLocks noGrp="1"/>
          </p:cNvSpPr>
          <p:nvPr/>
        </p:nvSpPr>
        <p:spPr>
          <a:xfrm>
            <a:off x="1428750" y="5095875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The prototype demonstrates each workspace and selected handoffs. A live shared network remains future-facing.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B353A1-B863-4DCC-9482-DB4F79AA6110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98B461-9740-48BB-BA4F-98A8C06F4D12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91230B-ADC0-46EB-AAC6-B3DD0B1E4BED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395538" cy="200025"/>
          </a:xfrm>
          <a:prstGeom prst="rect">
            <a:avLst/>
          </a:prstGeom>
          <a:solidFill>
            <a:srgbClr val="D8F3F6"/>
          </a:solidFill>
          <a:ln w="9525">
            <a:solidFill>
              <a:srgbClr val="D8F3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85DB68-4957-4A1F-8A93-A2A5CF1D2352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20503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007E91"/>
                </a:solidFill>
              </a:defRPr>
            </a:pPr>
            <a:r>
              <a:rPr sz="750" b="1">
                <a:solidFill>
                  <a:srgbClr val="007E91"/>
                </a:solidFill>
              </a:rPr>
              <a:t>Demonstrated model • network future</a:t>
            </a:r>
          </a:p>
        </p:txBody>
      </p:sp>
    </p:spTree>
    <p:extLst>
      <p:ext uri="{BB962C8B-B14F-4D97-AF65-F5344CB8AC3E}">
        <p14:creationId xmlns:p14="http://schemas.microsoft.com/office/powerpoint/2010/main" val="197916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FC2ADE3-F9C1-4C1C-BE37-125368EE7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11E95-B4FF-4B79-A090-B9104712B6C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35085-A1DA-4614-8B2B-53D267C99EA0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STUDENT •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0F831B-A092-4E5A-982E-A6AD518DA6B6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 Memory turns “I did this” into “Here is what it proves.”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29259-2507-4AC3-88D1-938878337B5A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FA5C7-C7F8-4EA4-8AD0-6E45809CE05B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28F2E-60DC-48E3-BC57-08A0A7D5CBE7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AADF6-569A-4F6D-AC6B-745024C17715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3235"/>
            <a:ext cx="6096000" cy="3811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C78BDA-50A1-4CD3-B523-1D2EE56C2647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PAIN →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AED4C-4FE7-4525-91A2-69AFFD2F3C4B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Students should not reconstruct their value only when an application opens.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E145DD-5D34-46F7-B30E-C6E045E6CD77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23B1A-C27E-40E5-8CC5-1BA68CB170F2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90E9F0-388E-4988-B19C-AE9AF16BDDA7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Preserve projects, internships, leadership, events, and achievements.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5A327A-360E-428C-8BE2-70FF273E3E4F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C8570D-C74A-43B4-83D0-177997A22060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B0CB90-A988-4A34-B639-885B714974F3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Connect each experience to skills and supporting context.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33E2E4-3A63-4847-847F-EC76B8A7D6FD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ECEB54-A7CF-4719-AB56-1151519056D8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783E5F-3328-4A15-A9B1-602F480077A4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Expose missing proof instead of hiding uncertainty.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03E48D-313E-4F85-A830-420B6C8125B5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C06DF9-82AE-49DC-85AC-6BB81006DD55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Behaviour change: maintain reusable evidence continuously.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82A29-A936-4021-9F5B-6CD3609E2B5A}"/>
              </a:ext>
            </a:extLst>
          </p:cNvPr>
          <p:cNvSpPr>
            <a:spLocks noGrp="1"/>
          </p:cNvSpPr>
          <p:nvPr/>
        </p:nvSpPr>
        <p:spPr>
          <a:xfrm>
            <a:off x="9810750" y="22574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C27D25-8AEC-48E1-95FF-2B2DAD023427}"/>
              </a:ext>
            </a:extLst>
          </p:cNvPr>
          <p:cNvSpPr>
            <a:spLocks noGrp="1"/>
          </p:cNvSpPr>
          <p:nvPr/>
        </p:nvSpPr>
        <p:spPr>
          <a:xfrm>
            <a:off x="9810750" y="23145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0CDFB3-7544-48F0-AD93-A48C396D567A}"/>
              </a:ext>
            </a:extLst>
          </p:cNvPr>
          <p:cNvSpPr>
            <a:spLocks noGrp="1"/>
          </p:cNvSpPr>
          <p:nvPr/>
        </p:nvSpPr>
        <p:spPr>
          <a:xfrm>
            <a:off x="9906000" y="428625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B885A1-29D1-41C3-A323-64563BF55C3E}"/>
              </a:ext>
            </a:extLst>
          </p:cNvPr>
          <p:cNvSpPr>
            <a:spLocks noGrp="1"/>
          </p:cNvSpPr>
          <p:nvPr/>
        </p:nvSpPr>
        <p:spPr>
          <a:xfrm>
            <a:off x="9906000" y="43434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D669FE-3BD7-4DFC-8316-72B995FB049E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C2C913-D994-4E48-B409-E98410C19919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366253-AFF0-42F0-8045-AE6FE53E5798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552700" cy="200025"/>
          </a:xfrm>
          <a:prstGeom prst="rect">
            <a:avLst/>
          </a:prstGeom>
          <a:solidFill>
            <a:srgbClr val="D8F3F6"/>
          </a:solidFill>
          <a:ln w="9525">
            <a:solidFill>
              <a:srgbClr val="D8F3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D402BC-7C66-417B-B5D3-09AE83AA753D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362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007E91"/>
                </a:solidFill>
              </a:defRPr>
            </a:pPr>
            <a:r>
              <a:rPr sz="750" b="1">
                <a:solidFill>
                  <a:srgbClr val="007E91"/>
                </a:solidFill>
              </a:rPr>
              <a:t>Demonstrated UI • verification partial</a:t>
            </a:r>
          </a:p>
        </p:txBody>
      </p:sp>
    </p:spTree>
    <p:extLst>
      <p:ext uri="{BB962C8B-B14F-4D97-AF65-F5344CB8AC3E}">
        <p14:creationId xmlns:p14="http://schemas.microsoft.com/office/powerpoint/2010/main" val="67931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9CE6086-297B-46B4-9D4B-4BC20F3A1B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C122D-A772-4ED9-9719-EDE71B866844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1F018D-19AB-4513-9458-DE9A5244FC53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STUDENT •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9141D-63E1-49C4-897A-0CA86119B0E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Data Science degree becomes a starting signal—not a career boundary.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008A9-A4F1-4F8B-9FE4-8D8D7F113CCE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00843-773F-4589-8A28-3434FDCFD56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F4624-F401-4D89-B61C-D65BF4587B49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48F43-F9BC-43DC-8A8F-4EC2EFB62073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3235"/>
            <a:ext cx="6096000" cy="3811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61A799-ACEA-4040-AC1E-B5A533E4CBE2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EVIDENCE → DIRECTION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87FF5-8FEC-4E44-B78D-501F47CE8DA0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Career Intelligence interprets existing proof against adjacent paths and gaps.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CFC27-F276-4B3C-B3DA-1FCBF0B2D92C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23A476-24FB-4FDA-950C-7DFE4CD2AA2E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F5DAC-52CE-4587-8DE7-0C2099C20857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Reveal transferable evidence and adjacent career options.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2B0813-F0D2-4557-A15B-84482E25A71B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3E5F4-ABE1-4E4D-A25A-0C812F62B454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BE7A8-B6F1-45FE-BDAC-5BED83DCF4FD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Prioritise one missing skill or proof point.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7E9B72-BC21-4A65-B7A1-1F78048EB33C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CF4029-E053-4958-A5B3-97CCD2BE4E69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454E15-8111-4B72-8679-434E60F363D1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Connect the gap to learning or market action.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8A7943-5CCD-49FD-85EC-99F1563ECF5D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2FA93E-B8DD-4BFB-B4C4-0C24E8333072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clearer choices and less degree lock-in.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2EAD14-7DDA-4337-B622-BD6C3E231AFC}"/>
              </a:ext>
            </a:extLst>
          </p:cNvPr>
          <p:cNvSpPr>
            <a:spLocks noGrp="1"/>
          </p:cNvSpPr>
          <p:nvPr/>
        </p:nvSpPr>
        <p:spPr>
          <a:xfrm>
            <a:off x="3981450" y="381000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2B9928-FC42-4C72-9A36-94CE12C872CD}"/>
              </a:ext>
            </a:extLst>
          </p:cNvPr>
          <p:cNvSpPr>
            <a:spLocks noGrp="1"/>
          </p:cNvSpPr>
          <p:nvPr/>
        </p:nvSpPr>
        <p:spPr>
          <a:xfrm>
            <a:off x="3981450" y="38671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C74730-5F4E-4024-A831-0B8B26861690}"/>
              </a:ext>
            </a:extLst>
          </p:cNvPr>
          <p:cNvSpPr>
            <a:spLocks noGrp="1"/>
          </p:cNvSpPr>
          <p:nvPr/>
        </p:nvSpPr>
        <p:spPr>
          <a:xfrm>
            <a:off x="5410200" y="46196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295721-FCE9-4FBB-9F19-4A0CA032C63D}"/>
              </a:ext>
            </a:extLst>
          </p:cNvPr>
          <p:cNvSpPr>
            <a:spLocks noGrp="1"/>
          </p:cNvSpPr>
          <p:nvPr/>
        </p:nvSpPr>
        <p:spPr>
          <a:xfrm>
            <a:off x="5410200" y="46767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45E3A1-9040-4416-B3FC-48915DCC21BC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DA113C-A291-4A7C-B281-CE6B837D6899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9CAFF8-DDEB-4D19-B436-EFEDB952BF4C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209800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CD2356-B54A-43A8-A3CE-29AEC8DECE15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0193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paths and market logic</a:t>
            </a:r>
          </a:p>
        </p:txBody>
      </p:sp>
    </p:spTree>
    <p:extLst>
      <p:ext uri="{BB962C8B-B14F-4D97-AF65-F5344CB8AC3E}">
        <p14:creationId xmlns:p14="http://schemas.microsoft.com/office/powerpoint/2010/main" val="232364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6AB984-9293-4E6D-B6F7-5AD6A7D325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BCB8C-7F60-4239-B2F7-A6092719DFD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27265-BD74-4C48-BCFA-CD39F6B6BF0A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STUDENT •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A48E4-7210-4A30-9674-13A905D7DFD7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Guidance matters only when it ends in a visible next 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D5765-40C7-4D7B-93EB-6DF8076438E2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BB6C8-D287-44D1-A0D1-573F3EEC7BF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26533-3482-43D6-A79E-7482F45D87DB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238C6-FC64-4AF9-8136-CAAD176CB7E3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3235"/>
            <a:ext cx="6096000" cy="3811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F954B4-A012-4CFD-B49C-5C7344FFDCD4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DIRECTION → 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D772B9-3C6F-49EB-AADF-F49ADBC91407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Opportunities and applications operationalise the student's next decision.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1C861C-A320-4C6B-931E-B69E55E2086B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E0C67-59D0-4A12-B6FC-467EC7F2121A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C6B7BC-7F67-404E-AEB4-13A4371EE849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Explain why an opportunity fits—and what evidence is missing.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E772F2-7F80-4455-92B8-699DE407ADF2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714D5-FB9A-46AA-B76F-F5E674FFA938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B8057D-8FDF-477E-8259-70DC1CCD5F92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Save, apply, prepare, or build the needed skill.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A6AA4-A09D-4ECD-BE1C-CD46E1EFB230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C8367E-A948-4362-980C-2893C92C4F78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91DF71-5904-43DD-B57F-97583351701E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Preserve status and follow-up instead of losing momentum.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A56DA0-853D-4969-AF1C-47F2756DBD1B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A8F447-90B0-4D9A-BDB3-EE9A4DB2CB1F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Behaviour change: advice becomes a commitment.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987B59-C4B0-4C9B-8C11-6E1999CA5ABC}"/>
              </a:ext>
            </a:extLst>
          </p:cNvPr>
          <p:cNvSpPr>
            <a:spLocks noGrp="1"/>
          </p:cNvSpPr>
          <p:nvPr/>
        </p:nvSpPr>
        <p:spPr>
          <a:xfrm>
            <a:off x="8810625" y="400050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E5CAE0-9C48-4F3B-84F2-AA73C24848CE}"/>
              </a:ext>
            </a:extLst>
          </p:cNvPr>
          <p:cNvSpPr>
            <a:spLocks noGrp="1"/>
          </p:cNvSpPr>
          <p:nvPr/>
        </p:nvSpPr>
        <p:spPr>
          <a:xfrm>
            <a:off x="8810625" y="40576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CAD46E-E31F-48F5-BFD1-EDE043591B7D}"/>
              </a:ext>
            </a:extLst>
          </p:cNvPr>
          <p:cNvSpPr>
            <a:spLocks noGrp="1"/>
          </p:cNvSpPr>
          <p:nvPr/>
        </p:nvSpPr>
        <p:spPr>
          <a:xfrm>
            <a:off x="10048875" y="48101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5EDFD5-6652-45F6-B83A-362B54580ED9}"/>
              </a:ext>
            </a:extLst>
          </p:cNvPr>
          <p:cNvSpPr>
            <a:spLocks noGrp="1"/>
          </p:cNvSpPr>
          <p:nvPr/>
        </p:nvSpPr>
        <p:spPr>
          <a:xfrm>
            <a:off x="10048875" y="48672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93F5A2-127F-4297-9552-8DE03EF6424A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364D1E-EA77-4D5B-89F5-DA55C2D4025E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218125-47C2-4B68-894C-B9FCB57DA5BE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900238" cy="200025"/>
          </a:xfrm>
          <a:prstGeom prst="rect">
            <a:avLst/>
          </a:prstGeom>
          <a:solidFill>
            <a:srgbClr val="D8F3F6"/>
          </a:solidFill>
          <a:ln w="9525">
            <a:solidFill>
              <a:srgbClr val="D8F3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E8A001-A2D8-45B8-8541-F7D17EB858F6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70973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007E91"/>
                </a:solidFill>
              </a:defRPr>
            </a:pPr>
            <a:r>
              <a:rPr sz="750" b="1">
                <a:solidFill>
                  <a:srgbClr val="007E91"/>
                </a:solidFill>
              </a:rPr>
              <a:t>Demonstrated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00353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2116C75-46A2-4583-B78A-6D6118FCAA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C4E4F8-A070-4601-89EA-257B6D7B9A84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69CC3A-F61D-493E-A821-36D369CA4447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STUDENT • PREPARATION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CD07C-808E-4D81-B0DD-0C9544865DB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Ask from intent, then practise the moment that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E5CCE-92FC-4705-81D4-FAB147EC75B8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A7324C-39DA-4B84-ADAD-2684EDC7B0C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1584A-E05C-4F13-B1BB-19E5EDFF5D66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C0AD74-0EC8-42AC-B461-A021D789AB55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3235"/>
            <a:ext cx="6096000" cy="3811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B5FE39-2F34-4662-B17D-D1CBD6EF8C40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INTENT → PREPARATION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03B25-6B3B-4AEE-B73A-0D5D5CEB1B3D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The Companion reduces navigation while practice turns guidance into rehearsal.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19202E-7011-4CED-9B03-511F1F5A67AB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3E8F30-0A6F-4C57-8A65-19B2463A69A3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C9851E-B48B-4FEC-B2BD-B37AF2CDE996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Interpret the student's question in CareerOS context.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E28E66-13DB-46B6-8DA5-88D77A9729E7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2A062-0BD8-4296-8E2D-B02E47A057E9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8CA7F0-D883-4003-873B-00BB4D6B261D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Route to evidence, opportunity, or preparation.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B448B0-2701-4FFC-8543-08CD18962F9B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32DDF2-2357-4684-82C0-4D1ED15809AF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E27316-6859-4DB6-BCD9-FD3825AA2050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Practise for a role without learning the product's information architecture.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80FE4C-145C-44C6-9AEB-24FC6A968ADB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F215D7-5DC3-48BE-8175-46E0026B27C6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Expected impact: faster movement from uncertainty to preparation.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8C45D-C0DB-441B-9006-B95E6BED9A9D}"/>
              </a:ext>
            </a:extLst>
          </p:cNvPr>
          <p:cNvSpPr>
            <a:spLocks noGrp="1"/>
          </p:cNvSpPr>
          <p:nvPr/>
        </p:nvSpPr>
        <p:spPr>
          <a:xfrm>
            <a:off x="4362450" y="447675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A86284-7983-4441-80F4-11B57409B4F0}"/>
              </a:ext>
            </a:extLst>
          </p:cNvPr>
          <p:cNvSpPr>
            <a:spLocks noGrp="1"/>
          </p:cNvSpPr>
          <p:nvPr/>
        </p:nvSpPr>
        <p:spPr>
          <a:xfrm>
            <a:off x="4362450" y="45339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EDF992-BCB9-4E27-B81F-AAC0ECC542C2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189C9D-4CA0-4AAF-9FB2-FCDC73FE7A7E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284C30-895D-4DDA-A611-B70B2CC67FCD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652588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8BEB8A-8275-4122-8B17-215D74674248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46208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/ optional AI</a:t>
            </a:r>
          </a:p>
        </p:txBody>
      </p:sp>
    </p:spTree>
    <p:extLst>
      <p:ext uri="{BB962C8B-B14F-4D97-AF65-F5344CB8AC3E}">
        <p14:creationId xmlns:p14="http://schemas.microsoft.com/office/powerpoint/2010/main" val="43790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3ED900F-449E-4D58-BCDB-F52414FD3C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0729B-5FDD-4016-A1F4-A15735C3234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74809E-D318-4572-9FA5-6ADDE106BA8B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STUDENT • RETENTION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0D8074-4F60-4E2B-9A5D-02A60C83AAD7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CareerOS gives students reasons to return between applications.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C747E-AC69-4AF2-94AC-5A402EE03633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19C1FB-0579-439E-BA23-4D3CD0217E10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C977B-ABF1-4343-9713-F4F2EC62D16A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6BEA0-CD18-414F-A44E-3BAAB9ECFC2B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3235"/>
            <a:ext cx="6096000" cy="3811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C060A00-37AA-4A60-8D78-753B65317022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SETBACK → RETURN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06214-912D-4173-A2FA-8AA9739FE4AC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Community, mentorship, and learning can extend the relationship beyond vacancy browsing.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6CEC73-0E61-4141-8B2C-987BA35F0AFC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30524E-E64F-4A1E-9085-28D33B42E6E1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9FBE66-5ADD-41C7-A5B1-B98AB5B7681F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Normalise rejection and uncertainty through relevant peers.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90AD4C-502C-4FFE-B0F9-2FAF3B11A2CA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1CB9E4-53F9-469B-A7F7-88CBB79E1C5A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76CADE-739F-4DD8-9BA8-EB8706C8C60C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Find targeted support, advice, or mentorship.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B658A1-AF8D-41F2-BA9E-1586A6AF6FF3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352623-CC0A-4E65-91FE-E640462CBE09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A88AF-4E04-40AF-901B-51E09344DC15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Turn new activity into future Career Memory evidence.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1753F4-DA6A-4BC2-8DD4-7513941B5E37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34BF69-59B9-4196-A246-A1BE5BF2F739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continued evidence-building—not measured retention.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34D65-D64F-4B08-917B-7B5E258D3640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A0973-95AD-4ACB-BB43-D743883AF650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2A5306-FA05-4434-AFB8-88912DA3F602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962150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D16C8-98BC-4318-B21D-5765B3E94959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771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Community demo • loop future</a:t>
            </a:r>
          </a:p>
        </p:txBody>
      </p:sp>
    </p:spTree>
    <p:extLst>
      <p:ext uri="{BB962C8B-B14F-4D97-AF65-F5344CB8AC3E}">
        <p14:creationId xmlns:p14="http://schemas.microsoft.com/office/powerpoint/2010/main" val="126602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019C6F6-4516-4951-9C12-00C2F747B2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5804D-F21B-4694-A5CC-D5560AF17E4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FEB10-9BC3-4244-9724-305C75871222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EMPLOYER • DECISION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EDD87-B25F-4162-B972-01499C333A01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Employers need evidence and history—not another candidate database.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A2054-C2A7-438F-BB35-19D4159DBBD8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7600A-DF22-4F18-A32C-FEE26492A853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57602-C618-4F5C-86CE-189BAE22326F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447675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13621-63C8-4CF3-B10A-1DC20D72888B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2A9C2"/>
                </a:solidFill>
              </a:defRPr>
            </a:pPr>
            <a:r>
              <a:rPr sz="975" b="1">
                <a:solidFill>
                  <a:srgbClr val="12A9C2"/>
                </a:solidFill>
              </a:rPr>
              <a:t>THE CURRENT FAILURE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D8D5D-11E3-4D5A-B6CB-D192DA6152AD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3714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Early-talent decisions are weakest when every search starts from CV claims and zero context.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1A874-C435-405E-AD06-35E4E2FFD534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0566F"/>
                </a:solidFill>
              </a:defRPr>
            </a:pPr>
            <a:r>
              <a:rPr sz="1350" b="0">
                <a:solidFill>
                  <a:srgbClr val="40566F"/>
                </a:solidFill>
              </a:rPr>
              <a:t>Similar claims • limited work history • lost event context • urgent sourcing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1A902-E79F-44D3-B3D0-DF5A713E4D09}"/>
              </a:ext>
            </a:extLst>
          </p:cNvPr>
          <p:cNvSpPr>
            <a:spLocks noGrp="1"/>
          </p:cNvSpPr>
          <p:nvPr/>
        </p:nvSpPr>
        <p:spPr>
          <a:xfrm>
            <a:off x="5429250" y="1524000"/>
            <a:ext cx="6210300" cy="4095750"/>
          </a:xfrm>
          <a:prstGeom prst="rect">
            <a:avLst/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D5024B-E466-4508-AE67-8A6EA1400514}"/>
              </a:ext>
            </a:extLst>
          </p:cNvPr>
          <p:cNvSpPr>
            <a:spLocks noGrp="1"/>
          </p:cNvSpPr>
          <p:nvPr/>
        </p:nvSpPr>
        <p:spPr>
          <a:xfrm>
            <a:off x="5772150" y="1847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THE CAREEROS EMPLOYER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62757-2914-4ED3-B0F3-4219FD22C71A}"/>
              </a:ext>
            </a:extLst>
          </p:cNvPr>
          <p:cNvSpPr>
            <a:spLocks noGrp="1"/>
          </p:cNvSpPr>
          <p:nvPr/>
        </p:nvSpPr>
        <p:spPr>
          <a:xfrm>
            <a:off x="5772150" y="2266950"/>
            <a:ext cx="4953000" cy="400050"/>
          </a:xfrm>
          <a:prstGeom prst="rect">
            <a:avLst/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E5D8B8-A946-4F38-86C0-3AB6AC210E7F}"/>
              </a:ext>
            </a:extLst>
          </p:cNvPr>
          <p:cNvSpPr>
            <a:spLocks noGrp="1"/>
          </p:cNvSpPr>
          <p:nvPr/>
        </p:nvSpPr>
        <p:spPr>
          <a:xfrm>
            <a:off x="5943600" y="23717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Need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72D145-E352-47CD-8B23-1ECADA62CD89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2DCD21-6A6F-49AD-84DC-9ED698C25B57}"/>
              </a:ext>
            </a:extLst>
          </p:cNvPr>
          <p:cNvSpPr>
            <a:spLocks noGrp="1"/>
          </p:cNvSpPr>
          <p:nvPr/>
        </p:nvSpPr>
        <p:spPr>
          <a:xfrm>
            <a:off x="5943600" y="2952750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36DB5"/>
                </a:solidFill>
              </a:defRPr>
            </a:pPr>
            <a:r>
              <a:rPr sz="1275" b="1">
                <a:solidFill>
                  <a:srgbClr val="236DB5"/>
                </a:solidFill>
              </a:rPr>
              <a:t>Evidence-backed discovery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CC6DB1-5370-4089-BD41-46279F948D81}"/>
              </a:ext>
            </a:extLst>
          </p:cNvPr>
          <p:cNvSpPr>
            <a:spLocks noGrp="1"/>
          </p:cNvSpPr>
          <p:nvPr/>
        </p:nvSpPr>
        <p:spPr>
          <a:xfrm>
            <a:off x="5772150" y="3429000"/>
            <a:ext cx="4953000" cy="400050"/>
          </a:xfrm>
          <a:prstGeom prst="rect">
            <a:avLst/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E5B37C-7B60-4414-88E2-7666AB3406DE}"/>
              </a:ext>
            </a:extLst>
          </p:cNvPr>
          <p:cNvSpPr>
            <a:spLocks noGrp="1"/>
          </p:cNvSpPr>
          <p:nvPr/>
        </p:nvSpPr>
        <p:spPr>
          <a:xfrm>
            <a:off x="5943600" y="353377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Targeted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9AC5B6-237F-4568-8D61-13DCCCA198EC}"/>
              </a:ext>
            </a:extLst>
          </p:cNvPr>
          <p:cNvSpPr>
            <a:spLocks noGrp="1"/>
          </p:cNvSpPr>
          <p:nvPr/>
        </p:nvSpPr>
        <p:spPr>
          <a:xfrm>
            <a:off x="5772150" y="4010025"/>
            <a:ext cx="4953000" cy="400050"/>
          </a:xfrm>
          <a:prstGeom prst="rect">
            <a:avLst/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FA8BEE-45B2-4A43-B1EA-6DBBA9467F2E}"/>
              </a:ext>
            </a:extLst>
          </p:cNvPr>
          <p:cNvSpPr>
            <a:spLocks noGrp="1"/>
          </p:cNvSpPr>
          <p:nvPr/>
        </p:nvSpPr>
        <p:spPr>
          <a:xfrm>
            <a:off x="5943600" y="4114800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Decision history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C0512F-2C10-4799-853F-77ACEDCBB49B}"/>
              </a:ext>
            </a:extLst>
          </p:cNvPr>
          <p:cNvSpPr>
            <a:spLocks noGrp="1"/>
          </p:cNvSpPr>
          <p:nvPr/>
        </p:nvSpPr>
        <p:spPr>
          <a:xfrm>
            <a:off x="5772150" y="4591050"/>
            <a:ext cx="4953000" cy="400050"/>
          </a:xfrm>
          <a:prstGeom prst="rect">
            <a:avLst/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C94D19-0275-4FB1-BD4F-CC578DBF9D63}"/>
              </a:ext>
            </a:extLst>
          </p:cNvPr>
          <p:cNvSpPr>
            <a:spLocks noGrp="1"/>
          </p:cNvSpPr>
          <p:nvPr/>
        </p:nvSpPr>
        <p:spPr>
          <a:xfrm>
            <a:off x="5943600" y="46958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Reusable pipeline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20631E-0BC0-4103-BDF0-47BD484A7368}"/>
              </a:ext>
            </a:extLst>
          </p:cNvPr>
          <p:cNvSpPr>
            <a:spLocks noGrp="1"/>
          </p:cNvSpPr>
          <p:nvPr/>
        </p:nvSpPr>
        <p:spPr>
          <a:xfrm>
            <a:off x="5772150" y="501015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5AA8"/>
                </a:solidFill>
              </a:defRPr>
            </a:pPr>
            <a:r>
              <a:rPr sz="1200" b="1">
                <a:solidFill>
                  <a:srgbClr val="175AA8"/>
                </a:solidFill>
              </a:rPr>
              <a:t>Behaviour change: ask what supports fit—and what must be validated.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D79524-F4A7-4A5D-BEA8-B008E2974FE5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4ABB62-8DC3-4579-BDDA-D639361BF9E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3B6FAA-3719-4EA4-93A7-206714EDA435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333625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DE57A7-9F85-4A51-99FB-1E55841CCFC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143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candidate and match data</a:t>
            </a:r>
          </a:p>
        </p:txBody>
      </p:sp>
    </p:spTree>
    <p:extLst>
      <p:ext uri="{BB962C8B-B14F-4D97-AF65-F5344CB8AC3E}">
        <p14:creationId xmlns:p14="http://schemas.microsoft.com/office/powerpoint/2010/main" val="100376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B6A161C-92F2-4397-8379-BFFAF1AB1C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195A2-CBE8-4ACA-9118-6AA1AD06C9FF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07CC5-62F3-478D-BD45-52C22280EB8B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EMPLOYER • DISCOVERY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661F8-134B-4ACA-8B66-E35611C7B6A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 match should explain the evidence—and the uncertainty.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29292F-59CB-46A2-82E5-DA612D596481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B618E7-6D6A-4C92-A743-6EEF7E1180B9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74B36-33AC-4A8F-B474-2C4524E97632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23AC65-D3EB-4380-8926-31F26A8288DE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E88732-C869-4709-A927-F55EC89A877D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NEED → EXPLAINABLE FIT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C0DB9-3C25-4D59-B692-8654C7613712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Talent Discovery reframes ranking as an evidence-led validation plan.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82BC86-4C1B-429F-B52F-0A1A31C5A3BF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50CF0E-E006-4350-8224-FDBF5B5695DD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672C98-D4E4-4C9B-A332-B4E1E722AC1D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Start from a hiring need, not a generic candidate search.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61B57E-BA0F-4D26-9590-EF3D17062297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ABCA6-00EC-4154-B1E8-898506E70656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708134-58D9-4992-9543-668711F52AE2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Show supporting evidence, strengths, and gaps.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57D161-F5F2-44EF-8CA1-9F20DEADB5E9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662286-A805-4B0C-AA50-D8D3F9B4D145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2AC8E7-2F53-4575-B06C-2B99ABCE76AE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Prepare the next validation question before shortlisting.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61729D-E10D-49A2-91E6-06B5AA1FD070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AFBD20-3ED7-4089-9344-46F301510131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more structured, accountable screening.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3C154F-A716-4BA7-B245-9D3F5466D4C4}"/>
              </a:ext>
            </a:extLst>
          </p:cNvPr>
          <p:cNvSpPr>
            <a:spLocks noGrp="1"/>
          </p:cNvSpPr>
          <p:nvPr/>
        </p:nvSpPr>
        <p:spPr>
          <a:xfrm>
            <a:off x="3981450" y="414337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A94358-4F92-4912-A18C-348E77C0BE3E}"/>
              </a:ext>
            </a:extLst>
          </p:cNvPr>
          <p:cNvSpPr>
            <a:spLocks noGrp="1"/>
          </p:cNvSpPr>
          <p:nvPr/>
        </p:nvSpPr>
        <p:spPr>
          <a:xfrm>
            <a:off x="3981450" y="420052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16C5A0-EBF3-42D4-8F6D-BA8BBA993DDE}"/>
              </a:ext>
            </a:extLst>
          </p:cNvPr>
          <p:cNvSpPr>
            <a:spLocks noGrp="1"/>
          </p:cNvSpPr>
          <p:nvPr/>
        </p:nvSpPr>
        <p:spPr>
          <a:xfrm>
            <a:off x="5410200" y="50006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EFE2A5-2B63-4970-BD71-6F274758225A}"/>
              </a:ext>
            </a:extLst>
          </p:cNvPr>
          <p:cNvSpPr>
            <a:spLocks noGrp="1"/>
          </p:cNvSpPr>
          <p:nvPr/>
        </p:nvSpPr>
        <p:spPr>
          <a:xfrm>
            <a:off x="5410200" y="50577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514FA-B122-48F4-AAEB-3AE24241DCE4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44B855-F9D5-4A8E-B4EE-A1BAF90271E0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60519-AEF8-429E-9617-D089C1B750F2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271713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E2ADBA-DB0E-4B75-9017-0E2ADEC1229B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08121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matching and candidates</a:t>
            </a:r>
          </a:p>
        </p:txBody>
      </p:sp>
    </p:spTree>
    <p:extLst>
      <p:ext uri="{BB962C8B-B14F-4D97-AF65-F5344CB8AC3E}">
        <p14:creationId xmlns:p14="http://schemas.microsoft.com/office/powerpoint/2010/main" val="22651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DD5CF95-A58D-4BB9-B5F6-C949BF386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94A872-C023-43DF-BDA9-C889C89FFBF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ABDDE0-BAA4-4308-A068-435B6F4AFE86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EMPLOYER •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E4EAD4-3FED-43DD-8B73-6E91DC9791F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CareerOS preserves why a candidate moved—not only where they 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7340C-67FB-41BD-A0AE-4240561E9A0C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DD1AD-F555-4103-B5CD-9FAC7DF1F9F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9D028-6AB5-4F00-B3AA-CFB10C50F9F6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71881-FB82-407B-B163-02DDA0948376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7DED5C-35BE-4AB1-ABE1-7517E12DC1C9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FIT → DECISION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129B66-4B80-43E2-9760-327FEACAF5C1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rationale must survive the handoff into candidate stages and team review.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62DF5A-DC9B-4810-9AD3-C79577DEE977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F1772D-2C49-4860-8D34-F920B45AE047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CE88A-604E-4A11-832B-007920F2B3FA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Retain shortlist or pass decisions with context.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BC46BB-E082-463D-827C-B8509F754ADE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29BA8-3777-4544-886B-AB27978736A3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8C6EF9-8FD7-424A-9F67-8C8388EE3F0C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Carry gaps and validation questions forward.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A09959-084A-46D1-9258-CCE7CCAE9071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6839AE-2551-49A9-9E51-B405A107AEAA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FC21B9-DB63-4841-B07C-0259CBBFCE8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Keep the next decision-maker from repeating the same review.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1D4A26-CBB1-4203-809C-7FF6A154A3F3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6F7EBE-7C1C-433A-BBF8-FA3C47AE58F3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Expected impact: cleaner handoffs; ATS integration remains future.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B9520D-49BA-4011-8F7C-F6DC9AB4136B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538BF9-66C9-44F2-9845-1BAF976E34F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5D329B-C8C5-463B-9551-C57E0C4ABE8F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714500" cy="200025"/>
          </a:xfrm>
          <a:prstGeom prst="rect">
            <a:avLst/>
          </a:prstGeom>
          <a:solidFill>
            <a:srgbClr val="D8F3F6"/>
          </a:solidFill>
          <a:ln w="9525">
            <a:solidFill>
              <a:srgbClr val="D8F3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E75F5D-45CE-40A1-8654-EB1CBB201A43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524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007E91"/>
                </a:solidFill>
              </a:defRPr>
            </a:pPr>
            <a:r>
              <a:rPr sz="750" b="1">
                <a:solidFill>
                  <a:srgbClr val="007E91"/>
                </a:solidFill>
              </a:rPr>
              <a:t>Demonstrated local state</a:t>
            </a:r>
          </a:p>
        </p:txBody>
      </p:sp>
    </p:spTree>
    <p:extLst>
      <p:ext uri="{BB962C8B-B14F-4D97-AF65-F5344CB8AC3E}">
        <p14:creationId xmlns:p14="http://schemas.microsoft.com/office/powerpoint/2010/main" val="751505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9DA07E-0F57-447A-834A-9CAA08ECB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A2E172-6C59-4E07-AFD2-7CF52F388D6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F612D-35D9-4ED2-95B2-08BB6A2E1258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EMPLOYER • RELATIONSHIP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CBCAD3-340C-40F6-8FE4-35A04726F8B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Prior engagement becomes a renewable talent asset.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E191F-7510-4B92-AE55-CEE8C25BEE67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9D2D9-E364-47BF-8433-4B3BA1DF593F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2D57B8-498F-42B6-9ED3-82E49408890B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476ED-5AEA-41B7-9871-E629E4A094E1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A0BB04-9C97-4069-BD06-9D1EC87F3C98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HISTORY → REACTIVATION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F8B89-4904-42DA-8561-6A78199FF167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An urgent vacancy should not erase every previous challenge or candidate interaction.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66452-6891-4611-A3FC-FB1A691150C9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759EC0-8A77-439B-9B0F-DB917CAB6932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70759A-6246-42F8-9264-EE8410CDBDE3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Surface warm candidates with prior relationship context.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C14FA5-6280-4F61-A76B-469042DD4FB0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83C423-F588-4737-B931-F4BF075D5740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EE51A-F4D6-4B99-837B-9DBB1AB9CBD9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Explain why the renewed need matches earlier evidence.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756B7-29C1-4607-8AB6-B2C277BF6CDC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990670-FF50-47D8-BA99-C6A8C505BB05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191875-C8D1-452C-8B8D-37EC28FE9CBE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Reconnect engagement design, pipeline action, and learning.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CC70E4-6A8E-4A90-B232-734AA6590910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BC17BA-FBAA-4416-B9E5-1C72D886B73C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restart from context—not from zero.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325FB4-6131-4280-92D4-752C54B03CB4}"/>
              </a:ext>
            </a:extLst>
          </p:cNvPr>
          <p:cNvSpPr>
            <a:spLocks noGrp="1"/>
          </p:cNvSpPr>
          <p:nvPr/>
        </p:nvSpPr>
        <p:spPr>
          <a:xfrm>
            <a:off x="5124450" y="295275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8CDFCC-4152-485B-84A9-001F2AE6088A}"/>
              </a:ext>
            </a:extLst>
          </p:cNvPr>
          <p:cNvSpPr>
            <a:spLocks noGrp="1"/>
          </p:cNvSpPr>
          <p:nvPr/>
        </p:nvSpPr>
        <p:spPr>
          <a:xfrm>
            <a:off x="5124450" y="30099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1B3237-D81A-4C69-96F9-1C16F52FCB32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69D907-FFC7-4895-985D-DAB0AF4A0BAB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E5434-86C1-4612-A933-05B9329F884D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147888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512D32-CEC2-4CFB-98ED-27F69B4C8C8A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95738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rewarming and sending</a:t>
            </a:r>
          </a:p>
        </p:txBody>
      </p:sp>
    </p:spTree>
    <p:extLst>
      <p:ext uri="{BB962C8B-B14F-4D97-AF65-F5344CB8AC3E}">
        <p14:creationId xmlns:p14="http://schemas.microsoft.com/office/powerpoint/2010/main" val="1970052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6C0C754-C325-4037-BCD2-09EE2E30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DF1DA8-29B4-4729-A0B1-59D32AE3FBA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B370E-F460-4602-AF89-B377E4BCF0C0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DECISION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8C77A-6C73-48F5-BAD2-ABD1002020D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Universities need time to act—not another annual report.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96EEE-B792-4972-BF80-DC593721482B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085458-B86B-4509-8C61-6A296CB31DB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35B50-1614-4C04-991B-424B8555FB0B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By the time an outcome appears in a report, the current cohort may already have lost the intervention window.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07C3F-F02A-44C4-9698-6BA88846CE4A}"/>
              </a:ext>
            </a:extLst>
          </p:cNvPr>
          <p:cNvSpPr>
            <a:spLocks noGrp="1"/>
          </p:cNvSpPr>
          <p:nvPr/>
        </p:nvSpPr>
        <p:spPr>
          <a:xfrm>
            <a:off x="476250" y="2857500"/>
            <a:ext cx="1905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A3DA34-81D2-44D5-9349-81E801A4CEB1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DETECT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11479-5B06-48D2-BDC5-1324A88C0CA4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Readiness and market signals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D21E89-9AB9-471D-9B34-6FF1E9661DEF}"/>
              </a:ext>
            </a:extLst>
          </p:cNvPr>
          <p:cNvSpPr>
            <a:spLocks noGrp="1"/>
          </p:cNvSpPr>
          <p:nvPr/>
        </p:nvSpPr>
        <p:spPr>
          <a:xfrm>
            <a:off x="2819400" y="2857500"/>
            <a:ext cx="1905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1A665D-344E-46AA-9810-63EE3C9E70BC}"/>
              </a:ext>
            </a:extLst>
          </p:cNvPr>
          <p:cNvSpPr>
            <a:spLocks noGrp="1"/>
          </p:cNvSpPr>
          <p:nvPr/>
        </p:nvSpPr>
        <p:spPr>
          <a:xfrm>
            <a:off x="2990850" y="3105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ASSIGN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4E6B67-F4EA-4C6E-B221-6FE00262B804}"/>
              </a:ext>
            </a:extLst>
          </p:cNvPr>
          <p:cNvSpPr>
            <a:spLocks noGrp="1"/>
          </p:cNvSpPr>
          <p:nvPr/>
        </p:nvSpPr>
        <p:spPr>
          <a:xfrm>
            <a:off x="299085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Named owner and deadline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F08EC-A9A8-4470-BC97-8267D9FE4356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1905000" cy="1485900"/>
          </a:xfrm>
          <a:prstGeom prst="rect">
            <a:avLst/>
          </a:prstGeom>
          <a:solidFill>
            <a:srgbClr val="EEF2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A5F52-148A-479D-9A75-FC063C5F06E5}"/>
              </a:ext>
            </a:extLst>
          </p:cNvPr>
          <p:cNvSpPr>
            <a:spLocks noGrp="1"/>
          </p:cNvSpPr>
          <p:nvPr/>
        </p:nvSpPr>
        <p:spPr>
          <a:xfrm>
            <a:off x="5334000" y="3105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36DB5"/>
                </a:solidFill>
              </a:defRPr>
            </a:pPr>
            <a:r>
              <a:rPr sz="975" b="1">
                <a:solidFill>
                  <a:srgbClr val="236DB5"/>
                </a:solidFill>
              </a:rPr>
              <a:t>INTERVENE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1064AF-142A-4DCD-946C-06CE2DE50C35}"/>
              </a:ext>
            </a:extLst>
          </p:cNvPr>
          <p:cNvSpPr>
            <a:spLocks noGrp="1"/>
          </p:cNvSpPr>
          <p:nvPr/>
        </p:nvSpPr>
        <p:spPr>
          <a:xfrm>
            <a:off x="53340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Current-cohort 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997370-1265-407F-82D8-229529B19E4E}"/>
              </a:ext>
            </a:extLst>
          </p:cNvPr>
          <p:cNvSpPr>
            <a:spLocks noGrp="1"/>
          </p:cNvSpPr>
          <p:nvPr/>
        </p:nvSpPr>
        <p:spPr>
          <a:xfrm>
            <a:off x="7505700" y="2857500"/>
            <a:ext cx="1905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692F93-12CF-47DF-AEFD-7723B27C82C8}"/>
              </a:ext>
            </a:extLst>
          </p:cNvPr>
          <p:cNvSpPr>
            <a:spLocks noGrp="1"/>
          </p:cNvSpPr>
          <p:nvPr/>
        </p:nvSpPr>
        <p:spPr>
          <a:xfrm>
            <a:off x="7677150" y="3105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17333F-C1CA-49BB-9513-58DF314A9A3A}"/>
              </a:ext>
            </a:extLst>
          </p:cNvPr>
          <p:cNvSpPr>
            <a:spLocks noGrp="1"/>
          </p:cNvSpPr>
          <p:nvPr/>
        </p:nvSpPr>
        <p:spPr>
          <a:xfrm>
            <a:off x="767715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Reusable institutional record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EE9C48-BA75-412D-99D3-5F0A946C7E67}"/>
              </a:ext>
            </a:extLst>
          </p:cNvPr>
          <p:cNvSpPr>
            <a:spLocks noGrp="1"/>
          </p:cNvSpPr>
          <p:nvPr/>
        </p:nvSpPr>
        <p:spPr>
          <a:xfrm>
            <a:off x="9848850" y="2857500"/>
            <a:ext cx="19050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D43425-4F82-4538-870C-5A4108EC00D6}"/>
              </a:ext>
            </a:extLst>
          </p:cNvPr>
          <p:cNvSpPr>
            <a:spLocks noGrp="1"/>
          </p:cNvSpPr>
          <p:nvPr/>
        </p:nvSpPr>
        <p:spPr>
          <a:xfrm>
            <a:off x="10020300" y="31051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B953AA-48DE-44B3-B8D8-37B17317ADAA}"/>
              </a:ext>
            </a:extLst>
          </p:cNvPr>
          <p:cNvSpPr>
            <a:spLocks noGrp="1"/>
          </p:cNvSpPr>
          <p:nvPr/>
        </p:nvSpPr>
        <p:spPr>
          <a:xfrm>
            <a:off x="100203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Learn and govern change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E32E54-4824-4FC7-9DD9-F203C60C5F80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Critical principle: help the current cohort now while governing longer-term programme change.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0B8ABD-07E3-4818-B339-DDDAD4E1F143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33763E-BB53-4DB9-AF85-C4266FB002E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CF0750-B50F-43D2-8EEA-309F297141E7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962150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808E01-067E-454A-B925-11F987904DC0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771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institutional data</a:t>
            </a:r>
          </a:p>
        </p:txBody>
      </p:sp>
    </p:spTree>
    <p:extLst>
      <p:ext uri="{BB962C8B-B14F-4D97-AF65-F5344CB8AC3E}">
        <p14:creationId xmlns:p14="http://schemas.microsoft.com/office/powerpoint/2010/main" val="686413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4AF2CE9-B8DE-41A9-8BB1-CBB18D1CC9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858F07-A88D-4AF4-8254-1E212001FC3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EB03C-D1BF-476B-9381-ECBDB986E052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STUDENT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70D2E-FFC5-409E-AB9C-83D5965FF4C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 risk signal matters only when someone owns the next intervention.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9A3388-6819-49DB-B3A5-9C9F38F8172E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40F9F-74C6-4838-99A0-E7CDBB9C29B3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D9509-B5FD-40AE-9257-14CDA759C26B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1262B0-6F75-4CFC-A968-6B254BE703DF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5305E5-5EFA-4CAD-8B5C-5B85D2F2C21E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SIGNAL → OWNERSHIP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E00158-BF09-464B-A1A2-FCCD14754D20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Student Readiness links cohort evidence to an accountable action.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37D7D2-0856-416B-A14C-1B8E46B6A322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324FA1-5590-4E87-B793-1B7F046E7F5F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676CF-62D7-40A4-9DD5-8BF0851358E0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Separate academic and employability signals.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A48771-2827-423C-A821-6AF527B00D5A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2C4683-A86E-4026-931B-5403FBC138BE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0EC0CA-C6A8-4ADA-B5B5-D1481AF941CF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Drill into a cohort or student risk context.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503C86-7C30-458A-9762-6076B04699FD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FF1D5A-C37B-4AF9-80FB-D3C6C7874F0C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BA15D9-98E1-47FF-B9EB-74430A3830EB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Assign an intervention, owner, deadline, and status.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EB6B9-0214-4FBD-9AC0-0FDF3FB84BC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834013-E6D6-43B5-A768-8B7E35341931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Safeguards required: consent, access, correction, and fairness.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14468A-3AD1-4969-A4CB-4A6C3D676027}"/>
              </a:ext>
            </a:extLst>
          </p:cNvPr>
          <p:cNvSpPr>
            <a:spLocks noGrp="1"/>
          </p:cNvSpPr>
          <p:nvPr/>
        </p:nvSpPr>
        <p:spPr>
          <a:xfrm>
            <a:off x="7715250" y="42386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55C110-93FA-4B36-9551-A00236DB20BD}"/>
              </a:ext>
            </a:extLst>
          </p:cNvPr>
          <p:cNvSpPr>
            <a:spLocks noGrp="1"/>
          </p:cNvSpPr>
          <p:nvPr/>
        </p:nvSpPr>
        <p:spPr>
          <a:xfrm>
            <a:off x="7715250" y="42957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073019-E613-4EE8-A35C-64E1A77EF3AC}"/>
              </a:ext>
            </a:extLst>
          </p:cNvPr>
          <p:cNvSpPr>
            <a:spLocks noGrp="1"/>
          </p:cNvSpPr>
          <p:nvPr/>
        </p:nvSpPr>
        <p:spPr>
          <a:xfrm>
            <a:off x="10096500" y="44291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AACD87-9F39-4A52-9E91-08450F84A987}"/>
              </a:ext>
            </a:extLst>
          </p:cNvPr>
          <p:cNvSpPr>
            <a:spLocks noGrp="1"/>
          </p:cNvSpPr>
          <p:nvPr/>
        </p:nvSpPr>
        <p:spPr>
          <a:xfrm>
            <a:off x="10096500" y="44862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83C812-319A-448D-A4A9-D1EBAD2BAFEC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BBC551-AF35-4469-A0F8-69BBDF782C78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FFF85B-7B13-4DB4-B168-08C2FD00AC01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776413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8C35F5-8E02-43FC-A4AA-249CDB5130F7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58591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Demo workflow • mock data</a:t>
            </a:r>
          </a:p>
        </p:txBody>
      </p:sp>
    </p:spTree>
    <p:extLst>
      <p:ext uri="{BB962C8B-B14F-4D97-AF65-F5344CB8AC3E}">
        <p14:creationId xmlns:p14="http://schemas.microsoft.com/office/powerpoint/2010/main" val="9421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D86B10C-EEB1-4507-B98E-F79F62364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290D3C-E910-4B7E-8C95-F930E3299854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20FFD-0366-44D3-B145-CAD4C8BD6584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CURRICULUM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27B19-5F00-4D29-AEF5-743E4B2237B5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 curriculum gap needs two clocks: help now, reform properly.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AD227-73D9-462A-8F0B-7F5D85D42543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78180-5382-41EA-9892-06ED2A3924F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DCEE59-7DED-4BAB-8301-C7FE327CEC4D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6748D-F976-4174-BEA9-66BFE7270606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F25436-BC0F-442A-AE7C-2838B81AF2EC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DEMAND → TWO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C4A14C-4259-4B5B-9DED-360E3DD981B8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Curriculum-Market Alignment separates current-cohort support from governed programme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FFE52-866D-48C4-97FB-5A043B7BD95B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D3EB1E-B72D-4AF3-BA31-4DC5E58E7BFF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2F811E-6821-4E99-9362-3BB0EF01606C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Trace the gap to demand, coverage, and outcome signals.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1978C1-5CE6-45F6-AD61-8B87D60BD666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5614A2-A94E-432E-8980-966D0F436784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578CDF-31A0-49AD-811D-B9EA28CEEDC5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Act now through workshops, challenges, or partnerships.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3A19F7-BB9D-4ACE-889E-F8FA4E0CC6C1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D884D-2A3B-410A-B353-DE97F7BDFF7F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2E8DBC-AB5E-40C4-BCF1-2F324A68045B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Build the evidence pack and roadmap for formal reform.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4E47CF-36F7-48F2-9929-5F7274A50CC1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D67BB-97CA-454B-8706-AA7DA1E0E803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Behaviour change: market intelligence becomes a prioritised response.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9B6420-2EC1-43EA-A2EA-8AB8840E60EC}"/>
              </a:ext>
            </a:extLst>
          </p:cNvPr>
          <p:cNvSpPr>
            <a:spLocks noGrp="1"/>
          </p:cNvSpPr>
          <p:nvPr/>
        </p:nvSpPr>
        <p:spPr>
          <a:xfrm>
            <a:off x="1457325" y="44291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A4E09A-9FA0-47BE-9DD0-78CE5A7E38CE}"/>
              </a:ext>
            </a:extLst>
          </p:cNvPr>
          <p:cNvSpPr>
            <a:spLocks noGrp="1"/>
          </p:cNvSpPr>
          <p:nvPr/>
        </p:nvSpPr>
        <p:spPr>
          <a:xfrm>
            <a:off x="1457325" y="44862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B0D4C0-746D-43E0-9CBE-459A4B3C5071}"/>
              </a:ext>
            </a:extLst>
          </p:cNvPr>
          <p:cNvSpPr>
            <a:spLocks noGrp="1"/>
          </p:cNvSpPr>
          <p:nvPr/>
        </p:nvSpPr>
        <p:spPr>
          <a:xfrm>
            <a:off x="5314950" y="328612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8F8F27-E35A-4DC2-85B6-4D4FF1DB2462}"/>
              </a:ext>
            </a:extLst>
          </p:cNvPr>
          <p:cNvSpPr>
            <a:spLocks noGrp="1"/>
          </p:cNvSpPr>
          <p:nvPr/>
        </p:nvSpPr>
        <p:spPr>
          <a:xfrm>
            <a:off x="5314950" y="33432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558E94-DE70-468C-991B-C57C79A5D54E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DC7B16-0D49-470B-B08F-E7FDB1D26528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0FBE85-1ADD-4E29-9DFC-CF5F0446C425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333625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BC6C68-1FC2-477C-9A76-1B4F1C85A710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143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demand and coverage data</a:t>
            </a:r>
          </a:p>
        </p:txBody>
      </p:sp>
    </p:spTree>
    <p:extLst>
      <p:ext uri="{BB962C8B-B14F-4D97-AF65-F5344CB8AC3E}">
        <p14:creationId xmlns:p14="http://schemas.microsoft.com/office/powerpoint/2010/main" val="1703138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0213A34-9A45-47B4-A7D6-DF14C7D055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F4188A-DF99-409E-B327-09083CA9BE71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7AB9F-AC2B-4FC7-B2C6-14220243F17C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LEARNING AND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5D8DEC-D014-40C3-906C-2D648C73C30B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Alumni feedback needs an action channel—not another endpoint.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7F38D-A48D-44B8-989D-6B27FAB32C41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88F30-F0C3-4ED7-8FEA-3DAC958D4200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AB360-CCE1-4000-9878-5DD897C06D4F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C2358-BCEB-431C-B717-4E933FD45298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22906F-3F74-4A74-A8B9-8CC2F7ED9016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OUTCOME → PARTNERSHIP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B3B144-827C-4121-87E7-0F2924E7582F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Alumni Signals and collaboration workflows connect learning to a named response.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3AE37-DC69-455C-BD44-C1FBBAECC325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124D4-B83E-4021-8AC4-E3C3C0E3BEAC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3A195-770A-43E4-A811-A7C9912EF61B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Identify patterns worth investigating, not causal proof.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A4253-2EEE-481A-9D54-E74362A5A227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B2F844-A9EE-4636-946A-3D9B4C6C96A3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3DC9B3-8A2E-4C1C-8EAB-0E84DD27E4F5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Route findings into curriculum or partnership decisions.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5D0217-6C2B-4F04-BAA1-4FDD3E5D4FA8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59EA17-30A5-4867-ACEF-CFB5FCA5D408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D3173D-BA22-4783-BC48-86B8534966A8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Design collaborations against a gap and preserve event evidence.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E2B32-3BD4-4C89-A3C2-CF99912F7240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B7F53B-8DEF-45AE-9C21-DEB712E2CBA8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more purposeful partnerships and outcome learning.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1E23D3-7804-4412-B447-25D2DC2D37AA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2FA586-7727-4555-B066-2A242A225A7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2B0C87-5B8F-48D2-8951-A8BE29535D72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552700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8EBAC-3A2B-4645-89FD-A590038A9C97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362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Illustrative analytics • outreach simulated</a:t>
            </a:r>
          </a:p>
        </p:txBody>
      </p:sp>
    </p:spTree>
    <p:extLst>
      <p:ext uri="{BB962C8B-B14F-4D97-AF65-F5344CB8AC3E}">
        <p14:creationId xmlns:p14="http://schemas.microsoft.com/office/powerpoint/2010/main" val="146306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1D88E79-143C-47E1-A763-3C10B8F6E9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2B542-4A17-429F-80DF-282AC87CA6F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B61E4-F9F8-4D09-8C66-0C13938D8B8A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EVIDENCE REUSE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63B9A-2D25-401D-AF55-8D530397240F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Institutional evidence should not be rebuilt for every deadline.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C3AC1-9C34-4431-A4D2-D622EEF3F5EF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D7E5B-8588-4C41-8EDA-05615261B0E3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D2BBE5-E2D2-4A97-8862-FF8C9AFE1D4D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C066C-19B1-4A8F-A6A9-900B0183D283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EE67F7-91C8-493D-A87C-E710BC0A2462}"/>
              </a:ext>
            </a:extLst>
          </p:cNvPr>
          <p:cNvSpPr>
            <a:spLocks noGrp="1"/>
          </p:cNvSpPr>
          <p:nvPr/>
        </p:nvSpPr>
        <p:spPr>
          <a:xfrm>
            <a:off x="7191375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ACTION → REUSABLE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2F0ED5-123F-4AB0-91A7-935E2589808B}"/>
              </a:ext>
            </a:extLst>
          </p:cNvPr>
          <p:cNvSpPr>
            <a:spLocks noGrp="1"/>
          </p:cNvSpPr>
          <p:nvPr/>
        </p:nvSpPr>
        <p:spPr>
          <a:xfrm>
            <a:off x="7191375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The Accreditation Hub models readiness, ownership, gaps, and evidence reuse.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51E688-617B-491C-8A13-5A25F1E48DA7}"/>
              </a:ext>
            </a:extLst>
          </p:cNvPr>
          <p:cNvSpPr>
            <a:spLocks noGrp="1"/>
          </p:cNvSpPr>
          <p:nvPr/>
        </p:nvSpPr>
        <p:spPr>
          <a:xfrm>
            <a:off x="7191375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CBE7E-5143-4364-98EA-789C96F9F043}"/>
              </a:ext>
            </a:extLst>
          </p:cNvPr>
          <p:cNvSpPr>
            <a:spLocks noGrp="1"/>
          </p:cNvSpPr>
          <p:nvPr/>
        </p:nvSpPr>
        <p:spPr>
          <a:xfrm>
            <a:off x="7305675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0F0C7-CFB6-4477-86D6-D57B2A3F1B62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Map requirements to source, owner, period, and completeness.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3BBD5-9DCC-45DE-BE65-96352E621F93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4F2E11-D1B9-435C-BE51-E2A53A3A705D}"/>
              </a:ext>
            </a:extLst>
          </p:cNvPr>
          <p:cNvSpPr>
            <a:spLocks noGrp="1"/>
          </p:cNvSpPr>
          <p:nvPr/>
        </p:nvSpPr>
        <p:spPr>
          <a:xfrm>
            <a:off x="7305675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4411AE-3B6D-427D-93BC-D3A20D817148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Expose missing evidence and the responsible person.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328944-54A4-4FF1-9118-1207C3857416}"/>
              </a:ext>
            </a:extLst>
          </p:cNvPr>
          <p:cNvSpPr>
            <a:spLocks noGrp="1"/>
          </p:cNvSpPr>
          <p:nvPr/>
        </p:nvSpPr>
        <p:spPr>
          <a:xfrm>
            <a:off x="7191375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000E41-4ED8-49ED-A17F-B5F806F7FC8E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45FEDB-4140-4ECB-B918-AA7337F6BC9D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Reuse curriculum, readiness, alumni, and partnership evidence.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5B66AB-4E0B-450F-A85E-83770A3B3914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B0BFD-0D30-47B1-8606-8B6D61BE5E4B}"/>
              </a:ext>
            </a:extLst>
          </p:cNvPr>
          <p:cNvSpPr>
            <a:spLocks noGrp="1"/>
          </p:cNvSpPr>
          <p:nvPr/>
        </p:nvSpPr>
        <p:spPr>
          <a:xfrm>
            <a:off x="7362825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Designed impact: less repeated preparation; savings are not measured.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D64372-A8C8-4C87-AD70-B2F4FF847CF9}"/>
              </a:ext>
            </a:extLst>
          </p:cNvPr>
          <p:cNvSpPr>
            <a:spLocks noGrp="1"/>
          </p:cNvSpPr>
          <p:nvPr/>
        </p:nvSpPr>
        <p:spPr>
          <a:xfrm>
            <a:off x="5029200" y="428625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FE8D46-92C2-4175-809A-ADFA6BC056B5}"/>
              </a:ext>
            </a:extLst>
          </p:cNvPr>
          <p:cNvSpPr>
            <a:spLocks noGrp="1"/>
          </p:cNvSpPr>
          <p:nvPr/>
        </p:nvSpPr>
        <p:spPr>
          <a:xfrm>
            <a:off x="5029200" y="43434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84230-A610-49EC-AADE-B11042A7B8BE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ED188-AE16-4EBD-8D44-4BC33313C9D8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F57ECB-AC38-4CF4-904A-3671FFCB8407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024063" cy="200025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A256A1-E050-4947-8275-9A46D21EF1E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83356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B45309"/>
                </a:solidFill>
              </a:defRPr>
            </a:pPr>
            <a:r>
              <a:rPr sz="750" b="1">
                <a:solidFill>
                  <a:srgbClr val="B45309"/>
                </a:solidFill>
              </a:rPr>
              <a:t>Simulated operational effects</a:t>
            </a:r>
          </a:p>
        </p:txBody>
      </p:sp>
    </p:spTree>
    <p:extLst>
      <p:ext uri="{BB962C8B-B14F-4D97-AF65-F5344CB8AC3E}">
        <p14:creationId xmlns:p14="http://schemas.microsoft.com/office/powerpoint/2010/main" val="874105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1D7567F-8C0F-4D25-ABF2-28F26F42A4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866CB3-649A-4A4A-800D-CF9817BFEBC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630E4D-8866-4833-B7C8-CC4D14ED5810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UNIVERSITY • GOVERNED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32BA2-8029-4E28-8691-08CD25F90EE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Leaders need prepared decisions—not another page of charts.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8C305-1B43-485A-ADE7-73D8841AA681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129F9-DE35-4E82-93A2-09B4EBDF352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A18D8-76D3-4930-A0C7-3C30F44D1556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4314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5A6AC1-9343-466B-B92B-E52A2FEAEB22}"/>
              </a:ext>
            </a:extLst>
          </p:cNvPr>
          <p:cNvSpPr>
            <a:spLocks noGrp="1"/>
          </p:cNvSpPr>
          <p:nvPr/>
        </p:nvSpPr>
        <p:spPr>
          <a:xfrm>
            <a:off x="5334000" y="1571625"/>
            <a:ext cx="6324600" cy="66675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824038"/>
            <a:ext cx="6096000" cy="381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4C6C06-4338-45F3-BA64-6C04D1EF2566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2A9C2"/>
                </a:solidFill>
              </a:defRPr>
            </a:pPr>
            <a:r>
              <a:rPr sz="1050" b="1">
                <a:solidFill>
                  <a:srgbClr val="12A9C2"/>
                </a:solidFill>
              </a:rPr>
              <a:t>GOAL → HUMAN DECISION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F1EA71-4A37-44A4-9474-689BF6FEC6B6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The AI Office reframes institutional intelligence as job-shaped work with approval.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0BB5A-317F-4E69-BF30-557E438B32A0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F37C10-B667-435A-8E55-1708ABC732B4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277F5C-E417-4789-9300-510BE2432E87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Route goals to Student Success, Curriculum, Alumni, Partnerships, or Accreditation.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08767A-0F75-4464-98F4-EAF27E378D1F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09467B-A77D-4FDA-9CA3-AEFC0267D9E0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80180C-D20E-4537-AC90-4762D48C4FE4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Prepare context and trade-offs across functions.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9C7B8D-53DB-4EC2-B75A-3545A6B72E48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6AD09C-AF4E-4D0E-A789-525F44A30660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86200-8FB0-4302-A7A0-C1FE0F1C4915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Require human approval before external effect.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9DC0B8-B479-4F49-87CD-3591394C0D9F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4333875" cy="6667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E19EEF-3174-44EE-A85D-F8F63CBEC37A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3990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Interaction model demonstrated; persistent autonomous work is future.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D1B559-2DDC-4968-A637-A8A466F78EE7}"/>
              </a:ext>
            </a:extLst>
          </p:cNvPr>
          <p:cNvSpPr>
            <a:spLocks noGrp="1"/>
          </p:cNvSpPr>
          <p:nvPr/>
        </p:nvSpPr>
        <p:spPr>
          <a:xfrm>
            <a:off x="8477250" y="3524250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E074EC-53A2-47E2-9CCB-E22886A05E40}"/>
              </a:ext>
            </a:extLst>
          </p:cNvPr>
          <p:cNvSpPr>
            <a:spLocks noGrp="1"/>
          </p:cNvSpPr>
          <p:nvPr/>
        </p:nvSpPr>
        <p:spPr>
          <a:xfrm>
            <a:off x="8477250" y="35814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654750-4BC7-464F-B6D0-E9AC1E46522F}"/>
              </a:ext>
            </a:extLst>
          </p:cNvPr>
          <p:cNvSpPr>
            <a:spLocks noGrp="1"/>
          </p:cNvSpPr>
          <p:nvPr/>
        </p:nvSpPr>
        <p:spPr>
          <a:xfrm>
            <a:off x="10096500" y="2428875"/>
            <a:ext cx="238125" cy="238125"/>
          </a:xfrm>
          <a:prstGeom prst="rect">
            <a:avLst/>
          </a:prstGeom>
          <a:solidFill>
            <a:srgbClr val="17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737CE7-61B9-4751-B526-1F0970D19FF8}"/>
              </a:ext>
            </a:extLst>
          </p:cNvPr>
          <p:cNvSpPr>
            <a:spLocks noGrp="1"/>
          </p:cNvSpPr>
          <p:nvPr/>
        </p:nvSpPr>
        <p:spPr>
          <a:xfrm>
            <a:off x="10096500" y="248602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DA3107-58DD-4987-BCB0-0F1E28A210C0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68FADD-1F96-44BC-94AB-9D737E8574F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4EE664-1386-43F6-AC6E-05F84AE7081F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552700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5500C6-212A-4690-825B-25673D4F8839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362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Scripted / optional AI • autonomy future</a:t>
            </a:r>
          </a:p>
        </p:txBody>
      </p:sp>
    </p:spTree>
    <p:extLst>
      <p:ext uri="{BB962C8B-B14F-4D97-AF65-F5344CB8AC3E}">
        <p14:creationId xmlns:p14="http://schemas.microsoft.com/office/powerpoint/2010/main" val="889435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604ABD1-DF93-42FF-897D-7E5CC1CB7B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850454-3C21-4E11-90D5-87D72BC4936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2BED0-C44A-47F9-BEB7-53E3088DE048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CONNECTED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AF4C3-754F-44DB-8714-FAEE128C8F5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CareerOS becomes more than three workspaces when evidence survives the handoff.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98E48-44BB-4436-A6AD-A82269382DA9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73164-B72A-409A-8660-23849BB74943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D7B67-6E1D-4ECC-A6F8-669786D17091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2476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B8480-8590-47EE-AA64-9CBDE7FAC9AA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A9C2"/>
                </a:solidFill>
              </a:defRPr>
            </a:pPr>
            <a:r>
              <a:rPr sz="900" b="1">
                <a:solidFill>
                  <a:srgbClr val="12A9C2"/>
                </a:solidFill>
              </a:rPr>
              <a:t>EMPLOYER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AB3548-7BA4-48A2-9085-31731DD92D1B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defines an evidence-producing challenge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445F8E-F1E0-4614-AC2C-29DC6A6C77A1}"/>
              </a:ext>
            </a:extLst>
          </p:cNvPr>
          <p:cNvSpPr>
            <a:spLocks noGrp="1"/>
          </p:cNvSpPr>
          <p:nvPr/>
        </p:nvSpPr>
        <p:spPr>
          <a:xfrm>
            <a:off x="30956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36DB5"/>
                </a:solidFill>
              </a:defRPr>
            </a:pPr>
            <a:r>
              <a:rPr sz="1950" b="1">
                <a:solidFill>
                  <a:srgbClr val="236DB5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D9C6B9-6DC4-44E4-8391-2F2636D29204}"/>
              </a:ext>
            </a:extLst>
          </p:cNvPr>
          <p:cNvSpPr>
            <a:spLocks noGrp="1"/>
          </p:cNvSpPr>
          <p:nvPr/>
        </p:nvSpPr>
        <p:spPr>
          <a:xfrm>
            <a:off x="3371850" y="1809750"/>
            <a:ext cx="2476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F037A-30A0-4E8A-97D2-51BB0CC6A5D5}"/>
              </a:ext>
            </a:extLst>
          </p:cNvPr>
          <p:cNvSpPr>
            <a:spLocks noGrp="1"/>
          </p:cNvSpPr>
          <p:nvPr/>
        </p:nvSpPr>
        <p:spPr>
          <a:xfrm>
            <a:off x="35814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STUDENT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89793-F177-4B88-ADF5-1A0FB615727D}"/>
              </a:ext>
            </a:extLst>
          </p:cNvPr>
          <p:cNvSpPr>
            <a:spLocks noGrp="1"/>
          </p:cNvSpPr>
          <p:nvPr/>
        </p:nvSpPr>
        <p:spPr>
          <a:xfrm>
            <a:off x="35814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turns participation into Career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AE81F8-7FF4-4848-AA0E-77723188F92E}"/>
              </a:ext>
            </a:extLst>
          </p:cNvPr>
          <p:cNvSpPr>
            <a:spLocks noGrp="1"/>
          </p:cNvSpPr>
          <p:nvPr/>
        </p:nvSpPr>
        <p:spPr>
          <a:xfrm>
            <a:off x="59150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36DB5"/>
                </a:solidFill>
              </a:defRPr>
            </a:pPr>
            <a:r>
              <a:rPr sz="1950" b="1">
                <a:solidFill>
                  <a:srgbClr val="236DB5"/>
                </a:solidFill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0F7EE0-E052-4B6A-B13B-834CDFA45A4F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2476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C858DA-646B-4CC7-B21F-72AD2882F8B4}"/>
              </a:ext>
            </a:extLst>
          </p:cNvPr>
          <p:cNvSpPr>
            <a:spLocks noGrp="1"/>
          </p:cNvSpPr>
          <p:nvPr/>
        </p:nvSpPr>
        <p:spPr>
          <a:xfrm>
            <a:off x="64008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A9C2"/>
                </a:solidFill>
              </a:defRPr>
            </a:pPr>
            <a:r>
              <a:rPr sz="900" b="1">
                <a:solidFill>
                  <a:srgbClr val="12A9C2"/>
                </a:solidFill>
              </a:rPr>
              <a:t>EMPLOYER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D58B95-776F-4C14-A2FB-75737429133E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uses evidence as explainable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ADFA4B-4201-4E89-9F80-403AC8325B70}"/>
              </a:ext>
            </a:extLst>
          </p:cNvPr>
          <p:cNvSpPr>
            <a:spLocks noGrp="1"/>
          </p:cNvSpPr>
          <p:nvPr/>
        </p:nvSpPr>
        <p:spPr>
          <a:xfrm>
            <a:off x="87344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475569"/>
                </a:solidFill>
              </a:defRPr>
            </a:pPr>
            <a:r>
              <a:rPr sz="1950" b="1">
                <a:solidFill>
                  <a:srgbClr val="475569"/>
                </a:solidFill>
              </a:rPr>
              <a:t>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2116D9-2D10-4FB1-AF8C-7984182A3D1C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476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69CF6D-D797-4329-A7E3-92C3BE9E0CD1}"/>
              </a:ext>
            </a:extLst>
          </p:cNvPr>
          <p:cNvSpPr>
            <a:spLocks noGrp="1"/>
          </p:cNvSpPr>
          <p:nvPr/>
        </p:nvSpPr>
        <p:spPr>
          <a:xfrm>
            <a:off x="92202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7E91"/>
                </a:solidFill>
              </a:defRPr>
            </a:pPr>
            <a:r>
              <a:rPr sz="900" b="1">
                <a:solidFill>
                  <a:srgbClr val="007E91"/>
                </a:solidFill>
              </a:rPr>
              <a:t>UNIVERSITY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FB2C22-371E-4C6B-A5B0-FA40D758EFD0}"/>
              </a:ext>
            </a:extLst>
          </p:cNvPr>
          <p:cNvSpPr>
            <a:spLocks noGrp="1"/>
          </p:cNvSpPr>
          <p:nvPr/>
        </p:nvSpPr>
        <p:spPr>
          <a:xfrm>
            <a:off x="92202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assigns an intervention and preserves evidence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370B99-5B38-4624-92FA-8F629D09BEA6}"/>
              </a:ext>
            </a:extLst>
          </p:cNvPr>
          <p:cNvSpPr>
            <a:spLocks noGrp="1"/>
          </p:cNvSpPr>
          <p:nvPr/>
        </p:nvSpPr>
        <p:spPr>
          <a:xfrm>
            <a:off x="1238250" y="4286250"/>
            <a:ext cx="9715500" cy="1066800"/>
          </a:xfrm>
          <a:prstGeom prst="rect">
            <a:avLst/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F2596D-FDDC-49B5-BA56-C345E5FF123D}"/>
              </a:ext>
            </a:extLst>
          </p:cNvPr>
          <p:cNvSpPr>
            <a:spLocks noGrp="1"/>
          </p:cNvSpPr>
          <p:nvPr/>
        </p:nvSpPr>
        <p:spPr>
          <a:xfrm>
            <a:off x="1666875" y="4524375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Solid handoffs are represented in the repository. Dashed propagation requires permissions, provenance, and integrations.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DB690-B8A5-43F0-A46A-18E6253B7573}"/>
              </a:ext>
            </a:extLst>
          </p:cNvPr>
          <p:cNvSpPr>
            <a:spLocks noGrp="1"/>
          </p:cNvSpPr>
          <p:nvPr/>
        </p:nvSpPr>
        <p:spPr>
          <a:xfrm>
            <a:off x="1619250" y="55435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36DB5"/>
                </a:solidFill>
              </a:defRPr>
            </a:pPr>
            <a:r>
              <a:rPr sz="1500" b="1">
                <a:solidFill>
                  <a:srgbClr val="236DB5"/>
                </a:solidFill>
              </a:rPr>
              <a:t>Potential moat: permissioned longitudinal evidence and relationship history—not dashboards or generic AI.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CD79CB-E40A-4C4E-8145-E0AD1C1951D7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6530DA-435E-4CFF-B29D-1C7B82F7C441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7FB0A9-06B0-440F-9929-86567772E014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552700" cy="200025"/>
          </a:xfrm>
          <a:prstGeom prst="rect">
            <a:avLst/>
          </a:prstGeom>
          <a:solidFill>
            <a:srgbClr val="D8F3F6"/>
          </a:solidFill>
          <a:ln w="9525">
            <a:solidFill>
              <a:srgbClr val="D8F3F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24F16A-4D5B-4E0E-B8BB-C35FD76F8F53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362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007E91"/>
                </a:solidFill>
              </a:defRPr>
            </a:pPr>
            <a:r>
              <a:rPr sz="750" b="1">
                <a:solidFill>
                  <a:srgbClr val="007E91"/>
                </a:solidFill>
              </a:rPr>
              <a:t>Demonstrated in parts • network future</a:t>
            </a:r>
          </a:p>
        </p:txBody>
      </p:sp>
    </p:spTree>
    <p:extLst>
      <p:ext uri="{BB962C8B-B14F-4D97-AF65-F5344CB8AC3E}">
        <p14:creationId xmlns:p14="http://schemas.microsoft.com/office/powerpoint/2010/main" val="900458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9F63C44-43AC-4947-B691-EC35AC0C74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E3087-0A15-4934-A741-1BC50A0715B4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5FF4BC-BD4B-4F1C-ABF1-0FB1C3A31D17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IMPLEMENTATION TRUTH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9BFC0-FCE1-42C5-9B4F-9FA4D38D7AD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prototype proves product logic—not adoption, accuracy, or integration.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516D2-0D4A-43AE-AC1E-CB3DBAFFC932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BE22-F645-4C4F-95C1-7403CEE1D01F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13411A-7C27-490F-ABB5-93D5D1E29C62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338B0-E502-43E4-9833-5432D9EE9AA3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7E91"/>
                </a:solidFill>
              </a:defRPr>
            </a:pPr>
            <a:r>
              <a:rPr sz="900" b="1">
                <a:solidFill>
                  <a:srgbClr val="007E91"/>
                </a:solidFill>
              </a:rPr>
              <a:t>DEMONSTRATED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8E68B3-B2BB-4AE7-8E6D-D6460EA432F6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Working prototype interactions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BD47F0-47CC-479B-8C2F-92B96A89DCF5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Three compiled workspaces; rich local interactions; selected cross-page state; partial FastAPI routes; evidence-to-action UX.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0DFC3-C6E1-4358-90EC-033118AF5528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Inspect today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83099-883D-4899-90C6-9EDE42D06D5E}"/>
              </a:ext>
            </a:extLst>
          </p:cNvPr>
          <p:cNvSpPr>
            <a:spLocks noGrp="1"/>
          </p:cNvSpPr>
          <p:nvPr/>
        </p:nvSpPr>
        <p:spPr>
          <a:xfrm>
            <a:off x="4267200" y="160020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515E8-D428-48E2-9081-28283D3E1503}"/>
              </a:ext>
            </a:extLst>
          </p:cNvPr>
          <p:cNvSpPr>
            <a:spLocks noGrp="1"/>
          </p:cNvSpPr>
          <p:nvPr/>
        </p:nvSpPr>
        <p:spPr>
          <a:xfrm>
            <a:off x="451485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B45309"/>
                </a:solidFill>
              </a:defRPr>
            </a:pPr>
            <a:r>
              <a:rPr sz="900" b="1">
                <a:solidFill>
                  <a:srgbClr val="B45309"/>
                </a:solidFill>
              </a:rPr>
              <a:t>SIMULATED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A4411-127F-49A7-BB6E-2A939C5FA3F9}"/>
              </a:ext>
            </a:extLst>
          </p:cNvPr>
          <p:cNvSpPr>
            <a:spLocks noGrp="1"/>
          </p:cNvSpPr>
          <p:nvPr/>
        </p:nvSpPr>
        <p:spPr>
          <a:xfrm>
            <a:off x="451485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Intelligence and operational effects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247A0E-601B-4037-A882-930E922FBEAF}"/>
              </a:ext>
            </a:extLst>
          </p:cNvPr>
          <p:cNvSpPr>
            <a:spLocks noGrp="1"/>
          </p:cNvSpPr>
          <p:nvPr/>
        </p:nvSpPr>
        <p:spPr>
          <a:xfrm>
            <a:off x="451485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Recommendations, scores, cohort and candidate data, sends, exports, uploads, generated drafts, and most persistence.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38F3E3-B8D3-4C00-853E-42ED7B247BF8}"/>
              </a:ext>
            </a:extLst>
          </p:cNvPr>
          <p:cNvSpPr>
            <a:spLocks noGrp="1"/>
          </p:cNvSpPr>
          <p:nvPr/>
        </p:nvSpPr>
        <p:spPr>
          <a:xfrm>
            <a:off x="451485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Label clearly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530191-A23F-4FB3-94A5-D41CEBDA557A}"/>
              </a:ext>
            </a:extLst>
          </p:cNvPr>
          <p:cNvSpPr>
            <a:spLocks noGrp="1"/>
          </p:cNvSpPr>
          <p:nvPr/>
        </p:nvSpPr>
        <p:spPr>
          <a:xfrm>
            <a:off x="7981950" y="1600200"/>
            <a:ext cx="34099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0DDF8-E858-466C-AD4A-B3E81DC663F5}"/>
              </a:ext>
            </a:extLst>
          </p:cNvPr>
          <p:cNvSpPr>
            <a:spLocks noGrp="1"/>
          </p:cNvSpPr>
          <p:nvPr/>
        </p:nvSpPr>
        <p:spPr>
          <a:xfrm>
            <a:off x="822960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FUTURE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B4A829-B4CD-484E-83AB-11F5A0597669}"/>
              </a:ext>
            </a:extLst>
          </p:cNvPr>
          <p:cNvSpPr>
            <a:spLocks noGrp="1"/>
          </p:cNvSpPr>
          <p:nvPr/>
        </p:nvSpPr>
        <p:spPr>
          <a:xfrm>
            <a:off x="822960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Production trust and network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781544-8858-4819-A7B4-0F3FA256EBCD}"/>
              </a:ext>
            </a:extLst>
          </p:cNvPr>
          <p:cNvSpPr>
            <a:spLocks noGrp="1"/>
          </p:cNvSpPr>
          <p:nvPr/>
        </p:nvSpPr>
        <p:spPr>
          <a:xfrm>
            <a:off x="822960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Permissions, provenance, verification, integrations, validated models, cross-organisation propagation, and autonomous monitoring.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A63488-B3E8-4D2C-83EB-87563D73527C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2849A"/>
                </a:solidFill>
              </a:defRPr>
            </a:pPr>
            <a:r>
              <a:rPr sz="900" b="1">
                <a:solidFill>
                  <a:srgbClr val="72849A"/>
                </a:solidFill>
              </a:rPr>
              <a:t>Validate next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3709E8-1EA1-4DD0-B5EF-FB49FB534825}"/>
              </a:ext>
            </a:extLst>
          </p:cNvPr>
          <p:cNvSpPr>
            <a:spLocks noGrp="1"/>
          </p:cNvSpPr>
          <p:nvPr/>
        </p:nvSpPr>
        <p:spPr>
          <a:xfrm>
            <a:off x="1238250" y="5295900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No customers, partnerships, adoption, measured outcomes, ROI, or AI accuracy are claimed.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05710-6F78-470E-9EFD-9E0A66F12B23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453B6A-BA08-4800-AFB5-F09A3E14A0A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1784A1-EA32-4E42-983A-13BD8A3FDEE2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590675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83F55D-C3C7-40EB-A47C-63E59B2695E4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400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Product-truth boundary</a:t>
            </a:r>
          </a:p>
        </p:txBody>
      </p:sp>
    </p:spTree>
    <p:extLst>
      <p:ext uri="{BB962C8B-B14F-4D97-AF65-F5344CB8AC3E}">
        <p14:creationId xmlns:p14="http://schemas.microsoft.com/office/powerpoint/2010/main" val="8441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F4A2F78-A966-4D6E-B274-57DB0E517B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3F8A8-1854-49CC-BF94-13CA95E571B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C9E5B2-DFF4-4CDE-B857-CA6BEEEC93F3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TALENTBANK STRATEGIC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D8896-CE97-4F39-8E13-AF945B07A91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CareerOS could extend Talentbank from episodic transactions to relationship infrastructure.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0A2609-0AA9-4C18-908E-D58545F2679C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FB69C-FF88-4D64-B33A-02934DBD6BA2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21F60-BBC6-4B61-9C7E-B55B112BCF3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52197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3B14A9-EB85-4D81-BB2C-757CDB22711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STUDENTS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2EA2A-DB30-4872-9EB7-57F7E75F5BE4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Engage before, between, and after applications through evidence, guidance, practice, and community.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6F1B15-9833-406C-8B34-892BB8694B31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197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C8AC14-DCBD-4546-BDF3-2DAB485B8AA6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EMPLOYERS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B9A9E0-8030-4F93-A583-30B63479159E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Add evidence-led discovery, warm-pipeline recovery, and engagement design to listings.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8EEF88-41BC-4B18-9BBD-4595360C65E3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52197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9C992-79FD-475A-BB2D-38C53C310406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UNIVERSITIES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1BE3E-CBA1-4E18-B203-4F5711EAF6F5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Add readiness, alignment, collaboration, outcome, accreditation, and decision workflows.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41CE3E-7642-4AD6-BCB8-762B82956681}"/>
              </a:ext>
            </a:extLst>
          </p:cNvPr>
          <p:cNvSpPr>
            <a:spLocks noGrp="1"/>
          </p:cNvSpPr>
          <p:nvPr/>
        </p:nvSpPr>
        <p:spPr>
          <a:xfrm>
            <a:off x="6096000" y="3352800"/>
            <a:ext cx="5219700" cy="1466850"/>
          </a:xfrm>
          <a:prstGeom prst="rect">
            <a:avLst/>
          </a:prstGeom>
          <a:solidFill>
            <a:srgbClr val="EEF2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3DFBBA-7E57-45E1-8E97-2197F09CF7DE}"/>
              </a:ext>
            </a:extLst>
          </p:cNvPr>
          <p:cNvSpPr>
            <a:spLocks noGrp="1"/>
          </p:cNvSpPr>
          <p:nvPr/>
        </p:nvSpPr>
        <p:spPr>
          <a:xfrm>
            <a:off x="6324600" y="3581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36DB5"/>
                </a:solidFill>
              </a:defRPr>
            </a:pPr>
            <a:r>
              <a:rPr sz="900" b="1">
                <a:solidFill>
                  <a:srgbClr val="236DB5"/>
                </a:solidFill>
              </a:rPr>
              <a:t>ECOSYSTEM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C5B04D-0A8B-419A-8DC1-69E2BC00A8A9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Compound permissioned evidence and relationship history across repeated interactions.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EF7EE9-11A1-4904-944D-261CF6CA544C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647700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38CBBF-EB3F-4C97-8DC3-AEF8CD0FBA5D}"/>
              </a:ext>
            </a:extLst>
          </p:cNvPr>
          <p:cNvSpPr>
            <a:spLocks noGrp="1"/>
          </p:cNvSpPr>
          <p:nvPr/>
        </p:nvSpPr>
        <p:spPr>
          <a:xfrm>
            <a:off x="1714500" y="552450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Strategic condition: data rights, distribution, buyer demand, consent, trust, integration cost, and ownership must be validated.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39708C-9B33-4687-B8D9-E366360A7287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A35FD-DAC5-4CD1-B495-4C74D9144CC1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F8F3B-3FF4-4E65-AB52-CCFBF97CC6CF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2552700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A4C07B-1F0C-43D9-B25B-8471EA5E4E8E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3622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Strategic potential • not current traction</a:t>
            </a:r>
          </a:p>
        </p:txBody>
      </p:sp>
    </p:spTree>
    <p:extLst>
      <p:ext uri="{BB962C8B-B14F-4D97-AF65-F5344CB8AC3E}">
        <p14:creationId xmlns:p14="http://schemas.microsoft.com/office/powerpoint/2010/main" val="116981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980027F-8794-459A-BA30-F04A9D2927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5AA8"/>
          </a:solidFill>
          <a:ln w="9525">
            <a:solidFill>
              <a:srgbClr val="175A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6A3E6-B29E-455C-AC71-9A068FA1230D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66675" cy="228600"/>
          </a:xfrm>
          <a:prstGeom prst="rect">
            <a:avLst/>
          </a:prstGeom>
          <a:solidFill>
            <a:srgbClr val="12A9C2"/>
          </a:solidFill>
          <a:ln w="9525">
            <a:solidFill>
              <a:srgbClr val="12A9C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A39B9-264F-45B3-9632-5EF5E22A03D3}"/>
              </a:ext>
            </a:extLst>
          </p:cNvPr>
          <p:cNvSpPr>
            <a:spLocks noGrp="1"/>
          </p:cNvSpPr>
          <p:nvPr/>
        </p:nvSpPr>
        <p:spPr>
          <a:xfrm>
            <a:off x="742950" y="3524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NEXT-STAGE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9CA8A3-48B3-4A10-AD77-B3B5C34736AA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Prove one repeated workflow before scaling the network.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4D513-AD69-4608-B710-DAD6252F5D77}"/>
              </a:ext>
            </a:extLst>
          </p:cNvPr>
          <p:cNvSpPr>
            <a:spLocks noGrp="1"/>
          </p:cNvSpPr>
          <p:nvPr/>
        </p:nvSpPr>
        <p:spPr>
          <a:xfrm>
            <a:off x="11068050" y="333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175AA8"/>
                </a:solidFill>
              </a:defRPr>
            </a:pPr>
            <a:r>
              <a:rPr sz="1125" b="1">
                <a:solidFill>
                  <a:srgbClr val="175AA8"/>
                </a:solidFill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F96716-CA03-4D9C-82F8-C86AF213253C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49000" cy="19050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669B7-6D62-4CB6-B3D2-F7050D4B384F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4953000" cy="414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A081F-E224-495C-B14A-3A3848E36B97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2A9C2"/>
                </a:solidFill>
              </a:defRPr>
            </a:pPr>
            <a:r>
              <a:rPr sz="975" b="1">
                <a:solidFill>
                  <a:srgbClr val="12A9C2"/>
                </a:solidFill>
              </a:rPr>
              <a:t>VALIDATION HYPOTHESIS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D274A1-2DB1-4856-ACF2-1E519CDD1CDE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095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Can one computing/data faculty detect two employability gaps, launch a current-cohort intervention, capture student evidence, and produce a reusable summary?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4E86C4-FE65-4926-8A89-ADFDEC84544C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Recommended path—not an announced pilot or partnership.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D0792-91DA-4CF2-8AA3-18E1EBF820AF}"/>
              </a:ext>
            </a:extLst>
          </p:cNvPr>
          <p:cNvSpPr>
            <a:spLocks noGrp="1"/>
          </p:cNvSpPr>
          <p:nvPr/>
        </p:nvSpPr>
        <p:spPr>
          <a:xfrm>
            <a:off x="5905500" y="1485900"/>
            <a:ext cx="5734050" cy="4143375"/>
          </a:xfrm>
          <a:prstGeom prst="rect">
            <a:avLst/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B23A9-96D6-4EC9-8D66-B1D13CEA6373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5AA8"/>
                </a:solidFill>
              </a:defRPr>
            </a:pPr>
            <a:r>
              <a:rPr sz="975" b="1">
                <a:solidFill>
                  <a:srgbClr val="175AA8"/>
                </a:solidFill>
              </a:rPr>
              <a:t>MEASURE TO LEARN—NOT TO CLAIM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C45402-5F85-4119-95E9-B2620995942A}"/>
              </a:ext>
            </a:extLst>
          </p:cNvPr>
          <p:cNvSpPr>
            <a:spLocks noGrp="1"/>
          </p:cNvSpPr>
          <p:nvPr/>
        </p:nvSpPr>
        <p:spPr>
          <a:xfrm>
            <a:off x="6229350" y="2257425"/>
            <a:ext cx="47625" cy="238125"/>
          </a:xfrm>
          <a:prstGeom prst="rect">
            <a:avLst/>
          </a:prstGeom>
          <a:solidFill>
            <a:srgbClr val="12A9C2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E5641B-A9A5-4421-911B-56D53DBEF33A}"/>
              </a:ext>
            </a:extLst>
          </p:cNvPr>
          <p:cNvSpPr>
            <a:spLocks noGrp="1"/>
          </p:cNvSpPr>
          <p:nvPr/>
        </p:nvSpPr>
        <p:spPr>
          <a:xfrm>
            <a:off x="6343650" y="2276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2A9C2"/>
                </a:solidFill>
              </a:defRPr>
            </a:pPr>
            <a:r>
              <a:rPr sz="750" b="1">
                <a:solidFill>
                  <a:srgbClr val="12A9C2"/>
                </a:solidFill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1E71D-4A53-4668-8FE2-D0E44AD4B3F8}"/>
              </a:ext>
            </a:extLst>
          </p:cNvPr>
          <p:cNvSpPr>
            <a:spLocks noGrp="1"/>
          </p:cNvSpPr>
          <p:nvPr/>
        </p:nvSpPr>
        <p:spPr>
          <a:xfrm>
            <a:off x="6553200" y="220980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Career Memory evidence completion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AFD0E7-86B9-481A-A870-84D9635B33D9}"/>
              </a:ext>
            </a:extLst>
          </p:cNvPr>
          <p:cNvSpPr>
            <a:spLocks noGrp="1"/>
          </p:cNvSpPr>
          <p:nvPr/>
        </p:nvSpPr>
        <p:spPr>
          <a:xfrm>
            <a:off x="6229350" y="280035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8AC6BA-9B95-45DC-87CA-074733972FC5}"/>
              </a:ext>
            </a:extLst>
          </p:cNvPr>
          <p:cNvSpPr>
            <a:spLocks noGrp="1"/>
          </p:cNvSpPr>
          <p:nvPr/>
        </p:nvSpPr>
        <p:spPr>
          <a:xfrm>
            <a:off x="6343650" y="28194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29033-F9F1-4289-BB0B-BF3BD3EC0416}"/>
              </a:ext>
            </a:extLst>
          </p:cNvPr>
          <p:cNvSpPr>
            <a:spLocks noGrp="1"/>
          </p:cNvSpPr>
          <p:nvPr/>
        </p:nvSpPr>
        <p:spPr>
          <a:xfrm>
            <a:off x="6553200" y="2752725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Intervention uptake and completion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7B52EB-DFA0-4D7F-86D1-95CB3796C223}"/>
              </a:ext>
            </a:extLst>
          </p:cNvPr>
          <p:cNvSpPr>
            <a:spLocks noGrp="1"/>
          </p:cNvSpPr>
          <p:nvPr/>
        </p:nvSpPr>
        <p:spPr>
          <a:xfrm>
            <a:off x="6229350" y="3343275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AB0880-E244-41FB-87F0-9074DBF3A825}"/>
              </a:ext>
            </a:extLst>
          </p:cNvPr>
          <p:cNvSpPr>
            <a:spLocks noGrp="1"/>
          </p:cNvSpPr>
          <p:nvPr/>
        </p:nvSpPr>
        <p:spPr>
          <a:xfrm>
            <a:off x="6343650" y="336232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00D55D-6A22-4128-A28D-F399C217B99D}"/>
              </a:ext>
            </a:extLst>
          </p:cNvPr>
          <p:cNvSpPr>
            <a:spLocks noGrp="1"/>
          </p:cNvSpPr>
          <p:nvPr/>
        </p:nvSpPr>
        <p:spPr>
          <a:xfrm>
            <a:off x="6553200" y="329565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Employer participation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8B021A-0DAB-4043-9B03-CFB85BD9780F}"/>
              </a:ext>
            </a:extLst>
          </p:cNvPr>
          <p:cNvSpPr>
            <a:spLocks noGrp="1"/>
          </p:cNvSpPr>
          <p:nvPr/>
        </p:nvSpPr>
        <p:spPr>
          <a:xfrm>
            <a:off x="6229350" y="3886200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2D86DA-4AE5-47A4-8717-2DF088A005B0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48977-904F-4D4D-8582-B5B7D6676783}"/>
              </a:ext>
            </a:extLst>
          </p:cNvPr>
          <p:cNvSpPr>
            <a:spLocks noGrp="1"/>
          </p:cNvSpPr>
          <p:nvPr/>
        </p:nvSpPr>
        <p:spPr>
          <a:xfrm>
            <a:off x="6553200" y="3838575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Time from signal to assigned 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460A9E-51B8-491F-A2C9-2C909FABFFC9}"/>
              </a:ext>
            </a:extLst>
          </p:cNvPr>
          <p:cNvSpPr>
            <a:spLocks noGrp="1"/>
          </p:cNvSpPr>
          <p:nvPr/>
        </p:nvSpPr>
        <p:spPr>
          <a:xfrm>
            <a:off x="6229350" y="4429125"/>
            <a:ext cx="47625" cy="238125"/>
          </a:xfrm>
          <a:prstGeom prst="rect">
            <a:avLst/>
          </a:prstGeom>
          <a:solidFill>
            <a:srgbClr val="175AA8"/>
          </a:solidFill>
          <a:ln w="9525">
            <a:noFill/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AEC88-08CD-4EFA-9A34-FA1AB27B5DF6}"/>
              </a:ext>
            </a:extLst>
          </p:cNvPr>
          <p:cNvSpPr>
            <a:spLocks noGrp="1"/>
          </p:cNvSpPr>
          <p:nvPr/>
        </p:nvSpPr>
        <p:spPr>
          <a:xfrm>
            <a:off x="6343650" y="44481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175AA8"/>
                </a:solidFill>
              </a:defRPr>
            </a:pPr>
            <a:r>
              <a:rPr sz="750" b="1">
                <a:solidFill>
                  <a:srgbClr val="175AA8"/>
                </a:solidFill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417DA5-A4CB-438D-BD93-5DE32D44E0B1}"/>
              </a:ext>
            </a:extLst>
          </p:cNvPr>
          <p:cNvSpPr>
            <a:spLocks noGrp="1"/>
          </p:cNvSpPr>
          <p:nvPr/>
        </p:nvSpPr>
        <p:spPr>
          <a:xfrm>
            <a:off x="6553200" y="438150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Staff time to prepare an evidence summary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F39BFC-D3A9-4620-804E-9CCF792FB280}"/>
              </a:ext>
            </a:extLst>
          </p:cNvPr>
          <p:cNvSpPr>
            <a:spLocks noGrp="1"/>
          </p:cNvSpPr>
          <p:nvPr/>
        </p:nvSpPr>
        <p:spPr>
          <a:xfrm>
            <a:off x="6229350" y="509587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36DB5"/>
                </a:solidFill>
              </a:defRPr>
            </a:pPr>
            <a:r>
              <a:rPr sz="1275" b="1">
                <a:solidFill>
                  <a:srgbClr val="236DB5"/>
                </a:solidFill>
              </a:rPr>
              <a:t>Decision gates: consent, buyer ownership, data availability, adoption, and operational value.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021C09-FDDA-4846-9EE8-9617D3D02D59}"/>
              </a:ext>
            </a:extLst>
          </p:cNvPr>
          <p:cNvSpPr>
            <a:spLocks noGrp="1"/>
          </p:cNvSpPr>
          <p:nvPr/>
        </p:nvSpPr>
        <p:spPr>
          <a:xfrm>
            <a:off x="552450" y="6410325"/>
            <a:ext cx="11049000" cy="9525"/>
          </a:xfrm>
          <a:prstGeom prst="rect">
            <a:avLst/>
          </a:prstGeom>
          <a:solidFill>
            <a:srgbClr val="CAD7E5"/>
          </a:solidFill>
          <a:ln w="9525">
            <a:solidFill>
              <a:srgbClr val="CAD7E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932CFC-3BEC-4CC6-869B-4EF349027ED0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2849A"/>
                </a:solidFill>
              </a:defRPr>
            </a:pPr>
            <a:r>
              <a:rPr sz="825" b="0">
                <a:solidFill>
                  <a:srgbClr val="72849A"/>
                </a:solidFill>
              </a:rPr>
              <a:t>CareerOS • Talentbank AI Hackathon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CBC634-C6C3-4DCE-92CC-3FFD1C226B75}"/>
              </a:ext>
            </a:extLst>
          </p:cNvPr>
          <p:cNvSpPr>
            <a:spLocks noGrp="1"/>
          </p:cNvSpPr>
          <p:nvPr/>
        </p:nvSpPr>
        <p:spPr>
          <a:xfrm>
            <a:off x="9048750" y="6486525"/>
            <a:ext cx="1590675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F05709-6BC7-4F7C-8DA4-6B8A2423CB88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14001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Future validation path</a:t>
            </a:r>
          </a:p>
        </p:txBody>
      </p:sp>
    </p:spTree>
    <p:extLst>
      <p:ext uri="{BB962C8B-B14F-4D97-AF65-F5344CB8AC3E}">
        <p14:creationId xmlns:p14="http://schemas.microsoft.com/office/powerpoint/2010/main" val="1136818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B3DFC27-ED65-4419-AD48-843C0104B41C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5AA8"/>
                </a:solidFill>
              </a:defRPr>
            </a:pPr>
            <a:r>
              <a:rPr sz="1050" b="1">
                <a:solidFill>
                  <a:srgbClr val="175AA8"/>
                </a:solidFill>
              </a:rPr>
              <a:t>CAREEROS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70DD4-425E-4CE1-846F-0B0488A13D60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5619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Remember the signal.</a:t>
            </a:r>
          </a:p>
          <a:p>
            <a:pPr algn="l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Prove it.</a:t>
            </a:r>
          </a:p>
          <a:p>
            <a:pPr algn="l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Act earlier.</a:t>
            </a:r>
          </a:p>
          <a:p>
            <a:pPr algn="l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Learn.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550A3-76A4-479F-870F-98A657BE26AE}"/>
              </a:ext>
            </a:extLst>
          </p:cNvPr>
          <p:cNvSpPr>
            <a:spLocks noGrp="1"/>
          </p:cNvSpPr>
          <p:nvPr/>
        </p:nvSpPr>
        <p:spPr>
          <a:xfrm>
            <a:off x="6953250" y="1143000"/>
            <a:ext cx="4476750" cy="3676650"/>
          </a:xfrm>
          <a:prstGeom prst="rect">
            <a:avLst/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335E7-3B87-4617-9CFC-189105263553}"/>
              </a:ext>
            </a:extLst>
          </p:cNvPr>
          <p:cNvSpPr>
            <a:spLocks noGrp="1"/>
          </p:cNvSpPr>
          <p:nvPr/>
        </p:nvSpPr>
        <p:spPr>
          <a:xfrm>
            <a:off x="7334250" y="1581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5AA8"/>
                </a:solidFill>
              </a:defRPr>
            </a:pPr>
            <a:r>
              <a:rPr sz="900" b="1">
                <a:solidFill>
                  <a:srgbClr val="175AA8"/>
                </a:solidFill>
              </a:rPr>
              <a:t>STUDENTS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5EB0B-9F19-4270-B241-75FAD1DDC265}"/>
              </a:ext>
            </a:extLst>
          </p:cNvPr>
          <p:cNvSpPr>
            <a:spLocks noGrp="1"/>
          </p:cNvSpPr>
          <p:nvPr/>
        </p:nvSpPr>
        <p:spPr>
          <a:xfrm>
            <a:off x="7334250" y="1885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Preserve evidence and choose clearer next actions.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E1E2B-8602-4A58-9AE1-9707DFC8201D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A9C2"/>
                </a:solidFill>
              </a:defRPr>
            </a:pPr>
            <a:r>
              <a:rPr sz="900" b="1">
                <a:solidFill>
                  <a:srgbClr val="12A9C2"/>
                </a:solidFill>
              </a:rPr>
              <a:t>EMPLOYERS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4FCC85-A128-44A1-8A81-DF5058CEE8AA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Retain context and make explainable talent decisions.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B55B97-6655-40FF-9B0C-94D3D7E20136}"/>
              </a:ext>
            </a:extLst>
          </p:cNvPr>
          <p:cNvSpPr>
            <a:spLocks noGrp="1"/>
          </p:cNvSpPr>
          <p:nvPr/>
        </p:nvSpPr>
        <p:spPr>
          <a:xfrm>
            <a:off x="7334250" y="3867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7E91"/>
                </a:solidFill>
              </a:defRPr>
            </a:pPr>
            <a:r>
              <a:rPr sz="900" b="1">
                <a:solidFill>
                  <a:srgbClr val="007E91"/>
                </a:solidFill>
              </a:rPr>
              <a:t>UNIVERSITIES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F6332A-9F96-4D53-8ECD-D7D97C5B0058}"/>
              </a:ext>
            </a:extLst>
          </p:cNvPr>
          <p:cNvSpPr>
            <a:spLocks noGrp="1"/>
          </p:cNvSpPr>
          <p:nvPr/>
        </p:nvSpPr>
        <p:spPr>
          <a:xfrm>
            <a:off x="7334250" y="4171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Act on gaps while there is still time to change the outcome.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52A4A-96B7-4358-95FD-C10F20F5140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36DB5"/>
                </a:solidFill>
              </a:defRPr>
            </a:pPr>
            <a:r>
              <a:rPr sz="1800" b="1">
                <a:solidFill>
                  <a:srgbClr val="236DB5"/>
                </a:solidFill>
              </a:rPr>
              <a:t>The evidence memory and action layer between education and employment.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1A5384-0BF4-444B-B7C9-14024696A568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2147888" cy="200025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E0D35-7B94-40F4-BBE1-AAEDDD3F67C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195738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475569"/>
                </a:solidFill>
              </a:defRPr>
            </a:pPr>
            <a:r>
              <a:rPr sz="750" b="1">
                <a:solidFill>
                  <a:srgbClr val="475569"/>
                </a:solidFill>
              </a:rPr>
              <a:t>Prototype • network to validate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C9453E-3974-4C36-8FC0-A87CC901BB30}"/>
              </a:ext>
            </a:extLst>
          </p:cNvPr>
          <p:cNvSpPr>
            <a:spLocks noGrp="1"/>
          </p:cNvSpPr>
          <p:nvPr/>
        </p:nvSpPr>
        <p:spPr>
          <a:xfrm>
            <a:off x="9001125" y="6419850"/>
            <a:ext cx="2619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2849A"/>
                </a:solidFill>
              </a:defRPr>
            </a:pPr>
            <a:r>
              <a:rPr sz="900" b="0">
                <a:solidFill>
                  <a:srgbClr val="72849A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10946548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2315</Words>
  <Application>Microsoft Office PowerPoint</Application>
  <DocSecurity>0</DocSecurity>
  <PresentationFormat>Widescreen</PresentationFormat>
  <Paragraphs>401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Aptos Narrow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Chee Kinston</cp:lastModifiedBy>
  <cp:revision>1</cp:revision>
  <dcterms:created xsi:type="dcterms:W3CDTF">2026-07-24T13:31:26Z</dcterms:created>
  <dcterms:modified xsi:type="dcterms:W3CDTF">2026-07-25T07:22:22Z</dcterms:modified>
</cp:coreProperties>
</file>