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826394f4d14f6e" /><Relationship Type="http://schemas.openxmlformats.org/officeDocument/2006/relationships/extended-properties" Target="/docProps/app.xml" Id="Rfa68ccc04b5a4243" /><Relationship Type="http://schemas.openxmlformats.org/officeDocument/2006/relationships/officeDocument" Target="/ppt/presentation.xml" Id="Rb41bd00049e34d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7f3ff296ec4f66"/>
  </p:sldMasterIdLst>
  <p:notesMasterIdLst>
    <p:notesMasterId xmlns:r="http://schemas.openxmlformats.org/officeDocument/2006/relationships" r:id="Rec9217902ba143cc"/>
  </p:notesMasterIdLst>
  <p:sldIdLst>
    <p:sldId xmlns:r="http://schemas.openxmlformats.org/officeDocument/2006/relationships" id="256" r:id="R91070016c46a40f0"/>
    <p:sldId xmlns:r="http://schemas.openxmlformats.org/officeDocument/2006/relationships" id="257" r:id="R473c22b6336348d9"/>
    <p:sldId xmlns:r="http://schemas.openxmlformats.org/officeDocument/2006/relationships" id="258" r:id="R29e8ae6399494895"/>
    <p:sldId xmlns:r="http://schemas.openxmlformats.org/officeDocument/2006/relationships" id="259" r:id="R1991b743aac34c76"/>
    <p:sldId xmlns:r="http://schemas.openxmlformats.org/officeDocument/2006/relationships" id="260" r:id="R63584d8c9b884fd4"/>
    <p:sldId xmlns:r="http://schemas.openxmlformats.org/officeDocument/2006/relationships" id="261" r:id="R852a5edb1d884e08"/>
    <p:sldId xmlns:r="http://schemas.openxmlformats.org/officeDocument/2006/relationships" id="262" r:id="Re5592858611a483b"/>
    <p:sldId xmlns:r="http://schemas.openxmlformats.org/officeDocument/2006/relationships" id="263" r:id="R2437d9b43557421f"/>
    <p:sldId xmlns:r="http://schemas.openxmlformats.org/officeDocument/2006/relationships" id="264" r:id="Ra9276b4391ec45cb"/>
    <p:sldId xmlns:r="http://schemas.openxmlformats.org/officeDocument/2006/relationships" id="265" r:id="R8f18e0dd3eab4d41"/>
    <p:sldId xmlns:r="http://schemas.openxmlformats.org/officeDocument/2006/relationships" id="266" r:id="R5aeb59583cc9488a"/>
    <p:sldId xmlns:r="http://schemas.openxmlformats.org/officeDocument/2006/relationships" id="267" r:id="R6716cfca027c4abc"/>
    <p:sldId xmlns:r="http://schemas.openxmlformats.org/officeDocument/2006/relationships" id="268" r:id="R5cdf2c1c73d74f93"/>
    <p:sldId xmlns:r="http://schemas.openxmlformats.org/officeDocument/2006/relationships" id="269" r:id="R3e972f837cb24fc3"/>
    <p:sldId xmlns:r="http://schemas.openxmlformats.org/officeDocument/2006/relationships" id="270" r:id="Rbfd3f7f8c6ca4a26"/>
    <p:sldId xmlns:r="http://schemas.openxmlformats.org/officeDocument/2006/relationships" id="271" r:id="R747643c9177f4089"/>
    <p:sldId xmlns:r="http://schemas.openxmlformats.org/officeDocument/2006/relationships" id="272" r:id="R073d521b95774672"/>
    <p:sldId xmlns:r="http://schemas.openxmlformats.org/officeDocument/2006/relationships" id="273" r:id="R3fb83278567e41c9"/>
    <p:sldId xmlns:r="http://schemas.openxmlformats.org/officeDocument/2006/relationships" id="274" r:id="R761cdcb459234cd0"/>
    <p:sldId xmlns:r="http://schemas.openxmlformats.org/officeDocument/2006/relationships" id="275" r:id="R709953f3f8104b5f"/>
    <p:sldId xmlns:r="http://schemas.openxmlformats.org/officeDocument/2006/relationships" id="276" r:id="R1ad4c450a17b421d"/>
    <p:sldId xmlns:r="http://schemas.openxmlformats.org/officeDocument/2006/relationships" id="277" r:id="Rd13a3107b1254dcc"/>
    <p:sldId xmlns:r="http://schemas.openxmlformats.org/officeDocument/2006/relationships" id="278" r:id="R24f85c23ffa1437a"/>
    <p:sldId xmlns:r="http://schemas.openxmlformats.org/officeDocument/2006/relationships" id="279" r:id="R05d6731d17444f1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8e998ce11b4869" /><Relationship Type="http://schemas.openxmlformats.org/officeDocument/2006/relationships/slideMaster" Target="/ppt/slideMasters/slideMaster1.xml" Id="R947f3ff296ec4f66" /><Relationship Type="http://schemas.openxmlformats.org/officeDocument/2006/relationships/notesMaster" Target="/ppt/notesMasters/notesMaster1.xml" Id="Rec9217902ba143cc" /><Relationship Type="http://schemas.openxmlformats.org/officeDocument/2006/relationships/presProps" Target="/ppt/presProps.xml" Id="Racd3b208ae1c43f4" /><Relationship Type="http://schemas.openxmlformats.org/officeDocument/2006/relationships/tableStyles" Target="/ppt/tableStyles.xml" Id="R1374a6f1c64c4552" /><Relationship Type="http://schemas.openxmlformats.org/officeDocument/2006/relationships/slide" Target="/ppt/slides/slide1.xml" Id="R91070016c46a40f0" /><Relationship Type="http://schemas.openxmlformats.org/officeDocument/2006/relationships/slide" Target="/ppt/slides/slide2.xml" Id="R473c22b6336348d9" /><Relationship Type="http://schemas.openxmlformats.org/officeDocument/2006/relationships/slide" Target="/ppt/slides/slide3.xml" Id="R29e8ae6399494895" /><Relationship Type="http://schemas.openxmlformats.org/officeDocument/2006/relationships/slide" Target="/ppt/slides/slide4.xml" Id="R1991b743aac34c76" /><Relationship Type="http://schemas.openxmlformats.org/officeDocument/2006/relationships/slide" Target="/ppt/slides/slide5.xml" Id="R63584d8c9b884fd4" /><Relationship Type="http://schemas.openxmlformats.org/officeDocument/2006/relationships/slide" Target="/ppt/slides/slide6.xml" Id="R852a5edb1d884e08" /><Relationship Type="http://schemas.openxmlformats.org/officeDocument/2006/relationships/slide" Target="/ppt/slides/slide7.xml" Id="Re5592858611a483b" /><Relationship Type="http://schemas.openxmlformats.org/officeDocument/2006/relationships/slide" Target="/ppt/slides/slide8.xml" Id="R2437d9b43557421f" /><Relationship Type="http://schemas.openxmlformats.org/officeDocument/2006/relationships/slide" Target="/ppt/slides/slide9.xml" Id="Ra9276b4391ec45cb" /><Relationship Type="http://schemas.openxmlformats.org/officeDocument/2006/relationships/slide" Target="/ppt/slides/slide10.xml" Id="R8f18e0dd3eab4d41" /><Relationship Type="http://schemas.openxmlformats.org/officeDocument/2006/relationships/slide" Target="/ppt/slides/slide11.xml" Id="R5aeb59583cc9488a" /><Relationship Type="http://schemas.openxmlformats.org/officeDocument/2006/relationships/slide" Target="/ppt/slides/slide12.xml" Id="R6716cfca027c4abc" /><Relationship Type="http://schemas.openxmlformats.org/officeDocument/2006/relationships/slide" Target="/ppt/slides/slide13.xml" Id="R5cdf2c1c73d74f93" /><Relationship Type="http://schemas.openxmlformats.org/officeDocument/2006/relationships/slide" Target="/ppt/slides/slide14.xml" Id="R3e972f837cb24fc3" /><Relationship Type="http://schemas.openxmlformats.org/officeDocument/2006/relationships/slide" Target="/ppt/slides/slide15.xml" Id="Rbfd3f7f8c6ca4a26" /><Relationship Type="http://schemas.openxmlformats.org/officeDocument/2006/relationships/slide" Target="/ppt/slides/slide16.xml" Id="R747643c9177f4089" /><Relationship Type="http://schemas.openxmlformats.org/officeDocument/2006/relationships/slide" Target="/ppt/slides/slide17.xml" Id="R073d521b95774672" /><Relationship Type="http://schemas.openxmlformats.org/officeDocument/2006/relationships/slide" Target="/ppt/slides/slide18.xml" Id="R3fb83278567e41c9" /><Relationship Type="http://schemas.openxmlformats.org/officeDocument/2006/relationships/slide" Target="/ppt/slides/slide19.xml" Id="R761cdcb459234cd0" /><Relationship Type="http://schemas.openxmlformats.org/officeDocument/2006/relationships/slide" Target="/ppt/slides/slide20.xml" Id="R709953f3f8104b5f" /><Relationship Type="http://schemas.openxmlformats.org/officeDocument/2006/relationships/slide" Target="/ppt/slides/slide21.xml" Id="R1ad4c450a17b421d" /><Relationship Type="http://schemas.openxmlformats.org/officeDocument/2006/relationships/slide" Target="/ppt/slides/slide22.xml" Id="Rd13a3107b1254dcc" /><Relationship Type="http://schemas.openxmlformats.org/officeDocument/2006/relationships/slide" Target="/ppt/slides/slide23.xml" Id="R24f85c23ffa1437a" /><Relationship Type="http://schemas.openxmlformats.org/officeDocument/2006/relationships/slide" Target="/ppt/slides/slide24.xml" Id="R05d6731d17444f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0d6113424a44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ebb394e81443ed" /><Relationship Type="http://schemas.openxmlformats.org/officeDocument/2006/relationships/notesMaster" Target="/ppt/notesMasters/notesMaster1.xml" Id="R576ef678e68c4c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9199db6d044f20" /><Relationship Type="http://schemas.openxmlformats.org/officeDocument/2006/relationships/notesMaster" Target="/ppt/notesMasters/notesMaster1.xml" Id="Redf5ef6fbe764e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793705121d496e" /><Relationship Type="http://schemas.openxmlformats.org/officeDocument/2006/relationships/notesMaster" Target="/ppt/notesMasters/notesMaster1.xml" Id="R42fbacf2c1d44d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8c0b805e674be3" /><Relationship Type="http://schemas.openxmlformats.org/officeDocument/2006/relationships/notesMaster" Target="/ppt/notesMasters/notesMaster1.xml" Id="R8515d383971647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5191869d4d4b39" /><Relationship Type="http://schemas.openxmlformats.org/officeDocument/2006/relationships/notesMaster" Target="/ppt/notesMasters/notesMaster1.xml" Id="Ra95bf77a3e9342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ad9a94b14341f1" /><Relationship Type="http://schemas.openxmlformats.org/officeDocument/2006/relationships/notesMaster" Target="/ppt/notesMasters/notesMaster1.xml" Id="R81b6dd729c0b45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d6a115b6db4b34" /><Relationship Type="http://schemas.openxmlformats.org/officeDocument/2006/relationships/notesMaster" Target="/ppt/notesMasters/notesMaster1.xml" Id="Ra9591d3bc76340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7de177c2d848ca" /><Relationship Type="http://schemas.openxmlformats.org/officeDocument/2006/relationships/notesMaster" Target="/ppt/notesMasters/notesMaster1.xml" Id="Ra0e2934b97cd44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d877d21f1646dd" /><Relationship Type="http://schemas.openxmlformats.org/officeDocument/2006/relationships/notesMaster" Target="/ppt/notesMasters/notesMaster1.xml" Id="Rf7039858bdc54b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878d1687b54dfc" /><Relationship Type="http://schemas.openxmlformats.org/officeDocument/2006/relationships/notesMaster" Target="/ppt/notesMasters/notesMaster1.xml" Id="Rb5c8f8bf4fc841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cfd16410474668" /><Relationship Type="http://schemas.openxmlformats.org/officeDocument/2006/relationships/notesMaster" Target="/ppt/notesMasters/notesMaster1.xml" Id="R62627e3d9e0340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4a064f451343ad" /><Relationship Type="http://schemas.openxmlformats.org/officeDocument/2006/relationships/notesMaster" Target="/ppt/notesMasters/notesMaster1.xml" Id="R343854e31c274d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2059910798449c" /><Relationship Type="http://schemas.openxmlformats.org/officeDocument/2006/relationships/notesMaster" Target="/ppt/notesMasters/notesMaster1.xml" Id="Rfe6b994e016c4c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3e3cd00d6804dbf" /><Relationship Type="http://schemas.openxmlformats.org/officeDocument/2006/relationships/notesMaster" Target="/ppt/notesMasters/notesMaster1.xml" Id="R5c01ffdf62c440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221e204f9f5416f" /><Relationship Type="http://schemas.openxmlformats.org/officeDocument/2006/relationships/notesMaster" Target="/ppt/notesMasters/notesMaster1.xml" Id="R89c464fe1bae442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1d6f9995f634a5b" /><Relationship Type="http://schemas.openxmlformats.org/officeDocument/2006/relationships/notesMaster" Target="/ppt/notesMasters/notesMaster1.xml" Id="R5fdb4f8e2c3c453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24f336ffbb04da3" /><Relationship Type="http://schemas.openxmlformats.org/officeDocument/2006/relationships/notesMaster" Target="/ppt/notesMasters/notesMaster1.xml" Id="Rd80dd63e3b474fa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c583670ef044c87" /><Relationship Type="http://schemas.openxmlformats.org/officeDocument/2006/relationships/notesMaster" Target="/ppt/notesMasters/notesMaster1.xml" Id="Rd4bef32a87024bf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4c21c87f86a4881" /><Relationship Type="http://schemas.openxmlformats.org/officeDocument/2006/relationships/notesMaster" Target="/ppt/notesMasters/notesMaster1.xml" Id="R287be456779047a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260b30c9af24950" /><Relationship Type="http://schemas.openxmlformats.org/officeDocument/2006/relationships/notesMaster" Target="/ppt/notesMasters/notesMaster1.xml" Id="R9abb735a317948c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e7590e0dfac49f5" /><Relationship Type="http://schemas.openxmlformats.org/officeDocument/2006/relationships/notesMaster" Target="/ppt/notesMasters/notesMaster1.xml" Id="R8d492335078341e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fabc9df54fd47fb" /><Relationship Type="http://schemas.openxmlformats.org/officeDocument/2006/relationships/notesMaster" Target="/ppt/notesMasters/notesMaster1.xml" Id="Rcbb156fe708a467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05e483aebca4850" /><Relationship Type="http://schemas.openxmlformats.org/officeDocument/2006/relationships/notesMaster" Target="/ppt/notesMasters/notesMaster1.xml" Id="R97e23f21bae544b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0d867d3471249e3" /><Relationship Type="http://schemas.openxmlformats.org/officeDocument/2006/relationships/notesMaster" Target="/ppt/notesMasters/notesMaster1.xml" Id="R97dfdccb46d941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d4d7514d549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20816b5cd541b2" /><Relationship Type="http://schemas.openxmlformats.org/officeDocument/2006/relationships/slideLayout" Target="/ppt/slideLayouts/slideLayout1.xml" Id="Rd5c135ba600a44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c135ba600a44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6316f6f49048ac" /><Relationship Type="http://schemas.openxmlformats.org/officeDocument/2006/relationships/notesSlide" Target="/ppt/notesSlides/notesSlide1.xml" Id="R590959a335d743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6d57a2aab4e0a" /><Relationship Type="http://schemas.openxmlformats.org/officeDocument/2006/relationships/notesSlide" Target="/ppt/notesSlides/notesSlide2.xml" Id="R33d4e284b02648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f0bbe9edd466d" /><Relationship Type="http://schemas.openxmlformats.org/officeDocument/2006/relationships/notesSlide" Target="/ppt/notesSlides/notesSlide3.xml" Id="R9da5c2a7360b40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67a0aaa534a29" /><Relationship Type="http://schemas.openxmlformats.org/officeDocument/2006/relationships/notesSlide" Target="/ppt/notesSlides/notesSlide4.xml" Id="R4931f974ef6547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c94b1619d4f37" /><Relationship Type="http://schemas.openxmlformats.org/officeDocument/2006/relationships/image" Target="/ppt/media/image.jpeg" Id="Rb1c4faba2c3d43e2" /><Relationship Type="http://schemas.openxmlformats.org/officeDocument/2006/relationships/notesSlide" Target="/ppt/notesSlides/notesSlide5.xml" Id="R97ff07e17aca49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f5edf9f0545ee" /><Relationship Type="http://schemas.openxmlformats.org/officeDocument/2006/relationships/image" Target="/ppt/media/image2.jpeg" Id="R189ecc6ed39b4a4f" /><Relationship Type="http://schemas.openxmlformats.org/officeDocument/2006/relationships/notesSlide" Target="/ppt/notesSlides/notesSlide6.xml" Id="R8160cd90450e48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a04f855564d20" /><Relationship Type="http://schemas.openxmlformats.org/officeDocument/2006/relationships/image" Target="/ppt/media/image3.jpeg" Id="R3199f9af67b546c8" /><Relationship Type="http://schemas.openxmlformats.org/officeDocument/2006/relationships/notesSlide" Target="/ppt/notesSlides/notesSlide7.xml" Id="R110a64a3918740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5b5cb5fb7545b9" /><Relationship Type="http://schemas.openxmlformats.org/officeDocument/2006/relationships/image" Target="/ppt/media/image4.jpeg" Id="R1e1ee3cd5f914e58" /><Relationship Type="http://schemas.openxmlformats.org/officeDocument/2006/relationships/notesSlide" Target="/ppt/notesSlides/notesSlide8.xml" Id="Re5f927c0350047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e17fae4de468d" /><Relationship Type="http://schemas.openxmlformats.org/officeDocument/2006/relationships/image" Target="/ppt/media/image5.jpeg" Id="Rc68c3b2bacbe4f3b" /><Relationship Type="http://schemas.openxmlformats.org/officeDocument/2006/relationships/notesSlide" Target="/ppt/notesSlides/notesSlide9.xml" Id="Re7453e4682774a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a39baa33e478b" /><Relationship Type="http://schemas.openxmlformats.org/officeDocument/2006/relationships/notesSlide" Target="/ppt/notesSlides/notesSlide10.xml" Id="Re31021f7e2cd4c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3e3cb81c1489b" /><Relationship Type="http://schemas.openxmlformats.org/officeDocument/2006/relationships/image" Target="/ppt/media/image6.jpeg" Id="R4c456a55c2464729" /><Relationship Type="http://schemas.openxmlformats.org/officeDocument/2006/relationships/notesSlide" Target="/ppt/notesSlides/notesSlide11.xml" Id="R98b7da2590c841b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0160b72a048f1" /><Relationship Type="http://schemas.openxmlformats.org/officeDocument/2006/relationships/image" Target="/ppt/media/image7.jpeg" Id="Ra681ef6c339a4816" /><Relationship Type="http://schemas.openxmlformats.org/officeDocument/2006/relationships/notesSlide" Target="/ppt/notesSlides/notesSlide12.xml" Id="R64730fccd7564dc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16a793e214022" /><Relationship Type="http://schemas.openxmlformats.org/officeDocument/2006/relationships/image" Target="/ppt/media/image8.jpeg" Id="Rd0b61442c2254fd2" /><Relationship Type="http://schemas.openxmlformats.org/officeDocument/2006/relationships/notesSlide" Target="/ppt/notesSlides/notesSlide13.xml" Id="R1d94d5cc05ce42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7dff47cec4221" /><Relationship Type="http://schemas.openxmlformats.org/officeDocument/2006/relationships/notesSlide" Target="/ppt/notesSlides/notesSlide14.xml" Id="R6cd6c2c57dbf4a4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6c7e819da43cc" /><Relationship Type="http://schemas.openxmlformats.org/officeDocument/2006/relationships/image" Target="/ppt/media/image9.jpeg" Id="R7ab444afac05422f" /><Relationship Type="http://schemas.openxmlformats.org/officeDocument/2006/relationships/notesSlide" Target="/ppt/notesSlides/notesSlide15.xml" Id="R75adb1fdfd3a477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de990cd104d75" /><Relationship Type="http://schemas.openxmlformats.org/officeDocument/2006/relationships/image" Target="/ppt/media/image10.jpeg" Id="R125ff00eb1d5401b" /><Relationship Type="http://schemas.openxmlformats.org/officeDocument/2006/relationships/notesSlide" Target="/ppt/notesSlides/notesSlide16.xml" Id="R8c5eb5db16cc469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ee49bdbd74d43" /><Relationship Type="http://schemas.openxmlformats.org/officeDocument/2006/relationships/image" Target="/ppt/media/image11.jpeg" Id="Re84841a5737a43b2" /><Relationship Type="http://schemas.openxmlformats.org/officeDocument/2006/relationships/notesSlide" Target="/ppt/notesSlides/notesSlide17.xml" Id="R88205908b1ca402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029124b874720" /><Relationship Type="http://schemas.openxmlformats.org/officeDocument/2006/relationships/image" Target="/ppt/media/image12.jpeg" Id="Re6470a3324204c48" /><Relationship Type="http://schemas.openxmlformats.org/officeDocument/2006/relationships/notesSlide" Target="/ppt/notesSlides/notesSlide18.xml" Id="Rfb406e6a41c4436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bbd2e3bc141ca" /><Relationship Type="http://schemas.openxmlformats.org/officeDocument/2006/relationships/image" Target="/ppt/media/image13.jpeg" Id="R5b797315e6f94452" /><Relationship Type="http://schemas.openxmlformats.org/officeDocument/2006/relationships/notesSlide" Target="/ppt/notesSlides/notesSlide19.xml" Id="R905b7d70c992415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7b9d12e0d4b2e" /><Relationship Type="http://schemas.openxmlformats.org/officeDocument/2006/relationships/notesSlide" Target="/ppt/notesSlides/notesSlide20.xml" Id="R6c3403a5438245c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a26f8be5940d4" /><Relationship Type="http://schemas.openxmlformats.org/officeDocument/2006/relationships/notesSlide" Target="/ppt/notesSlides/notesSlide21.xml" Id="R1fb0ecc3548349b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9771fa10c407b" /><Relationship Type="http://schemas.openxmlformats.org/officeDocument/2006/relationships/notesSlide" Target="/ppt/notesSlides/notesSlide22.xml" Id="R036ad47942404ad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4e779587041cb" /><Relationship Type="http://schemas.openxmlformats.org/officeDocument/2006/relationships/notesSlide" Target="/ppt/notesSlides/notesSlide23.xml" Id="Re9a368796bcd4bc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1059a15e64c5b" /><Relationship Type="http://schemas.openxmlformats.org/officeDocument/2006/relationships/notesSlide" Target="/ppt/notesSlides/notesSlide24.xml" Id="Rc780048c0b804d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1C9BB5-C87D-4B5F-91D3-679B1BC1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451B4-3953-4066-A6A4-B07D2BC6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46B5B-9F4C-475D-82BD-F4215C3A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29150"/>
            <a:ext cx="1219200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982B69-553C-41B0-B55B-1BDBDFE5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33350"/>
            <a:ext cx="434340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A"/>
          </a:solidFill>
          <a:ln xmlns:a="http://schemas.openxmlformats.org/drawingml/2006/main" w="9525">
            <a:solidFill>
              <a:srgbClr val="DCEB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397CE-94AE-4E94-AD9D-BA5A7DC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33350"/>
            <a:ext cx="180975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DB5"/>
          </a:solidFill>
          <a:ln xmlns:a="http://schemas.openxmlformats.org/drawingml/2006/main" w="9525">
            <a:solidFill>
              <a:srgbClr val="236DB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46227-B03E-4202-887A-2D4A7D94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5AA8"/>
                </a:solidFill>
              </a:defRPr>
            </a:pPr>
            <a:r>
              <a:rPr sz="1050" b="1">
                <a:solidFill>
                  <a:srgbClr val="175AA8"/>
                </a:solidFill>
              </a:rPr>
              <a:t>CAREEROS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22B19-D473-4225-AF21-6E7A5CDD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68580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Career potential is lost when evidence and action arrive too late.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DAFD3-465F-46F5-A08E-A61ABEFB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638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40566F"/>
                </a:solidFill>
              </a:defRPr>
            </a:pPr>
            <a:r>
              <a:rPr sz="1725" b="0">
                <a:solidFill>
                  <a:srgbClr val="40566F"/>
                </a:solidFill>
              </a:rPr>
              <a:t>CareerOS connects student evidence, employer demand, and university action so gaps can be addressed earlier.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EB7AFD-CBC3-436A-9C3A-DC1570B4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19175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48D7E-00A6-473D-8680-560A2BA7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192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AA8"/>
                </a:solidFill>
              </a:defRPr>
            </a:pPr>
            <a:r>
              <a:rPr sz="1275" b="1">
                <a:solidFill>
                  <a:srgbClr val="175AA8"/>
                </a:solidFill>
              </a:rPr>
              <a:t>STUDENT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A64A7A-7FAD-4E1C-B704-445CF186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71675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87562-98A7-4D12-B472-F4137C9C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71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EMPLOYER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3B1BDB-056D-4504-ABC6-B53C54B2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924175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0E589B-C415-4936-B6B2-AB3089FE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242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5AA8"/>
                </a:solidFill>
              </a:defRPr>
            </a:pPr>
            <a:r>
              <a:rPr sz="1275" b="1">
                <a:solidFill>
                  <a:srgbClr val="175AA8"/>
                </a:solidFill>
              </a:rPr>
              <a:t>UNIVERSITY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6D1490-66A3-448A-AEF7-D4E30E45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695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Signal → Evidence → Decision → Action → Learning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1060F-D88A-4AED-91FA-8AEFE667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FE7FF"/>
                </a:solidFill>
              </a:defRPr>
            </a:pPr>
            <a:r>
              <a:rPr sz="900" b="1">
                <a:solidFill>
                  <a:srgbClr val="CFE7FF"/>
                </a:solidFill>
              </a:rPr>
              <a:t>PROTOTYPE • SIMULATED INTELLIGENCE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2B417-6CBC-4C43-8377-C26DCB22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362700"/>
            <a:ext cx="280987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FFFFF"/>
                </a:solidFill>
              </a:defRPr>
            </a:pPr>
            <a:r>
              <a:rPr sz="900" b="0">
                <a:solidFill>
                  <a:srgbClr val="FFFFFF"/>
                </a:solidFill>
              </a:rPr>
              <a:t>Talentbank AI Hackathon • 2026</a:t>
            </a:r>
          </a:p>
        </p:txBody>
      </p:sp>
    </p:spTree>
    <p:extLst>
      <p:ext uri="{BB962C8B-B14F-4D97-AF65-F5344CB8AC3E}">
        <p14:creationId xmlns:p14="http://schemas.microsoft.com/office/powerpoint/2010/main" val="842666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562830-A4BC-4FB7-9A1A-AF87B164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56394A-327A-4675-8D3C-1790D37A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C2DBFE-7138-4CCE-9106-0D3EDF6C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THE SHARED FAILURE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B6316-1DE2-47DC-943F-357E0B42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same evidence gap appears as uncertainty, recruiting waste, and late action.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B6F034-B4C9-4D7D-91B8-C971BC4D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65293-66B6-4E3C-BB71-4269CBA4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CE4FD7-EEDA-4E0D-95F8-5B8B01A7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3409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62655-C5B6-401C-8043-E7927ADA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47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5AA8"/>
                </a:solidFill>
              </a:defRPr>
            </a:pPr>
            <a:r>
              <a:rPr sz="900" b="1">
                <a:solidFill>
                  <a:srgbClr val="175AA8"/>
                </a:solidFill>
              </a:rPr>
              <a:t>STUDENT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D2BCA-9EF3-452C-8169-7E02C13D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90775"/>
            <a:ext cx="2914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Experience exists, but proof and direction do not.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5AF4E-95CD-4155-80E5-F9C1EDE3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2914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Chris is a Year 3 Data Science student with projects and leadership evidence—but weak visibility into what those experiences prove and what to do next.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B4B1A3-3665-44A7-9DA6-3E9C01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2849A"/>
                </a:solidFill>
              </a:defRPr>
            </a:pPr>
            <a:r>
              <a:rPr sz="900" b="1">
                <a:solidFill>
                  <a:srgbClr val="72849A"/>
                </a:solidFill>
              </a:rPr>
              <a:t>Consequence: option loss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10FFE5-69D2-4ACC-8139-E2871141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9750"/>
            <a:ext cx="3409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55C6B4-4081-41C0-A8A7-66C88BD0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2A9C2"/>
                </a:solidFill>
              </a:defRPr>
            </a:pPr>
            <a:r>
              <a:rPr sz="900" b="1">
                <a:solidFill>
                  <a:srgbClr val="12A9C2"/>
                </a:solidFill>
              </a:rPr>
              <a:t>EMPLOYER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ED85DC-4307-4645-BE1F-E941FFC0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90775"/>
            <a:ext cx="2914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Every urgent search restarts from zero.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40BD7B-1B52-4491-B1F6-3CB23EA5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2914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Prior challenge participants, screening rationale, and relationship history decay across spreadsheets, inboxes, and disconnected systems.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34B978-FFEC-494A-8D48-1F379C8C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9105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2849A"/>
                </a:solidFill>
              </a:defRPr>
            </a:pPr>
            <a:r>
              <a:rPr sz="900" b="1">
                <a:solidFill>
                  <a:srgbClr val="72849A"/>
                </a:solidFill>
              </a:rPr>
              <a:t>Consequence: relationship loss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EFD212-E593-4D91-8944-DDB5D342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09750"/>
            <a:ext cx="3409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84502C-F8B3-4846-A403-3A765055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7E91"/>
                </a:solidFill>
              </a:defRPr>
            </a:pPr>
            <a:r>
              <a:rPr sz="900" b="1">
                <a:solidFill>
                  <a:srgbClr val="007E91"/>
                </a:solidFill>
              </a:rPr>
              <a:t>UNIVERSITY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447A04-82D9-4B90-B9A9-1FD5FD4F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90775"/>
            <a:ext cx="2914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The intervention window closes before the report arrives.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2D8873-B4CF-421C-BD68-0DF63DDB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14700"/>
            <a:ext cx="2914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Programme and readiness gaps surface across departments while the current cohort cannot wait for a full curriculum cycle.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E14F9D-A306-4A3F-A15A-1E668BF4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9105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2849A"/>
                </a:solidFill>
              </a:defRPr>
            </a:pPr>
            <a:r>
              <a:rPr sz="900" b="1">
                <a:solidFill>
                  <a:srgbClr val="72849A"/>
                </a:solidFill>
              </a:rPr>
              <a:t>Consequence: time loss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B74675-2BF9-4383-8F01-EFF4E70A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340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Different symptoms. One failure: useful signals are fragmented, weakly evidenced, and remembered too late.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2DE360-E5DC-4FF4-9B81-24F50EB1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5E08D4-FBEE-4D83-8215-1DBD4DCC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D2ABE9-F158-4B24-BD66-9F2490B4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2098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D43033-5850-4D6D-8869-B231C2EC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019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personas and demo data</a:t>
            </a:r>
          </a:p>
        </p:txBody>
      </p:sp>
    </p:spTree>
    <p:extLst>
      <p:ext uri="{BB962C8B-B14F-4D97-AF65-F5344CB8AC3E}">
        <p14:creationId xmlns:p14="http://schemas.microsoft.com/office/powerpoint/2010/main" val="17613464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B38F36-45C7-4EC7-BC3C-0B117A1D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10C93-C7F5-4CFB-9990-64B56D0C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606992-E2C7-4670-B2CB-76C45157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THE SHARED FAILURE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A011B-59FA-4466-A221-FBB25C53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Existing tools optimise transactions—not continuity between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6326A-D4F4-4EF4-ADE3-B2FFAE6D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53BDE-079C-497C-92BA-7D05D0F4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F7C36-7AE3-4FE5-AA29-988A1C6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24765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54F99-E157-428E-BC48-F169C25E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AA8"/>
                </a:solidFill>
              </a:defRPr>
            </a:pPr>
            <a:r>
              <a:rPr sz="1500" b="1">
                <a:solidFill>
                  <a:srgbClr val="175AA8"/>
                </a:solidFill>
              </a:rPr>
              <a:t>Activity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DB2A5-233B-45D7-90CC-063CFD93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2057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0566F"/>
                </a:solidFill>
              </a:defRPr>
            </a:pPr>
            <a:r>
              <a:rPr sz="1350" b="0">
                <a:solidFill>
                  <a:srgbClr val="40566F"/>
                </a:solidFill>
              </a:rPr>
              <a:t>becomes a résumé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24F02-9E5D-4872-8733-B0AABB9E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4003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36DB5"/>
                </a:solidFill>
              </a:defRPr>
            </a:pPr>
            <a:r>
              <a:rPr sz="1800" b="1">
                <a:solidFill>
                  <a:srgbClr val="236DB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C275E-3FA0-4028-ADD3-626A17FE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62125"/>
            <a:ext cx="24765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438D85-5B43-4766-A175-914C206B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002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AA8"/>
                </a:solidFill>
              </a:defRPr>
            </a:pPr>
            <a:r>
              <a:rPr sz="1500" b="1">
                <a:solidFill>
                  <a:srgbClr val="175AA8"/>
                </a:solidFill>
              </a:rPr>
              <a:t>Engagement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F063F4-58B7-4B3A-8111-F3D37C57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57450"/>
            <a:ext cx="2057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0566F"/>
                </a:solidFill>
              </a:defRPr>
            </a:pPr>
            <a:r>
              <a:rPr sz="1350" b="0">
                <a:solidFill>
                  <a:srgbClr val="40566F"/>
                </a:solidFill>
              </a:rPr>
              <a:t>becomes an attendance list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DC4F5-5145-4859-A20E-C0C0377A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003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36DB5"/>
                </a:solidFill>
              </a:defRPr>
            </a:pPr>
            <a:r>
              <a:rPr sz="1800" b="1">
                <a:solidFill>
                  <a:srgbClr val="236DB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B150DC-FA54-4C2D-966A-DBFB70A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24765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B9A3D-3AEF-44C6-8A53-1DC1E4AF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002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AA8"/>
                </a:solidFill>
              </a:defRPr>
            </a:pPr>
            <a:r>
              <a:rPr sz="1500" b="1">
                <a:solidFill>
                  <a:srgbClr val="175AA8"/>
                </a:solidFill>
              </a:rPr>
              <a:t>Hiring feedback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036914-0D3B-4A4B-B058-4AD430F0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2057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0566F"/>
                </a:solidFill>
              </a:defRPr>
            </a:pPr>
            <a:r>
              <a:rPr sz="1350" b="0">
                <a:solidFill>
                  <a:srgbClr val="40566F"/>
                </a:solidFill>
              </a:rPr>
              <a:t>stays in an ATS or inbox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032FB-85DA-47CC-8281-CF18D62A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4003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36DB5"/>
                </a:solidFill>
              </a:defRPr>
            </a:pPr>
            <a:r>
              <a:rPr sz="1800" b="1">
                <a:solidFill>
                  <a:srgbClr val="236DB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43B550-55B6-4BC3-B883-494B01CE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62125"/>
            <a:ext cx="24765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73A74F-653B-40C7-B7B5-6D111C1A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0002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5AA8"/>
                </a:solidFill>
              </a:defRPr>
            </a:pPr>
            <a:r>
              <a:rPr sz="1500" b="1">
                <a:solidFill>
                  <a:srgbClr val="175AA8"/>
                </a:solidFill>
              </a:rPr>
              <a:t>Outcomes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532492-F752-4D28-977C-F12D3EA4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57450"/>
            <a:ext cx="2057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0566F"/>
                </a:solidFill>
              </a:defRPr>
            </a:pPr>
            <a:r>
              <a:rPr sz="1350" b="0">
                <a:solidFill>
                  <a:srgbClr val="40566F"/>
                </a:solidFill>
              </a:rPr>
              <a:t>arrive in periodic reports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FC6733-523D-4714-8EBA-ABE252D3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48125"/>
            <a:ext cx="93345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7E0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FD0E79-F124-4690-AFC8-9EA0D89E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243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2A43"/>
                </a:solidFill>
              </a:defRPr>
            </a:pPr>
            <a:r>
              <a:rPr sz="2025" b="1">
                <a:solidFill>
                  <a:srgbClr val="102A43"/>
                </a:solidFill>
              </a:rPr>
              <a:t>The next decision begins without the earlier context.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A857B6-4389-4CD4-A304-446C173F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848225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0566F"/>
                </a:solidFill>
              </a:defRPr>
            </a:pPr>
            <a:r>
              <a:rPr sz="1350" b="0">
                <a:solidFill>
                  <a:srgbClr val="40566F"/>
                </a:solidFill>
              </a:rPr>
              <a:t>CareerOS preserves context between transactions; it does not pretend to replace every source system.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51B37-1428-4E4E-A28C-BB0D89C5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E957B2-3D77-4EC9-AB42-7B28846B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1C6180-09E9-4ED1-ABAE-E203A25E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9621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CEDB7C-9A2B-4B05-ACA5-C31A25B7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771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Future integrations required</a:t>
            </a:r>
          </a:p>
        </p:txBody>
      </p:sp>
    </p:spTree>
    <p:extLst>
      <p:ext uri="{BB962C8B-B14F-4D97-AF65-F5344CB8AC3E}">
        <p14:creationId xmlns:p14="http://schemas.microsoft.com/office/powerpoint/2010/main" val="4908756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C63B33-69DF-4DD7-887B-C87CE257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599A3A-474D-433E-AFD8-99E17FD4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E64F2-E222-4A0A-87AE-06255AA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THE OPERATING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61565-8182-4493-AB92-2E38F8E2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CareerOS converts fragmented signals into a sequence of earlier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75096-7DC4-49FB-A8E4-7C2DE8AE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4968A-BCEC-4831-8B00-EF3C9D6C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72AFE6-2B23-462F-B475-8BD75286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09550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98075-D451-4DC7-81F7-F2E5FAED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241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5845A-79C6-41CB-BC19-0FB54582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24150"/>
            <a:ext cx="1543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Project, application,</a:t>
            </a:r>
          </a:p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demand, outcome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EF0CC5-C6D6-49B8-9CE6-DD80DCBA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7622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A9C2"/>
                </a:solidFill>
              </a:defRPr>
            </a:pPr>
            <a:r>
              <a:rPr sz="1875" b="1">
                <a:solidFill>
                  <a:srgbClr val="12A9C2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C2FCE-685B-4051-8AB6-5BE126EB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09550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8ABD7A-260A-42D5-9D6D-F7C87D19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36DB5"/>
                </a:solidFill>
              </a:defRPr>
            </a:pPr>
            <a:r>
              <a:rPr sz="975" b="1">
                <a:solidFill>
                  <a:srgbClr val="236DB5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73135-8794-48F7-B180-F5E0A5FA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724150"/>
            <a:ext cx="1543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Source, recency,</a:t>
            </a:r>
          </a:p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context, behaviour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22441E-79F0-407C-BC5C-A5C95129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A9C2"/>
                </a:solidFill>
              </a:defRPr>
            </a:pPr>
            <a:r>
              <a:rPr sz="1875" b="1">
                <a:solidFill>
                  <a:srgbClr val="12A9C2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BED9A-BD4E-45AD-8A9D-82FF630E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09550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7B1CB6-A1D2-497D-9CCC-4F2F7338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241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3EE033-FFE9-474B-84E7-20DD08FA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724150"/>
            <a:ext cx="1543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Next skill, shortlist,</a:t>
            </a:r>
          </a:p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intervention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018FFB-2BB4-467A-8C42-062567C5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622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A9C2"/>
                </a:solidFill>
              </a:defRPr>
            </a:pPr>
            <a:r>
              <a:rPr sz="1875" b="1">
                <a:solidFill>
                  <a:srgbClr val="12A9C2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A66C36-E609-4951-9867-77706641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09550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3F50F9-5780-4920-887D-9157D38C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3241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0F7EE9-E694-4AC2-8F3B-4614BFD8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24150"/>
            <a:ext cx="1543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Practise, apply,</a:t>
            </a:r>
          </a:p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re-engage, assign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83E24F-6FAE-4CC6-87DA-CBB64CF3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622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A9C2"/>
                </a:solidFill>
              </a:defRPr>
            </a:pPr>
            <a:r>
              <a:rPr sz="1875" b="1">
                <a:solidFill>
                  <a:srgbClr val="12A9C2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4C4F24-D232-43DF-A290-03D05550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095500"/>
            <a:ext cx="1924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9AA405-4123-4D20-85C3-02D1F892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3241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LEARNING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0392B0-8995-4542-BDFC-473B87F8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724150"/>
            <a:ext cx="1543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Improve the next</a:t>
            </a:r>
          </a:p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decision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7774B0-3B24-4691-88BB-18B5E99F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5AA8"/>
                </a:solidFill>
              </a:defRPr>
            </a:pPr>
            <a:r>
              <a:rPr sz="1350" b="1">
                <a:solidFill>
                  <a:srgbClr val="175AA8"/>
                </a:solidFill>
              </a:rPr>
              <a:t>Student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8F5D7B-FD5E-486C-B56E-59E8F2F5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2A9C2"/>
                </a:solidFill>
              </a:defRPr>
            </a:pPr>
            <a:r>
              <a:rPr sz="1350" b="1">
                <a:solidFill>
                  <a:srgbClr val="12A9C2"/>
                </a:solidFill>
              </a:rPr>
              <a:t>Employer demand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716889-7EB3-41CC-A883-4744DF7B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E91"/>
                </a:solidFill>
              </a:defRPr>
            </a:pPr>
            <a:r>
              <a:rPr sz="1350" b="1">
                <a:solidFill>
                  <a:srgbClr val="007E91"/>
                </a:solidFill>
              </a:rPr>
              <a:t>University action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68BAC2-14C0-470E-9E02-1CD7163D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95875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The prototype demonstrates each workspace and selected handoffs. A live shared network remains future-facing.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B353A1-B863-4DCC-9482-DB4F79AA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98B461-9740-48BB-BA4F-98A8C06F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91230B-ADC0-46EB-AAC6-B3DD0B1E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395538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3F6"/>
          </a:solidFill>
          <a:ln xmlns:a="http://schemas.openxmlformats.org/drawingml/2006/main" w="9525">
            <a:solidFill>
              <a:srgbClr val="D8F3F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85DB68-4957-4A1F-8A93-A2A5CF1D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205038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7E91"/>
                </a:solidFill>
              </a:defRPr>
            </a:pPr>
            <a:r>
              <a:rPr sz="750" b="1">
                <a:solidFill>
                  <a:srgbClr val="007E91"/>
                </a:solidFill>
              </a:rPr>
              <a:t>Demonstrated model • network future</a:t>
            </a:r>
          </a:p>
        </p:txBody>
      </p:sp>
    </p:spTree>
    <p:extLst>
      <p:ext uri="{BB962C8B-B14F-4D97-AF65-F5344CB8AC3E}">
        <p14:creationId xmlns:p14="http://schemas.microsoft.com/office/powerpoint/2010/main" val="19791605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C2ADE3-F9C1-4C1C-BE37-125368EE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611E95-B4FF-4B79-A090-B9104712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35085-A1DA-4614-8B2B-53D267C9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STUDENT •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0F831B-A092-4E5A-982E-A6AD518D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Career Memory turns “I did this” into “Here is what it proves.”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29259-2507-4AC3-88D1-93887833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FA5C7-C7F8-4EA4-8AD0-6E45809C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28F2E-60DC-48E3-BC57-08A0A7D5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AADF6-569A-4F6D-AC6B-745024C1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c4faba2c3d43e2"/>
          <a:stretch xmlns:a="http://schemas.openxmlformats.org/drawingml/2006/main"/>
        </p:blipFill>
        <p:spPr>
          <a:xfrm xmlns:a="http://schemas.openxmlformats.org/drawingml/2006/main">
            <a:off x="5448300" y="1823235"/>
            <a:ext cx="6096000" cy="3811604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C78BDA-50A1-4CD3-B523-1D2EE56C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PAIN →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FAED4C-4FE7-4525-91A2-69AFFD2F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Students should not reconstruct their value only when an application opens.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E145DD-5D34-46F7-B30E-C6E045E6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23B1A-C27E-40E5-8CC5-1BA68CB1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0E9F0-388E-4988-B19C-AE9AF1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Preserve projects, internships, leadership, events, and achievements.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5A327A-360E-428C-8BE2-70FF273E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C8570D-C74A-43B4-83D0-177997A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B0CB90-A988-4A34-B639-885B7149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Connect each experience to skills and supporting context.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33E2E4-3A63-4847-847F-EC76B8A7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ECEB54-A7CF-4719-AB56-11515190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783E5F-3328-4A15-A9B1-602F480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Expose missing proof instead of hiding uncertainty.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03E48D-313E-4F85-A830-420B6C81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C06DF9-82AE-49DC-85AC-6BB81006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Behaviour change: maintain reusable evidence continuously.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582A29-A936-4021-9F5B-6CD3609E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574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C27D25-8AEC-48E1-95FF-2B2DAD02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1457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0CDFB3-7544-48F0-AD93-A48C396D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286250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B885A1-29D1-41C3-A323-64563BF5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343400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D669FE-3BD7-4DFC-8316-72B995FB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C2C913-D994-4E48-B409-E98410C1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366253-AFF0-42F0-8045-AE6FE53E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5527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3F6"/>
          </a:solidFill>
          <a:ln xmlns:a="http://schemas.openxmlformats.org/drawingml/2006/main" w="9525">
            <a:solidFill>
              <a:srgbClr val="D8F3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D402BC-7C66-417B-B5D3-09AE83AA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3622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7E91"/>
                </a:solidFill>
              </a:defRPr>
            </a:pPr>
            <a:r>
              <a:rPr sz="750" b="1">
                <a:solidFill>
                  <a:srgbClr val="007E91"/>
                </a:solidFill>
              </a:rPr>
              <a:t>Demonstrated UI • verification partial</a:t>
            </a:r>
          </a:p>
        </p:txBody>
      </p:sp>
    </p:spTree>
    <p:extLst>
      <p:ext uri="{BB962C8B-B14F-4D97-AF65-F5344CB8AC3E}">
        <p14:creationId xmlns:p14="http://schemas.microsoft.com/office/powerpoint/2010/main" val="6793150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CE6086-297B-46B4-9D4B-4BC20F3A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C122D-A772-4ED9-9719-EDE71B86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F018D-19AB-4513-9458-DE9A5244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STUDENT • DIRECTION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9141D-63E1-49C4-897A-0CA86119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Data Science degree becomes a starting signal—not a career boundary.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008A9-A4F1-4F8B-9FE4-8D8D7F11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E00843-773F-4589-8A28-3434FDCF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F4624-F401-4D89-B61C-D65BF458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A48F43-F9BC-43DC-8A8F-4EC2EFB6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9ecc6ed39b4a4f"/>
          <a:stretch xmlns:a="http://schemas.openxmlformats.org/drawingml/2006/main"/>
        </p:blipFill>
        <p:spPr>
          <a:xfrm xmlns:a="http://schemas.openxmlformats.org/drawingml/2006/main">
            <a:off x="666750" y="1823235"/>
            <a:ext cx="6096000" cy="3811604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1A799-ACEA-4040-AC1E-B5A533E4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EVIDENCE → DIRECTION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87FF5-8FEC-4E44-B78D-501F47CE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Career Intelligence interprets existing proof against adjacent paths and gaps.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9CFC27-F276-4B3C-B3DA-1FCBF0B2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23A476-24FB-4FDA-950C-7DFE4CD2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9F5DAC-52CE-4587-8DE7-0C2099C2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Reveal transferable evidence and adjacent career options.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2B0813-F0D2-4557-A15B-84482E25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83E5F4-ABE1-4E4D-A25A-0C812F62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BE7A8-B6F1-45FE-BDAC-5BED83DC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Prioritise one missing skill or proof point.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7E9B72-BC21-4A65-B7A1-1F78048E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CF4029-E053-4958-A5B3-97CCD2BE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454E15-8111-4B72-8679-434E60F3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Connect the gap to learning or market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8A7943-5CCD-49FD-85EC-99F1563E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2FA93E-B8DD-4BFB-B4C4-0C24E833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Designed impact: clearer choices and less degree lock-in.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2EAD14-7DDA-4337-B622-BD6C3E23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810000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2B9928-FC42-4C72-9A36-94CE12C8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867150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C74730-5F4E-4024-A831-0B8B2686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196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295721-FCE9-4FBB-9F19-4A0CA032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7677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45E3A1-9040-4416-B3FC-48915DCC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DA113C-A291-4A7C-B281-CE6B837D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9CAFF8-DDEB-4D19-B436-EFEDB952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2098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CD2356-B54A-43A8-A3CE-29AEC8DE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019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paths and market logic</a:t>
            </a:r>
          </a:p>
        </p:txBody>
      </p:sp>
    </p:spTree>
    <p:extLst>
      <p:ext uri="{BB962C8B-B14F-4D97-AF65-F5344CB8AC3E}">
        <p14:creationId xmlns:p14="http://schemas.microsoft.com/office/powerpoint/2010/main" val="232364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6AB984-9293-4E6D-B6F7-5AD6A7D3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BCB8C-7F60-4239-B2F7-A6092719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27265-BD74-4C48-BCFA-CD39F6B6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STUDENT •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FA48E4-7210-4A30-9674-13A905D7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Guidance matters only when it ends in a visible next action.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D5765-40C7-4D7B-93EB-6DF80764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BB6C8-D287-44D1-A0D1-573F3EEC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26533-3482-43D6-A79E-7482F45D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238C6-FC64-4AF9-8136-CAAD176C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99f9af67b546c8"/>
          <a:stretch xmlns:a="http://schemas.openxmlformats.org/drawingml/2006/main"/>
        </p:blipFill>
        <p:spPr>
          <a:xfrm xmlns:a="http://schemas.openxmlformats.org/drawingml/2006/main">
            <a:off x="5448300" y="1823235"/>
            <a:ext cx="6096000" cy="3811604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F954B4-A012-4CFD-B49C-5C7344F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DIRECTION → 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D772B9-3C6F-49EB-AADF-F49ADBC9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Opportunities and applications operationalise the student's next decision.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1C861C-A320-4C6B-931E-B69E55E2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5E0C67-59D0-4A12-B6FC-467EC7F2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C6B7BC-7F67-404E-AEB4-13A4371E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Explain why an opportunity fits—and what evidence is missing.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E772F2-7F80-4455-92B8-699DE40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6714D5-FB9A-46AA-B76F-F5E674FF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B8057D-8FDF-477E-8259-70DC1CCD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Save, apply, prepare, or build the needed skill.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0A6AA4-A09D-4ECD-BE1C-CD46E1EF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C8367E-A948-4362-980C-2893C92C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91DF71-5904-43DD-B57F-97583351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Preserve status and follow-up instead of losing momentum.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A56DA0-853D-4969-AF1C-47F2756D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A8F447-90B0-4D9A-BDB3-EE9A4DB2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Behaviour change: advice becomes a commitment.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987B59-C4B0-4C9B-8C11-6E1999CA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000500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E5CAE0-9C48-4F3B-84F2-AA73C248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057650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CAD46E-E31F-48F5-BFD1-EDE04359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8101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5EDFD5-6652-45F6-B83A-362B5458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86727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93F5A2-127F-4297-9552-8DE03EF6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364D1E-EA77-4D5B-89F5-DA55C2D4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218125-47C2-4B68-894C-B9FCB57D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900238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3F6"/>
          </a:solidFill>
          <a:ln xmlns:a="http://schemas.openxmlformats.org/drawingml/2006/main" w="9525">
            <a:solidFill>
              <a:srgbClr val="D8F3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E8A001-A2D8-45B8-8541-F7D17EB8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709738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7E91"/>
                </a:solidFill>
              </a:defRPr>
            </a:pPr>
            <a:r>
              <a:rPr sz="750" b="1">
                <a:solidFill>
                  <a:srgbClr val="007E91"/>
                </a:solidFill>
              </a:rPr>
              <a:t>Demonstrated local workflow</a:t>
            </a:r>
          </a:p>
        </p:txBody>
      </p:sp>
    </p:spTree>
    <p:extLst>
      <p:ext uri="{BB962C8B-B14F-4D97-AF65-F5344CB8AC3E}">
        <p14:creationId xmlns:p14="http://schemas.microsoft.com/office/powerpoint/2010/main" val="10035310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116C75-46A2-4583-B78A-6D6118FC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4E4F8-A070-4601-89EA-257B6D7B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9CC3A-F61D-493E-A821-36D369CA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STUDENT • PREPARATION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CD07C-808E-4D81-B0DD-0C954486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Ask from intent, then practise the moment that matters.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E5CCE-92FC-4705-81D4-FAB147E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7324C-39DA-4B84-ADAD-2684EDC7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41584A-E05C-4F13-B1BB-19E5EDFF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0AD74-0EC8-42AC-B461-A021D789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ee3cd5f914e58"/>
          <a:stretch xmlns:a="http://schemas.openxmlformats.org/drawingml/2006/main"/>
        </p:blipFill>
        <p:spPr>
          <a:xfrm xmlns:a="http://schemas.openxmlformats.org/drawingml/2006/main">
            <a:off x="666750" y="1823235"/>
            <a:ext cx="6096000" cy="3811604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B5FE39-2F34-4662-B17D-D1CBD6EF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INTENT → PREPARATION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03B25-6B3B-4AEE-B73A-0D5D5CEB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The Companion reduces navigation while practice turns guidance into rehearsal.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9202E-7011-4CED-9B03-511F1F5A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3E8F30-0A6F-4C57-8A65-19B2463A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851E-B48B-4FEC-B2BD-B37AF2CD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Interpret the student's question in CareerOS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28E66-13DB-46B6-8DA5-88D77A97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F2A062-0BD8-4296-8E2D-B02E47A0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8CA7F0-D883-4003-873B-00BB4D6B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Route to evidence, opportunity, or preparation.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448B0-2701-4FFC-8543-08CD1896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32DDF2-2357-4684-82C0-4D1ED158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E27316-6859-4DB6-BCD9-FD3825AA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Practise for a role without learning the product's information architecture.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80FE4C-145C-44C6-9AEB-24FC6A96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F215D7-5DC3-48BE-8175-46E0026B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Expected impact: faster movement from uncertainty to preparation.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98C45D-C0DB-441B-9006-B95E6BED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76750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A86284-7983-4441-80F4-11B57409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EDF992-BCB9-4E27-B81F-AAC0ECC5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189C9D-4CA0-4AAF-9FB2-FCDC73FE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284C30-895D-4DDA-A611-B70B2CC6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652588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8BEB8A-8275-4122-8B17-215D7467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462088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/ optional AI</a:t>
            </a:r>
          </a:p>
        </p:txBody>
      </p:sp>
    </p:spTree>
    <p:extLst>
      <p:ext uri="{BB962C8B-B14F-4D97-AF65-F5344CB8AC3E}">
        <p14:creationId xmlns:p14="http://schemas.microsoft.com/office/powerpoint/2010/main" val="4379093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ED900F-449E-4D58-BCDB-F52414FD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0729B-5FDD-4016-A1F4-A15735C3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4809E-D318-4572-9FA5-6ADDE106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STUDENT • RETENTION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D8074-4F60-4E2B-9A5D-02A60C83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CareerOS gives students reasons to return between applications.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3C747E-AC69-4AF2-94AC-5A402EE0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9C1FB-0579-439E-BA23-4D3CD021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C977B-ABF1-4343-9713-F4F2EC62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76BEA0-CD18-414F-A44E-3BAAB9EC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8c3b2bacbe4f3b"/>
          <a:stretch xmlns:a="http://schemas.openxmlformats.org/drawingml/2006/main"/>
        </p:blipFill>
        <p:spPr>
          <a:xfrm xmlns:a="http://schemas.openxmlformats.org/drawingml/2006/main">
            <a:off x="5448300" y="1823235"/>
            <a:ext cx="6096000" cy="3811604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060A00-37AA-4A60-8D78-753B6531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SETBACK → RETURN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A06214-912D-4173-A2FA-8AA9739F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Community, mentorship, and learning can extend the relationship beyond vacancy browsing.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CEC73-0E61-4141-8B2C-987BA35F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30524E-E64F-4A1E-9085-28D33B42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FBE66-5ADD-41C7-A5B1-B98AB5B7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Normalise rejection and uncertainty through relevant peers.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90AD4C-502C-4FFE-B0F9-2FAF3B11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1CB9E4-53F9-469B-A7F7-88CBB79E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76CADE-739F-4DD8-9BA8-EB8706C8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Find targeted support, advice, or mentorship.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B658A1-AF8D-41F2-BA9E-1586A6AF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352623-CC0A-4E65-91FE-E640462C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6A88AF-4E04-40AF-901B-51E09344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Turn new activity into future Career Memory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1753F4-DA6A-4BC2-8DD4-7513941B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34BF69-59B9-4196-A246-A1BE5BF2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Designed impact: continued evidence-building—not measured retention.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134D65-D64F-4B08-917B-7B5E258D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4A0973-95AD-4ACB-BB43-D743883A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2A5306-FA05-4434-AFB8-88912DA3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9621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D16C8-98BC-4318-B21D-5765B3E9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771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Community demo • loop future</a:t>
            </a:r>
          </a:p>
        </p:txBody>
      </p:sp>
    </p:spTree>
    <p:extLst>
      <p:ext uri="{BB962C8B-B14F-4D97-AF65-F5344CB8AC3E}">
        <p14:creationId xmlns:p14="http://schemas.microsoft.com/office/powerpoint/2010/main" val="12660274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9C6F6-4516-4951-9C12-00C2F747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5804D-F21B-4694-A5CC-D5560AF1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FEB10-9BC3-4244-9724-305C7587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EMPLOYER • DECISION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FEDD87-B25F-4162-B972-01499C33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Employers need evidence and history—not another candidate database.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EA2054-C2A7-438F-BB35-19D4159D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7600A-DF22-4F18-A32C-FEE26492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57602-C618-4F5C-86CE-189BAE22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4476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613621-63C8-4CF3-B10A-1DC20D72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A9C2"/>
                </a:solidFill>
              </a:defRPr>
            </a:pPr>
            <a:r>
              <a:rPr sz="975" b="1">
                <a:solidFill>
                  <a:srgbClr val="12A9C2"/>
                </a:solidFill>
              </a:rPr>
              <a:t>THE CURRENT 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3D8D5D-11E3-4D5A-B6CB-D192DA61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714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Early-talent decisions are weakest when every search starts from CV claims and zero context.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31A874-C435-405E-AD06-35E4E2FF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0566F"/>
                </a:solidFill>
              </a:defRPr>
            </a:pPr>
            <a:r>
              <a:rPr sz="1350" b="0">
                <a:solidFill>
                  <a:srgbClr val="40566F"/>
                </a:solidFill>
              </a:rPr>
              <a:t>Similar claims • limited work history • lost event context • urgent sourcing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1A902-E79F-44D3-B3D0-DF5A713E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524000"/>
            <a:ext cx="62103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7E0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D5024B-E466-4508-AE67-8A6EA140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8478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THE CAREEROS EMPLOYER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62757-2914-4ED3-B0F3-4219FD22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669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E5D8B8-A946-4F38-86C0-3AB6AC21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71725"/>
            <a:ext cx="455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A43"/>
                </a:solidFill>
              </a:defRPr>
            </a:pPr>
            <a:r>
              <a:rPr sz="1275" b="0">
                <a:solidFill>
                  <a:srgbClr val="102A43"/>
                </a:solidFill>
              </a:rPr>
              <a:t>Need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72D145-E352-47CD-8B23-1ECADA62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DCD21-6A6F-49AD-84DC-9ED698C2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52750"/>
            <a:ext cx="455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36DB5"/>
                </a:solidFill>
              </a:defRPr>
            </a:pPr>
            <a:r>
              <a:rPr sz="1275" b="1">
                <a:solidFill>
                  <a:srgbClr val="236DB5"/>
                </a:solidFill>
              </a:rPr>
              <a:t>Evidence-backed discovery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CC6DB1-5370-4089-BD41-46279F94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42900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E5B37C-7B60-4414-88E2-7666AB34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33775"/>
            <a:ext cx="455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A43"/>
                </a:solidFill>
              </a:defRPr>
            </a:pPr>
            <a:r>
              <a:rPr sz="1275" b="0">
                <a:solidFill>
                  <a:srgbClr val="102A43"/>
                </a:solidFill>
              </a:rPr>
              <a:t>Targeted validation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9AC5B6-237F-4568-8D61-13DCCCA1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10025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FA8BEE-45B2-4A43-B1EA-6DBBA946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14800"/>
            <a:ext cx="455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A43"/>
                </a:solidFill>
              </a:defRPr>
            </a:pPr>
            <a:r>
              <a:rPr sz="1275" b="0">
                <a:solidFill>
                  <a:srgbClr val="102A43"/>
                </a:solidFill>
              </a:rPr>
              <a:t>Decision history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C0512F-2C10-4799-853F-77ACEDCB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5910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C94D19-0275-4FB1-BD4F-CC578DBF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95825"/>
            <a:ext cx="455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A43"/>
                </a:solidFill>
              </a:defRPr>
            </a:pPr>
            <a:r>
              <a:rPr sz="1275" b="0">
                <a:solidFill>
                  <a:srgbClr val="102A43"/>
                </a:solidFill>
              </a:rPr>
              <a:t>Reusable pipeline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0631E-0BC0-4103-BDF0-47BD484A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0101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5AA8"/>
                </a:solidFill>
              </a:defRPr>
            </a:pPr>
            <a:r>
              <a:rPr sz="1200" b="1">
                <a:solidFill>
                  <a:srgbClr val="175AA8"/>
                </a:solidFill>
              </a:rPr>
              <a:t>Behaviour change: ask what supports fit—and what must be validated.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D79524-F4A7-4A5D-BEA8-B008E297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4ABB62-8DC3-4579-BDDA-D639361B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3B6FAA-3719-4EA4-93A7-206714ED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3336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DE57A7-9F85-4A51-99FB-1E55841C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1431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candidate and match data</a:t>
            </a:r>
          </a:p>
        </p:txBody>
      </p:sp>
    </p:spTree>
    <p:extLst>
      <p:ext uri="{BB962C8B-B14F-4D97-AF65-F5344CB8AC3E}">
        <p14:creationId xmlns:p14="http://schemas.microsoft.com/office/powerpoint/2010/main" val="10037677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6A161C-92F2-4397-8379-BFFAF1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195A2-CBE8-4ACA-9118-6AA1AD06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07CC5-62F3-478D-BD45-52C22280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EMPLOYER • DISCOVERY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661F8-134B-4ACA-8B66-E35611C7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A match should explain the evidence—and the uncertainty.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9292F-59CB-46A2-82E5-DA612D59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B618E7-6D6A-4C92-A743-6EEF7E11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74B36-33AC-4A8F-B474-2C4524E9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23AC65-D3EB-4380-8926-31F26A82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456a55c2464729"/>
          <a:stretch xmlns:a="http://schemas.openxmlformats.org/drawingml/2006/main"/>
        </p:blipFill>
        <p:spPr>
          <a:xfrm xmlns:a="http://schemas.openxmlformats.org/drawingml/2006/main">
            <a:off x="666750" y="1824038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E88732-C869-4709-A927-F55EC89A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NEED → EXPLAINABLE FIT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8C0DB9-3C25-4D59-B692-8654C761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Talent Discovery reframes ranking as an evidence-led validation plan.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82BC86-4C1B-429F-B52F-0A1A31C5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50CF0E-E006-4350-8224-FDBF5B56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72C98-D4E4-4C9B-A332-B4E1E722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Start from a hiring need, not a generic candidate search.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61B57E-BA0F-4D26-9590-EF3D1706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4ABCA6-00EC-4154-B1E8-898506E7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08134-58D9-4992-9543-668711F5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Show supporting evidence, strengths, and gaps.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7D161-F5F2-44EF-8CA1-9F20DEA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662286-A805-4B0C-AA50-D8D3F9B4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2AC8E7-2F53-4575-B06C-2B99ABCE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Prepare the next validation question before shortlisting.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61729D-E10D-49A2-91E6-06B5AA1F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AFBD20-3ED7-4089-9344-46F30151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Designed impact: more structured, accountable screening.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3C154F-A716-4BA7-B245-9D3F5466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14337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A94358-4F92-4912-A18C-348E77C0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20052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16C5A0-EBF3-42D4-8F6D-BA8BBA99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0006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EFE2A5-2B63-4970-BD71-6F274758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05777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5514FA-B122-48F4-AAEB-3AE24241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44B855-F9D5-4A8E-B4EE-A1BAF902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60519-AEF8-429E-9617-D089C1B7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271713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E2ADBA-DB0E-4B75-9017-0E2ADEC1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081213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matching and candidates</a:t>
            </a:r>
          </a:p>
        </p:txBody>
      </p:sp>
    </p:spTree>
    <p:extLst>
      <p:ext uri="{BB962C8B-B14F-4D97-AF65-F5344CB8AC3E}">
        <p14:creationId xmlns:p14="http://schemas.microsoft.com/office/powerpoint/2010/main" val="2265169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D5CF95-A58D-4BB9-B5F6-C949BF38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4A872-C023-43DF-BDA9-C889C89F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ABDDE0-BAA4-4308-A068-435B6F4A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EMPLOYER •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4EAD4-3FED-43DD-8B73-6E91DC97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CareerOS preserves why a candidate moved—not only where they are.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F7340C-67FB-41BD-A0AE-4240561E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DD1AD-F555-4103-B5CD-9FAC7DF1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9D028-6AB5-4F00-B3AA-CFB10C50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71881-FB82-407B-B163-02DDA094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1ef6c339a4816"/>
          <a:stretch xmlns:a="http://schemas.openxmlformats.org/drawingml/2006/main"/>
        </p:blipFill>
        <p:spPr>
          <a:xfrm xmlns:a="http://schemas.openxmlformats.org/drawingml/2006/main">
            <a:off x="5448300" y="1824038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7DED5C-35BE-4AB1-ABE1-7517E12D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FIT → DECISION HISTORY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29B66-4B80-43E2-9760-327FEACA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Evidence rationale must survive the handoff into candidate stages and team review.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2DF5A-DC9B-4810-9AD3-C79577DE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F1772D-2C49-4860-8D34-F920B45A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8CE88A-604E-4A11-832B-007920F2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Retain shortlist or pass decisions with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BC46BB-E082-463D-827C-B8509F75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29BA8-3777-4544-886B-AB279787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8C6EF9-8FD7-424A-9F67-8C8388EE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Carry gaps and validation questions forward.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09959-084A-46D1-9258-CCE7CCAE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6839AE-2551-49A9-9E51-B405A107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FC21B9-DB63-4841-B07C-0259CBBF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Keep the next decision-maker from repeating the same review.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1D4A26-CBB1-4203-809C-7FF6A154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6F7EBE-7C1C-433A-BBF8-FA3C47A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Expected impact: cleaner handoffs; ATS integration remains future.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B9520D-49BA-4011-8F7C-F6DC9AB4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538BF9-66C9-44F2-9845-1BAF976E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5D329B-C8C5-463B-9551-C57E0C4A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7145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3F6"/>
          </a:solidFill>
          <a:ln xmlns:a="http://schemas.openxmlformats.org/drawingml/2006/main" w="9525">
            <a:solidFill>
              <a:srgbClr val="D8F3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E75F5D-45CE-40A1-8654-EB1CBB20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524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7E91"/>
                </a:solidFill>
              </a:defRPr>
            </a:pPr>
            <a:r>
              <a:rPr sz="750" b="1">
                <a:solidFill>
                  <a:srgbClr val="007E91"/>
                </a:solidFill>
              </a:rPr>
              <a:t>Demonstrated local state</a:t>
            </a:r>
          </a:p>
        </p:txBody>
      </p:sp>
    </p:spTree>
    <p:extLst>
      <p:ext uri="{BB962C8B-B14F-4D97-AF65-F5344CB8AC3E}">
        <p14:creationId xmlns:p14="http://schemas.microsoft.com/office/powerpoint/2010/main" val="7515057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9DA07E-0F57-447A-834A-9CAA08EC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2E172-6C59-4E07-AFD2-7CF52F38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9F612D-35D9-4ED2-95B2-08BB6A2E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EMPLOYER • RELATIONSHIP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BCAD3-340C-40F6-8FE4-35A04726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Prior engagement becomes a renewable talent asset.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E191F-7510-4B92-AE55-CEE8C25B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9D2D9-E364-47BF-8433-4B3BA1DF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D57B8-498F-42B6-9ED3-82E49408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476ED-5AEA-41B7-9871-E629E4A0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61442c2254fd2"/>
          <a:stretch xmlns:a="http://schemas.openxmlformats.org/drawingml/2006/main"/>
        </p:blipFill>
        <p:spPr>
          <a:xfrm xmlns:a="http://schemas.openxmlformats.org/drawingml/2006/main">
            <a:off x="666750" y="1824038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0BB04-9C97-4069-BD06-9D1EC87F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HISTORY → REACTIVATION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0F8B89-4904-42DA-8561-6A78199F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An urgent vacancy should not erase every previous challenge or candidate interaction.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966452-6891-4611-A3FC-FB1A6911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759EC0-8A77-439B-9B0F-DB917CAB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70759A-6246-42F8-9264-EE8410CD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Surface warm candidates with prior relationship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C14FA5-6280-4F61-A76B-469042DD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3C423-F588-4737-B931-F4BF075D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CEE51A-F4D6-4B99-837B-9DBB1AB9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Explain why the renewed need matches earlier evidence.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D756B7-29C1-4607-8AB6-B2C277BF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990670-FF50-47D8-BA99-C6A8C505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191875-C8D1-452C-8B8D-37EC28FE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Reconnect engagement design, pipeline action, and learning.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CC70E4-6A8E-4A90-B232-734AA659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BC17BA-FBAA-4416-B9E5-1C72D886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Designed impact: restart from context—not from zero.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325FB4-6131-4280-92D4-752C54B0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52750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8CDFCC-4152-485B-84A9-001F2AE6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009900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B3237-D81A-4C69-96F9-1C16F52F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69D907-FFC7-4895-985D-DAB0AF4A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AE5434-86C1-4612-A933-05B9329F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147888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512D32-CEC2-4CFB-98ED-27F69B4C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957388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rewarming and sending</a:t>
            </a:r>
          </a:p>
        </p:txBody>
      </p:sp>
    </p:spTree>
    <p:extLst>
      <p:ext uri="{BB962C8B-B14F-4D97-AF65-F5344CB8AC3E}">
        <p14:creationId xmlns:p14="http://schemas.microsoft.com/office/powerpoint/2010/main" val="1970052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C0C754-C325-4037-BCD2-09EE2E30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F1DA8-29B4-4729-A0B1-59D32AE3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B370E-F460-4602-AF89-B377E4BC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UNIVERSITY • DECISION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8C77A-6C73-48F5-BAD2-ABD10020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Universities need time to act—not another annual report.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896EEE-B792-4972-BF80-DC593721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85458-B86B-4509-8C61-6A296CB3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35B50-1614-4C04-991B-424B8555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By the time an outcome appears in a report, the current cohort may already have lost the intervention window.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207C3F-F02A-44C4-9698-6BA88846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57500"/>
            <a:ext cx="1905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3DA34-81D2-44D5-9349-81E801A4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DETECT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11479-5B06-48D2-BDC5-1324A88C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Readiness and market signals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21E89-9AB9-471D-9B34-6FF1E966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857500"/>
            <a:ext cx="1905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1A665D-344E-46AA-9810-63EE3C9E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105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ASSIGN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4E6B67-F4EA-4C6E-B221-6FE00262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Named owner and deadline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F08EC-A9A8-4470-BC97-8267D9FE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1905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A5F52-148A-479D-9A75-FC063C5F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05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36DB5"/>
                </a:solidFill>
              </a:defRPr>
            </a:pPr>
            <a:r>
              <a:rPr sz="975" b="1">
                <a:solidFill>
                  <a:srgbClr val="236DB5"/>
                </a:solidFill>
              </a:rPr>
              <a:t>INTERVENE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1064AF-142A-4DCD-946C-06CE2DE5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Current-cohort action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997370-1265-407F-82D8-229529B1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857500"/>
            <a:ext cx="1905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692F93-12CF-47DF-AEFD-7723B27C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05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17333F-C1CA-49BB-9513-58DF314A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Reusable institutional record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EE9C48-BA75-412D-99D3-5F0A946C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57500"/>
            <a:ext cx="1905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D43425-4F82-4538-870C-5A4108EC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105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953AA-48DE-44B3-B8D8-37B17317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Learn and govern change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E32E54-4824-4FC7-9DD9-F203C60C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53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Critical principle: help the current cohort now while governing longer-term programme change.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0B8ABD-07E3-4818-B339-DDDAD4E1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33763E-BB53-4DB9-AF85-C4266FB0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CF0750-B50F-43D2-8EEA-309F2971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9621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808E01-067E-454A-B925-11F9879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771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institutional data</a:t>
            </a:r>
          </a:p>
        </p:txBody>
      </p:sp>
    </p:spTree>
    <p:extLst>
      <p:ext uri="{BB962C8B-B14F-4D97-AF65-F5344CB8AC3E}">
        <p14:creationId xmlns:p14="http://schemas.microsoft.com/office/powerpoint/2010/main" val="6864135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AF2CE9-B8DE-41A9-8BB1-CBB18D1C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58F07-A88D-4AF4-8254-1E212001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EB03C-D1BF-476B-9381-ECBDB986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UNIVERSITY • STUDENT READINESS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70D2E-FFC5-409E-AB9C-83D5965F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A risk signal matters only when someone owns the next intervention.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9A3388-6819-49DB-B3A5-9C9F38F8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40F9F-74C6-4838-99A0-E7CDBB9C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7D9509-B5FD-40AE-9257-14CDA759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1262B0-6F75-4CFC-A968-6B254BE7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444afac05422f"/>
          <a:stretch xmlns:a="http://schemas.openxmlformats.org/drawingml/2006/main"/>
        </p:blipFill>
        <p:spPr>
          <a:xfrm xmlns:a="http://schemas.openxmlformats.org/drawingml/2006/main">
            <a:off x="5448300" y="1824038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305E5-5EFA-4CAD-8B5C-5B85D2F2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SIGNAL → OWNERSHIP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E00158-BF09-464B-A1A2-FCCD1475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Student Readiness links cohort evidence to an accountable action.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7D7D2-0856-416B-A14C-1B8E46B6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324FA1-5590-4E87-B793-1B7F046E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676CF-62D7-40A4-9DD5-8BF08513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Separate academic and employability signals.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A48771-2827-423C-A821-6AF527B0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C4683-A86E-4026-931B-5403FBC1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0EC0CA-C6A8-4ADA-B5B5-D1481AF9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Drill into a cohort or student risk context.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503C86-7C30-458A-9762-6076B046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FF1D5A-C37B-4AF9-80FB-D3C6C787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BA15D9-98E1-47FF-B9EB-74430A38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Assign an intervention, owner, deadline, and status.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EB6B9-0214-4FBD-9AC0-0FDF3FB8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834013-E6D6-43B5-A768-8B7E3534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Safeguards required: consent, access, correction, and fairness.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14468A-3AD1-4969-A4CB-4A6C3D67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386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55C110-93FA-4B36-9551-A00236DB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9577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73019-E613-4EE8-A35C-64E1A77E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4291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AACD87-9F39-4A52-9E91-08450F84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48627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83C812-319A-448D-A4A9-D1EBAD2B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BBC551-AF35-4469-A0F8-69BBDF78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FFF85B-7B13-4DB4-B168-08C2FD00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776413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8C35F5-8E02-43FC-A4AA-249CDB51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585913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Demo workflow • mock data</a:t>
            </a:r>
          </a:p>
        </p:txBody>
      </p:sp>
    </p:spTree>
    <p:extLst>
      <p:ext uri="{BB962C8B-B14F-4D97-AF65-F5344CB8AC3E}">
        <p14:creationId xmlns:p14="http://schemas.microsoft.com/office/powerpoint/2010/main" val="942189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86B10C-EEB1-4507-B98E-F79F6236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90D3C-E910-4B7E-8C95-F930E329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620FFD-0366-44D3-B145-CAD4C8BD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UNIVERSITY • CURRICULUM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27B19-5F00-4D29-AEF5-743E4B22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A curriculum gap needs two clocks: help now, reform properly.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AD227-73D9-462A-8F0B-7F5D85D4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8180-5382-41EA-9892-06ED2A39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CEE59-7DED-4BAB-8301-C7FE327C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6748D-F976-4174-BEA9-66BFE727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5ff00eb1d5401b"/>
          <a:stretch xmlns:a="http://schemas.openxmlformats.org/drawingml/2006/main"/>
        </p:blipFill>
        <p:spPr>
          <a:xfrm xmlns:a="http://schemas.openxmlformats.org/drawingml/2006/main">
            <a:off x="666750" y="1824038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F25436-BC0F-442A-AE7C-2838B81A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DEMAND → TWO ACTIONS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4A14C-4259-4B5B-9DED-360E3DD9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Curriculum-Market Alignment separates current-cohort support from governed programme change.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FFE52-866D-48C4-97FB-5A043B7B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3EB1E-B72D-4AF3-BA31-4DC5E58E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2F811E-6821-4E99-9362-3BB0EF01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Trace the gap to demand, coverage, and outcome signals.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1978C1-5CE6-45F6-AD61-8B87D60B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5614A2-A94E-432E-8980-966D0F43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578CDF-31A0-49AD-811D-B9EA28CE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Act now through workshops, challenges, or partnerships.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3A19F7-BB9D-4ACE-889E-F8FA4E0C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D884D-2A3B-410A-B353-DE97F7BD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E8DBC-AB5E-40C4-BCF1-2F324A68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Build the evidence pack and roadmap for formal reform.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4E47CF-36F7-48F2-9929-5F7274A5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BD67BB-97CA-454B-8706-AA7DA1E0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Behaviour change: market intelligence becomes a prioritised response.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9B6420-2EC1-43EA-A2EA-8AB8840E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4291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A4E09A-9FA0-47BE-9DD0-78CE5A7E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48627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B0D4C0-746D-43E0-9CBE-459A4B3C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8612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8F8F27-E35A-4DC2-85B6-4D4FF1DB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4327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558E94-DE70-468C-991B-C57C79A5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DC7B16-0D49-470B-B08F-E7FDB1D2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0FBE85-1ADD-4E29-9DFC-CF5F0446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3336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BC6C68-1FC2-477C-9A76-1B4F1C85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1431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demand and coverage data</a:t>
            </a:r>
          </a:p>
        </p:txBody>
      </p:sp>
    </p:spTree>
    <p:extLst>
      <p:ext uri="{BB962C8B-B14F-4D97-AF65-F5344CB8AC3E}">
        <p14:creationId xmlns:p14="http://schemas.microsoft.com/office/powerpoint/2010/main" val="170313833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213A34-9A45-47B4-A7D6-DF14C7D0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F4188A-DF99-409E-B327-09083CA9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7AB9F-AC2B-4FC7-B2C6-14220243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UNIVERSITY • LEARNING AND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D8DEC-D014-40C3-906C-2D648C73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Alumni feedback needs an action channel—not another endpoint.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7F38D-A48D-44B8-989D-6B27FAB3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188F30-F0C3-4ED7-8FEA-3DAC958D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AB360-CCE1-4000-9878-5DD897C0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C2358-BCEB-431C-B717-4E933FD4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4841a5737a43b2"/>
          <a:stretch xmlns:a="http://schemas.openxmlformats.org/drawingml/2006/main"/>
        </p:blipFill>
        <p:spPr>
          <a:xfrm xmlns:a="http://schemas.openxmlformats.org/drawingml/2006/main">
            <a:off x="5448300" y="1824038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22906F-3F74-4A74-A8B9-8CC2F7ED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OUTCOME → PARTNERSHIP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B3B144-827C-4121-87E7-0F2924E7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Alumni Signals and collaboration workflows connect learning to a named response.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3AE37-DC69-455C-BD44-C1FBBAEC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A124D4-B83E-4021-8AC4-E3C3C0E3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23A195-770A-43E4-A811-A7C9912E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Identify patterns worth investigating, not causal proof.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6A4253-2EEE-481A-9D54-E74362A5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2F844-A9EE-4636-946A-3D9B4C6C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DC9B3-8A2E-4C1C-8EAB-0E84DD27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Route findings into curriculum or partnership decisions.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5D0217-6C2B-4F04-BAA1-4FDD3E5D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59EA17-30A5-4867-ACEF-CFB5FCA5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D3173D-BA22-4783-BC48-86B85349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Design collaborations against a gap and preserve event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6E2B32-3BD4-4C89-A3C2-CF99912F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B7F53B-8DEF-45AE-9C21-DEB712E2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Designed impact: more purposeful partnerships and outcome learning.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1E23D3-7804-4412-B447-25D2DC2D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2FA586-7727-4555-B066-2A242A22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2B0C87-5B8F-48D2-8951-A8BE2953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5527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68EBAC-3A2B-4645-89FD-A590038A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3622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Illustrative analytics • outreach simulated</a:t>
            </a:r>
          </a:p>
        </p:txBody>
      </p:sp>
    </p:spTree>
    <p:extLst>
      <p:ext uri="{BB962C8B-B14F-4D97-AF65-F5344CB8AC3E}">
        <p14:creationId xmlns:p14="http://schemas.microsoft.com/office/powerpoint/2010/main" val="146306607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D88E79-143C-47E1-A763-3C10B8F6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2B542-4A17-429F-80DF-282AC87C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B61E4-F9F8-4D09-8C66-0C13938D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UNIVERSITY • EVIDENCE REUSE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63B9A-2D25-401D-AF55-8D530397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Institutional evidence should not be rebuilt for every deadline.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C3AC1-9C34-4431-A4D2-D622EEF3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D7E5B-8588-4C41-8EDA-05615261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2BBE5-E2D2-4A97-8862-FF8C9AFE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C066C-19B1-4A8F-A6A9-900B0183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70a3324204c48"/>
          <a:stretch xmlns:a="http://schemas.openxmlformats.org/drawingml/2006/main"/>
        </p:blipFill>
        <p:spPr>
          <a:xfrm xmlns:a="http://schemas.openxmlformats.org/drawingml/2006/main">
            <a:off x="666750" y="1824038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E67F7-91C8-493D-A87C-E710BC0A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ACTION → REUSABLE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F0ED5-123F-4AB0-91A7-935E2589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The Accreditation Hub models readiness, ownership, gaps, and evidence reuse.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51E688-617B-491C-8A13-5A25F1E4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8CBE7E-5143-4364-98EA-789C96F9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60F0C7-CFB6-4477-86D6-D57B2A3F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Map requirements to source, owner, period, and completeness.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3BBD5-9DCC-45DE-BE65-96352E62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4F2E11-D1B9-435C-BE51-E2A53A3A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411AE-3B6D-427D-93BC-D3A20D81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Expose missing evidence and the responsible person.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328944-54A4-4FF1-9118-1207C385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000E41-4ED8-49ED-A17F-B5F806F7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45FEDB-4140-4ECB-B918-AA7337F6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Reuse curriculum, readiness, alumni, and partnership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5B66AB-4E0B-450F-A85E-83770A3B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9B0BFD-0D30-47B1-8606-8B6D61BE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Designed impact: less repeated preparation; savings are not measured.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D64372-A8C8-4C87-AD70-B2F4FF84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86250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FE8D46-92C2-4175-809A-ADFA6BC0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343400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684230-A610-49EC-AADE-B11042A7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2ED188-AE16-4EBD-8D44-4BC33313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F57ECB-AC38-4CF4-904A-3671FFCB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024063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A256A1-E050-4947-8275-9A46D21E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833563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5309"/>
                </a:solidFill>
              </a:defRPr>
            </a:pPr>
            <a:r>
              <a:rPr sz="750" b="1">
                <a:solidFill>
                  <a:srgbClr val="B45309"/>
                </a:solidFill>
              </a:rPr>
              <a:t>Simulated operational effects</a:t>
            </a:r>
          </a:p>
        </p:txBody>
      </p:sp>
    </p:spTree>
    <p:extLst>
      <p:ext uri="{BB962C8B-B14F-4D97-AF65-F5344CB8AC3E}">
        <p14:creationId xmlns:p14="http://schemas.microsoft.com/office/powerpoint/2010/main" val="8741056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D7567F-8C0F-4D25-ABF2-28F26F42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66CB3-649A-4A4A-800D-CF9817BF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30E4D-8866-4833-B7C8-CC4D14ED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UNIVERSITY • GOVERNED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32BA2-8029-4E28-8691-08CD25F9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Leaders need prepared decisions—not another page of charts.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8C305-1B43-485A-ADE7-73D8841A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129F9-DE35-4E82-93A2-09B4EBDF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A18D8-76D3-4930-A0C7-3C30F44D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431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A6AC1-9343-466B-B92B-E52A2FEA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71625"/>
            <a:ext cx="63246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797315e6f94452"/>
          <a:stretch xmlns:a="http://schemas.openxmlformats.org/drawingml/2006/main"/>
        </p:blipFill>
        <p:spPr>
          <a:xfrm xmlns:a="http://schemas.openxmlformats.org/drawingml/2006/main">
            <a:off x="5448300" y="1824038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C6C06-4338-45F3-BA64-6C04D1EF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433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2A9C2"/>
                </a:solidFill>
              </a:defRPr>
            </a:pPr>
            <a:r>
              <a:rPr sz="1050" b="1">
                <a:solidFill>
                  <a:srgbClr val="12A9C2"/>
                </a:solidFill>
              </a:rPr>
              <a:t>GOAL → HUMAN 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1EA71-4A37-44A4-9474-689BF6FE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97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The AI Office reframes institutional intelligence as job-shaped work with approval.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00BB5A-317F-4E69-BF30-557E438B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37C10-B667-435A-8E55-1708ABC7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277F5C-E417-4789-9300-510BE243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Route goals to Student Success, Curriculum, Alumni, Partnerships, or Accreditation.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08767A-0F75-4464-98F4-EAF27E37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9467B-A77D-4FDA-9CA3-AEFC0267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80180C-D20E-4537-AC90-4762D48C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Prepare context and trade-offs across functions.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9C7B8D-53DB-4EC2-B75A-3545A6B7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6AD09C-AF4E-4D0E-A789-525F44A3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786200-8FB0-4302-A7A0-C1FE0F1C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40100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Require human approval before external effect.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9DC0B8-B479-4F49-87CD-3591394C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33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E19EEF-3174-44EE-A85D-F8F63CBE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3990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Interaction model demonstrated; persistent autonomous work is future.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D1B559-2DDC-4968-A637-A8A466F7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E074EC-53A2-47E2-9CCB-E22886A0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81400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654750-4BC7-464F-B6D0-E9AC1E46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28875"/>
            <a:ext cx="2381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737CE7-61B9-4751-B526-1F0970D1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86025"/>
            <a:ext cx="238125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DA3107-58DD-4987-BCB0-0F1E28A2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68FADD-1F96-44BC-94AB-9D737E85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4EE664-1386-43F6-AC6E-05F84AE7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5527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500C6-212A-4690-825B-25673D4F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3622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Scripted / optional AI • autonomy future</a:t>
            </a:r>
          </a:p>
        </p:txBody>
      </p:sp>
    </p:spTree>
    <p:extLst>
      <p:ext uri="{BB962C8B-B14F-4D97-AF65-F5344CB8AC3E}">
        <p14:creationId xmlns:p14="http://schemas.microsoft.com/office/powerpoint/2010/main" val="88943505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04ABD1-DF93-42FF-897D-7E5CC1CB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850454-3C21-4E11-90D5-87D72BC4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2BED0-C44A-47F9-BEB7-53E3088D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CONNECTED ECOSYSTEM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AF4C3-754F-44DB-8714-FAEE128C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CareerOS becomes more than three workspaces when evidence survives the handoff.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98E48-44BB-4436-A6AD-A8226938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73164-B72A-409A-8660-23849BB7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D7B67-6E1D-4ECC-A6F8-669786D1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B8480-8590-47EE-AA64-9CBDE7FA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2057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2A9C2"/>
                </a:solidFill>
              </a:defRPr>
            </a:pPr>
            <a:r>
              <a:rPr sz="900" b="1">
                <a:solidFill>
                  <a:srgbClr val="12A9C2"/>
                </a:solidFill>
              </a:rPr>
              <a:t>EMPLOYER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B3548-7BA4-48A2-9085-31731DD9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2057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defines an evidence-producing challenge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445F8E-F1E0-4614-AC2C-29DC6A6C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6670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36DB5"/>
                </a:solidFill>
              </a:defRPr>
            </a:pPr>
            <a:r>
              <a:rPr sz="1950" b="1">
                <a:solidFill>
                  <a:srgbClr val="236DB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9C6B9-6DC4-44E4-8391-2F2636D2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8097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F037A-30A0-4E8A-97D2-51BB0CC6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76450"/>
            <a:ext cx="2057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5AA8"/>
                </a:solidFill>
              </a:defRPr>
            </a:pPr>
            <a:r>
              <a:rPr sz="900" b="1">
                <a:solidFill>
                  <a:srgbClr val="175AA8"/>
                </a:solidFill>
              </a:rPr>
              <a:t>STUDENT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289793-F177-4B88-ADF5-1A0FB615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95550"/>
            <a:ext cx="2057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turns participation into Career 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E81F8-7FF4-4848-AA0E-77723188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6670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36DB5"/>
                </a:solidFill>
              </a:defRPr>
            </a:pPr>
            <a:r>
              <a:rPr sz="1950" b="1">
                <a:solidFill>
                  <a:srgbClr val="236DB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0F7EE0-E052-4B6A-B13B-834CDFA4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C858DA-646B-4CC7-B21F-72AD288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2057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2A9C2"/>
                </a:solidFill>
              </a:defRPr>
            </a:pPr>
            <a:r>
              <a:rPr sz="900" b="1">
                <a:solidFill>
                  <a:srgbClr val="12A9C2"/>
                </a:solidFill>
              </a:rPr>
              <a:t>EMPLOYER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58B95-776F-4C14-A2FB-75737429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2057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uses evidence as explainable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ADFA4B-4201-4E89-9F80-403AC832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6670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475569"/>
                </a:solidFill>
              </a:defRPr>
            </a:pPr>
            <a:r>
              <a:rPr sz="1950" b="1">
                <a:solidFill>
                  <a:srgbClr val="475569"/>
                </a:solidFill>
              </a:rPr>
              <a:t>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2116D9-2D10-4FB1-AF8C-7984182A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69CF6D-D797-4329-A7E3-92C3BE9E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076450"/>
            <a:ext cx="2057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7E91"/>
                </a:solidFill>
              </a:defRPr>
            </a:pPr>
            <a:r>
              <a:rPr sz="900" b="1">
                <a:solidFill>
                  <a:srgbClr val="007E91"/>
                </a:solidFill>
              </a:rPr>
              <a:t>UNIVERSITY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FB2C22-371E-4C6B-A5B0-FA40D758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95550"/>
            <a:ext cx="2057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assigns an intervention and preserves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370B99-5B38-4624-92FA-8F629D09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86250"/>
            <a:ext cx="971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7E0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F2596D-FDDC-49B5-BA56-C345E5FF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52437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Solid handoffs are represented in the repository. Dashed propagation requires permissions, provenance, and integrations.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4DB690-B8A5-43F0-A46A-18E6253B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435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36DB5"/>
                </a:solidFill>
              </a:defRPr>
            </a:pPr>
            <a:r>
              <a:rPr sz="1500" b="1">
                <a:solidFill>
                  <a:srgbClr val="236DB5"/>
                </a:solidFill>
              </a:rPr>
              <a:t>Potential moat: permissioned longitudinal evidence and relationship history—not dashboards or generic AI.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CD79CB-E40A-4C4E-8145-E0AD1C19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6530DA-435E-4CFF-B29D-1C7B82F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7FB0A9-06B0-440F-9929-86567772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5527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3F6"/>
          </a:solidFill>
          <a:ln xmlns:a="http://schemas.openxmlformats.org/drawingml/2006/main" w="9525">
            <a:solidFill>
              <a:srgbClr val="D8F3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24F16A-4D5B-4E0E-B8BB-C35FD76F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3622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07E91"/>
                </a:solidFill>
              </a:defRPr>
            </a:pPr>
            <a:r>
              <a:rPr sz="750" b="1">
                <a:solidFill>
                  <a:srgbClr val="007E91"/>
                </a:solidFill>
              </a:rPr>
              <a:t>Demonstrated in parts • network future</a:t>
            </a:r>
          </a:p>
        </p:txBody>
      </p:sp>
    </p:spTree>
    <p:extLst>
      <p:ext uri="{BB962C8B-B14F-4D97-AF65-F5344CB8AC3E}">
        <p14:creationId xmlns:p14="http://schemas.microsoft.com/office/powerpoint/2010/main" val="90045885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F63C44-43AC-4947-B691-EC35AC0C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E3087-0A15-4934-A741-1BC50A07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5FF4BC-BD4B-4F1C-ABF1-0FB1C3A3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IMPLEMENTATION TRUTH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79BFC0-FCE1-42C5-9B4F-9FA4D38D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prototype proves product logic—not adoption, accuracy, or integration.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8516D2-0D4A-43AE-AC1E-CB3DBAFF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49BE22-F645-4C4F-95C1-7403CEE1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3411A-7C27-490F-ABB5-93D5D1E2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3409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D338B0-E502-43E4-9833-5432D9EE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3832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7E91"/>
                </a:solidFill>
              </a:defRPr>
            </a:pPr>
            <a:r>
              <a:rPr sz="900" b="1">
                <a:solidFill>
                  <a:srgbClr val="007E91"/>
                </a:solidFill>
              </a:rPr>
              <a:t>DEMONSTRATED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E68B3-B2BB-4AE7-8E6D-D6460EA4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81225"/>
            <a:ext cx="2914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Working prototype interactions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D47F0-47CC-479B-8C2F-92B96A89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2914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Three compiled workspaces; rich local interactions; selected cross-page state; partial FastAPI routes; evidence-to-action UX.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0DFC3-C6E1-4358-90EC-033118AF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2849A"/>
                </a:solidFill>
              </a:defRPr>
            </a:pPr>
            <a:r>
              <a:rPr sz="900" b="1">
                <a:solidFill>
                  <a:srgbClr val="72849A"/>
                </a:solidFill>
              </a:rPr>
              <a:t>Inspect today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83099-883D-4899-90C6-9EDE42D0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00200"/>
            <a:ext cx="3409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515E8-D428-48E2-9081-28283D3E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3832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45309"/>
                </a:solidFill>
              </a:defRPr>
            </a:pPr>
            <a:r>
              <a:rPr sz="900" b="1">
                <a:solidFill>
                  <a:srgbClr val="B45309"/>
                </a:solidFill>
              </a:rPr>
              <a:t>SIMULATED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5A4411-127F-49A7-BB6E-2A939C5F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81225"/>
            <a:ext cx="2914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Intelligence and operational effects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247A0E-601B-4037-A882-930E922F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05150"/>
            <a:ext cx="2914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Recommendations, scores, cohort and candidate data, sends, exports, uploads, generated drafts, and most persistence.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38F3E3-B8D3-4C00-853E-42ED7B24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2849A"/>
                </a:solidFill>
              </a:defRPr>
            </a:pPr>
            <a:r>
              <a:rPr sz="900" b="1">
                <a:solidFill>
                  <a:srgbClr val="72849A"/>
                </a:solidFill>
              </a:rPr>
              <a:t>Label clearly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530191-A23F-4FB3-94A5-D41CEBDA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00200"/>
            <a:ext cx="3409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40DDF8-E858-466C-AD4A-B3E81DC6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3832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FUTURE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B4A829-B4CD-484E-83AB-11F5A059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81225"/>
            <a:ext cx="2914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Production trust and network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781544-8858-4819-A7B4-0F3FA256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05150"/>
            <a:ext cx="2914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Permissions, provenance, verification, integrations, validated models, cross-organisation propagation, and autonomous monitoring.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A63488-B3E8-4D2C-83EB-87563D73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815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2849A"/>
                </a:solidFill>
              </a:defRPr>
            </a:pPr>
            <a:r>
              <a:rPr sz="900" b="1">
                <a:solidFill>
                  <a:srgbClr val="72849A"/>
                </a:solidFill>
              </a:rPr>
              <a:t>Validate next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3709E8-1EA1-4DD0-B5EF-FB49FB53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971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No customers, partnerships, adoption, measured outcomes, ROI, or AI accuracy are claimed.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805710-6F78-470E-9EFD-9E0A66F1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453B6A-BA08-4800-AFB5-F09A3E14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1784A1-EA32-4E42-983A-13BD8A3F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59067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83F55D-C3C7-40EB-A47C-63E59B26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400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Product-truth boundary</a:t>
            </a:r>
          </a:p>
        </p:txBody>
      </p:sp>
    </p:spTree>
    <p:extLst>
      <p:ext uri="{BB962C8B-B14F-4D97-AF65-F5344CB8AC3E}">
        <p14:creationId xmlns:p14="http://schemas.microsoft.com/office/powerpoint/2010/main" val="8441165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4A2F78-A966-4D6E-B274-57DB0E51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33F8A8-1854-49CC-BF94-13CA95E5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9E5B2-DFF4-4CDE-B857-CA6BEEEC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TALENTBANK STRATEGIC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D8896-CE97-4F39-8E13-AF945B07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CareerOS could extend Talentbank from episodic transactions to relationship infrastructure.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0A2609-0AA9-4C18-908E-D58545F2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1FB69C-FF88-4D64-B33A-02934DBD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621F60-BBC6-4B61-9C7E-B55B112B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5219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B14A9-EB85-4D81-BB2C-757CDB22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5AA8"/>
                </a:solidFill>
              </a:defRPr>
            </a:pPr>
            <a:r>
              <a:rPr sz="900" b="1">
                <a:solidFill>
                  <a:srgbClr val="175AA8"/>
                </a:solidFill>
              </a:rPr>
              <a:t>STUDENTS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2EA2A-DB30-4872-9EB7-57F7E75F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A43"/>
                </a:solidFill>
              </a:defRPr>
            </a:pPr>
            <a:r>
              <a:rPr sz="1425" b="1">
                <a:solidFill>
                  <a:srgbClr val="102A43"/>
                </a:solidFill>
              </a:rPr>
              <a:t>Engage before, between, and after applications through evidence, guidance, practice, and community.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F1B15-9833-406C-8B34-892BB869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5219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C8AC14-DCBD-4546-BDF3-2DAB485B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0975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5AA8"/>
                </a:solidFill>
              </a:defRPr>
            </a:pPr>
            <a:r>
              <a:rPr sz="900" b="1">
                <a:solidFill>
                  <a:srgbClr val="175AA8"/>
                </a:solidFill>
              </a:rPr>
              <a:t>EMPLOYERS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B9A9E0-8030-4F93-A583-30B63479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A43"/>
                </a:solidFill>
              </a:defRPr>
            </a:pPr>
            <a:r>
              <a:rPr sz="1425" b="1">
                <a:solidFill>
                  <a:srgbClr val="102A43"/>
                </a:solidFill>
              </a:rPr>
              <a:t>Add evidence-led discovery, warm-pipeline recovery, and engagement design to listings.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8EEF88-41BC-4B18-9BBD-4595360C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5219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29C992-79FD-475A-BB2D-38C53C31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5AA8"/>
                </a:solidFill>
              </a:defRPr>
            </a:pPr>
            <a:r>
              <a:rPr sz="900" b="1">
                <a:solidFill>
                  <a:srgbClr val="175AA8"/>
                </a:solidFill>
              </a:rPr>
              <a:t>UNIVERSITIES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1BE3E-CBA1-4E18-B203-4F5711EA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A43"/>
                </a:solidFill>
              </a:defRPr>
            </a:pPr>
            <a:r>
              <a:rPr sz="1425" b="1">
                <a:solidFill>
                  <a:srgbClr val="102A43"/>
                </a:solidFill>
              </a:rPr>
              <a:t>Add readiness, alignment, collaboration, outcome, accreditation, and decision workflows.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41CE3E-7642-4AD6-BCB8-762B8295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5219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3DFBBA-7E57-45E1-8E97-2197F09C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814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36DB5"/>
                </a:solidFill>
              </a:defRPr>
            </a:pPr>
            <a:r>
              <a:rPr sz="900" b="1">
                <a:solidFill>
                  <a:srgbClr val="236DB5"/>
                </a:solidFill>
              </a:rPr>
              <a:t>ECOSYSTEM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5B04D-0A8B-419A-8DC1-69E2BC00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A43"/>
                </a:solidFill>
              </a:defRPr>
            </a:pPr>
            <a:r>
              <a:rPr sz="1425" b="1">
                <a:solidFill>
                  <a:srgbClr val="102A43"/>
                </a:solidFill>
              </a:rPr>
              <a:t>Compound permissioned evidence and relationship history across repeated interactions.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EF7EE9-11A1-4904-944D-261CF6CA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34000"/>
            <a:ext cx="933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38CBBF-EB3F-4C97-8DC3-AEF8CD0F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45309"/>
                </a:solidFill>
              </a:defRPr>
            </a:pPr>
            <a:r>
              <a:rPr sz="1275" b="1">
                <a:solidFill>
                  <a:srgbClr val="B45309"/>
                </a:solidFill>
              </a:rPr>
              <a:t>Strategic condition: data rights, distribution, buyer demand, consent, trust, integration cost, and ownership must be validated.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39708C-9B33-4687-B8D9-E366360A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4A35FD-DAC5-4CD1-B495-4C74D914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0F8F3B-3FF4-4E65-AB52-CCFBF97C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25527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A4C07B-1F0C-43D9-B25B-8471EA5E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23622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Strategic potential • not current traction</a:t>
            </a:r>
          </a:p>
        </p:txBody>
      </p:sp>
    </p:spTree>
    <p:extLst>
      <p:ext uri="{BB962C8B-B14F-4D97-AF65-F5344CB8AC3E}">
        <p14:creationId xmlns:p14="http://schemas.microsoft.com/office/powerpoint/2010/main" val="11698152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80027F-8794-459A-BA30-F04A9D29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solidFill>
              <a:srgbClr val="175AA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16A3E6-B29E-455C-AC71-9A068FA1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666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solidFill>
              <a:srgbClr val="12A9C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A39B9-264F-45B3-9632-5EF5E22A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NEXT-STAGE VALIDATION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CA8A3-48B3-4A10-AD77-B3B5C347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Prove one repeated workflow before scaling the network.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4D513-AD69-4608-B710-DAD6252F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33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5AA8"/>
                </a:solidFill>
              </a:defRPr>
            </a:pPr>
            <a:r>
              <a:rPr sz="1125" b="1">
                <a:solidFill>
                  <a:srgbClr val="175AA8"/>
                </a:solidFill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96716-CA03-4D9C-82F8-C86AF213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7669B7-6D62-4CB6-B3D2-F7050D4B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85900"/>
            <a:ext cx="4953000" cy="414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3A081F-E224-495C-B14A-3A3848E3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2A9C2"/>
                </a:solidFill>
              </a:defRPr>
            </a:pPr>
            <a:r>
              <a:rPr sz="975" b="1">
                <a:solidFill>
                  <a:srgbClr val="12A9C2"/>
                </a:solidFill>
              </a:rPr>
              <a:t>VALIDATION HYPOTHESIS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274A1-2DB1-4856-ACF2-1E519CDD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4095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A43"/>
                </a:solidFill>
              </a:defRPr>
            </a:pPr>
            <a:r>
              <a:rPr sz="2025" b="1">
                <a:solidFill>
                  <a:srgbClr val="102A43"/>
                </a:solidFill>
              </a:rPr>
              <a:t>Can one computing/data faculty detect two employability gaps, launch a current-cohort intervention, capture student evidence, and produce a reusable summary?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E86C4-FE65-4926-8A89-ADFDEC84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309"/>
                </a:solidFill>
              </a:defRPr>
            </a:pPr>
            <a:r>
              <a:rPr sz="1275" b="1">
                <a:solidFill>
                  <a:srgbClr val="B45309"/>
                </a:solidFill>
              </a:rPr>
              <a:t>Recommended path—not an announced pilot or partnership.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BD0792-91DA-4CF2-8AA3-18E1EBF8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85900"/>
            <a:ext cx="5734050" cy="414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7E0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6B23A9-96D6-4EC9-8D66-B1D13CEA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907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AA8"/>
                </a:solidFill>
              </a:defRPr>
            </a:pPr>
            <a:r>
              <a:rPr sz="975" b="1">
                <a:solidFill>
                  <a:srgbClr val="175AA8"/>
                </a:solidFill>
              </a:rPr>
              <a:t>MEASURE TO LEARN—NOT TO CLAIM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C45402-5F85-4119-95E9-B2620995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57425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9C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E5641B-A9A5-4421-911B-56D53DBE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76475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2A9C2"/>
                </a:solidFill>
              </a:defRPr>
            </a:pPr>
            <a:r>
              <a:rPr sz="750" b="1">
                <a:solidFill>
                  <a:srgbClr val="12A9C2"/>
                </a:solidFill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51E71D-4A53-4668-8FE2-D0E44AD4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09800"/>
            <a:ext cx="453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Career Memory evidence completion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AFD0E7-86B9-481A-A870-84D9635B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003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8AC6BA-9B95-45DC-87CA-0747339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1940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B29033-F9F1-4289-BB0B-BF3BD3EC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52725"/>
            <a:ext cx="453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Intervention uptake and completion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7B52EB-DFA0-4D7F-86D1-95CB3796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43275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AB0880-E244-41FB-87F0-9074DBF3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62325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00D55D-6A22-4128-A28D-F399C217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95650"/>
            <a:ext cx="453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Employer participation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8B021A-0DAB-4043-9B03-CFB85BD9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8620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2D86DA-4AE5-47A4-8717-2DF088A0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05250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048977-904F-4D4D-8582-B5B7D667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38575"/>
            <a:ext cx="453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Time from signal to assigned action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460A9E-51B8-491F-A2C9-2C909FAB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29125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A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2AEC88-08CD-4EFA-9A34-FA1AB27B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48175"/>
            <a:ext cx="2095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75AA8"/>
                </a:solidFill>
              </a:defRPr>
            </a:pPr>
            <a:r>
              <a:rPr sz="750" b="1">
                <a:solidFill>
                  <a:srgbClr val="175AA8"/>
                </a:solidFill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417DA5-A4CB-438D-BD93-5DE32D44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81500"/>
            <a:ext cx="453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66F"/>
                </a:solidFill>
              </a:defRPr>
            </a:pPr>
            <a:r>
              <a:rPr sz="1275" b="0">
                <a:solidFill>
                  <a:srgbClr val="40566F"/>
                </a:solidFill>
              </a:rPr>
              <a:t>Staff time to prepare an evidence summary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39BFC-D3A9-4620-804E-9CCF792F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95875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36DB5"/>
                </a:solidFill>
              </a:defRPr>
            </a:pPr>
            <a:r>
              <a:rPr sz="1275" b="1">
                <a:solidFill>
                  <a:srgbClr val="236DB5"/>
                </a:solidFill>
              </a:rPr>
              <a:t>Decision gates: consent, buyer ownership, data availability, adoption, and operational value.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021C09-FDDA-4846-9EE8-9617D3D0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03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7E5"/>
          </a:solidFill>
          <a:ln xmlns:a="http://schemas.openxmlformats.org/drawingml/2006/main" w="9525">
            <a:solidFill>
              <a:srgbClr val="CAD7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932CFC-3BEC-4CC6-869B-4EF34902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438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2849A"/>
                </a:solidFill>
              </a:defRPr>
            </a:pPr>
            <a:r>
              <a:rPr sz="825" b="0">
                <a:solidFill>
                  <a:srgbClr val="72849A"/>
                </a:solidFill>
              </a:rPr>
              <a:t>CareerOS • Talentbank AI Hackathon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CBC634-C6C3-4DCE-92CC-3FFD1C22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86525"/>
            <a:ext cx="159067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F05709-6BC7-4F7C-8DA4-6B8A2423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515100"/>
            <a:ext cx="1400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Future validation path</a:t>
            </a:r>
          </a:p>
        </p:txBody>
      </p:sp>
    </p:spTree>
    <p:extLst>
      <p:ext uri="{BB962C8B-B14F-4D97-AF65-F5344CB8AC3E}">
        <p14:creationId xmlns:p14="http://schemas.microsoft.com/office/powerpoint/2010/main" val="113681869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DFC27-ED65-4419-AD48-843C0104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5AA8"/>
                </a:solidFill>
              </a:defRPr>
            </a:pPr>
            <a:r>
              <a:rPr sz="1050" b="1">
                <a:solidFill>
                  <a:srgbClr val="175AA8"/>
                </a:solidFill>
              </a:rPr>
              <a:t>CAREEROS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70DD4-425E-4CE1-846F-0B0488A1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95400"/>
            <a:ext cx="5619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Remember the signal.</a:t>
            </a:r>
          </a:p>
          <a:p xmlns:a="http://schemas.openxmlformats.org/drawingml/2006/main">
            <a:pPr algn="l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Prove it.</a:t>
            </a:r>
          </a:p>
          <a:p xmlns:a="http://schemas.openxmlformats.org/drawingml/2006/main">
            <a:pPr algn="l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Act earlier.</a:t>
            </a:r>
          </a:p>
          <a:p xmlns:a="http://schemas.openxmlformats.org/drawingml/2006/main">
            <a:pPr algn="l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Learn.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550A3-76A4-479F-870F-98A657BE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143000"/>
            <a:ext cx="44767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7E0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335E7-3B87-4617-9CFC-18910526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5AA8"/>
                </a:solidFill>
              </a:defRPr>
            </a:pPr>
            <a:r>
              <a:rPr sz="900" b="1">
                <a:solidFill>
                  <a:srgbClr val="175AA8"/>
                </a:solidFill>
              </a:rPr>
              <a:t>STUDENTS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75EB0B-9F19-4270-B241-75FAD1DD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85950"/>
            <a:ext cx="352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Preserve evidence and choose clearer next actions.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E1E2B-8602-4A58-9AE1-9707DFC8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24150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2A9C2"/>
                </a:solidFill>
              </a:defRPr>
            </a:pPr>
            <a:r>
              <a:rPr sz="900" b="1">
                <a:solidFill>
                  <a:srgbClr val="12A9C2"/>
                </a:solidFill>
              </a:rPr>
              <a:t>EMPLOYERS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FCC85-A128-44A1-8A81-DF5058CE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352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Retain context and make explainable talent decisions.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55B97-6655-40FF-9B0C-94D3D7E2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67150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7E91"/>
                </a:solidFill>
              </a:defRPr>
            </a:pPr>
            <a:r>
              <a:rPr sz="900" b="1">
                <a:solidFill>
                  <a:srgbClr val="007E91"/>
                </a:solidFill>
              </a:rPr>
              <a:t>UNIVERSITIES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6332A-9F96-4D53-8ECD-D7D97C5B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352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Act on gaps while there is still time to change the outcome.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52A4A-96B7-4358-95FD-C10F20F5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36DB5"/>
                </a:solidFill>
              </a:defRPr>
            </a:pPr>
            <a:r>
              <a:rPr sz="1800" b="1">
                <a:solidFill>
                  <a:srgbClr val="236DB5"/>
                </a:solidFill>
              </a:rPr>
              <a:t>The evidence memory and action layer between education and employment.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1A5384-0BF4-444B-B7C9-14024696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2147888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AE0D35-7B94-40F4-BBE1-AAEDDD3F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91225"/>
            <a:ext cx="1957388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75569"/>
                </a:solidFill>
              </a:defRPr>
            </a:pPr>
            <a:r>
              <a:rPr sz="750" b="1">
                <a:solidFill>
                  <a:srgbClr val="475569"/>
                </a:solidFill>
              </a:rPr>
              <a:t>Prototype • network to validate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9453E-3974-4C36-8FC0-A87CC901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6419850"/>
            <a:ext cx="261937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2849A"/>
                </a:solidFill>
              </a:defRPr>
            </a:pPr>
            <a:r>
              <a:rPr sz="900" b="0">
                <a:solidFill>
                  <a:srgbClr val="72849A"/>
                </a:solidFill>
              </a:rPr>
              <a:t>Talentbank AI Hackathon • 2026</a:t>
            </a:r>
          </a:p>
        </p:txBody>
      </p:sp>
    </p:spTree>
    <p:extLst>
      <p:ext uri="{BB962C8B-B14F-4D97-AF65-F5344CB8AC3E}">
        <p14:creationId xmlns:p14="http://schemas.microsoft.com/office/powerpoint/2010/main" val="10946548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2026-07-24T13:31:26.6280000Z</dcterms:created>
  <dcterms:modified xsi:type="dcterms:W3CDTF">2026-07-24T13:31:26.6280000Z</dcterms:modified>
</coreProperties>
</file>